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7FDCD5"/>
                </a:solidFill>
                <a:latin typeface="Aptos"/>
              </a:defRPr>
            </a:pPr>
            <a:r>
              <a:t>FORWARD DEPLOYED ENGINEER •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05840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Improving the MoveInSync</a:t>
            </a:r>
          </a:p>
          <a:p>
            <a:pPr algn="l"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Employee App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54680"/>
            <a:ext cx="9144000" cy="7315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DCDDE9"/>
                </a:solidFill>
                <a:latin typeface="Aptos"/>
              </a:defRPr>
            </a:pPr>
            <a:r>
              <a:t>Public-evidence diagnosis, prioritized fixes, and a practical 30-day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892040"/>
            <a:ext cx="3017520" cy="594360"/>
          </a:xfrm>
          <a:prstGeom prst="round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47488"/>
            <a:ext cx="26517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Prepared by Tharun Teja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7315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9BCCD"/>
                </a:solidFill>
                <a:latin typeface="Aptos"/>
              </a:defRPr>
            </a:pPr>
            <a:r>
              <a:t>Evidence-led • Practical • Repeatable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01 • 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The assignment: move from rating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41732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4173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28216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1. Establish the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12264"/>
            <a:ext cx="3200400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Capture listing rating, total ratings, available distribution and collection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41732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1417320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28216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2. Diagnose the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12264"/>
            <a:ext cx="3200400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Use reviews to identify repeated pain points; compare negative and positive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141732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1417320"/>
          </a:xfrm>
          <a:prstGeom prst="rect">
            <a:avLst/>
          </a:prstGeom>
          <a:solidFill>
            <a:srgbClr val="E2B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3. Turn findings into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12264"/>
            <a:ext cx="3200400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Prioritize work, define owners, validate root causes and measure outcomes.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1078992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C1B35"/>
                </a:solidFill>
                <a:latin typeface="Aptos"/>
              </a:defRPr>
            </a:pPr>
            <a:r>
              <a:t>The goal is not just to describe the rating—it is to explain what to investigate and what the team should do next.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98848"/>
            <a:ext cx="82296" cy="82296"/>
          </a:xfrm>
          <a:prstGeom prst="round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389120"/>
            <a:ext cx="102412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A2A3A"/>
                </a:solidFill>
                <a:latin typeface="Aptos"/>
              </a:defRPr>
            </a:pPr>
            <a:r>
              <a:t>Public reviews show reported experiences, not proof of technical root cause.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38928"/>
            <a:ext cx="82296" cy="82296"/>
          </a:xfrm>
          <a:prstGeom prst="round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029200"/>
            <a:ext cx="102412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A2A3A"/>
                </a:solidFill>
                <a:latin typeface="Aptos"/>
              </a:defRPr>
            </a:pPr>
            <a:r>
              <a:t>The process should be repeatable as ratings and feedback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02 • EVIDENCE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Data strategy: context + diagnosis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20440" cy="1874519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4008" cy="1874519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82495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Listing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66543"/>
            <a:ext cx="3200400" cy="12801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Current displayed rating, total ratings, update/version metadata and histogram when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20440" cy="1874519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64008" cy="1874519"/>
          </a:xfrm>
          <a:prstGeom prst="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82495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All-rating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66543"/>
            <a:ext cx="3200400" cy="12801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Recent accessible reviews across 1–5 stars to understand the mix of reported experiences.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874519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64008" cy="1874519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82495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Low-star diagnosis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66543"/>
            <a:ext cx="3200400" cy="12801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1–2 star reviews help surface specific failures and guide manual investigation.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C1B35"/>
                </a:solidFill>
                <a:latin typeface="Aptos"/>
              </a:defRPr>
            </a:pPr>
            <a:r>
              <a:t>Recorded collection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15968"/>
            <a:ext cx="1060704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A2A3A"/>
                </a:solidFill>
                <a:latin typeface="Aptos"/>
              </a:defRPr>
            </a:pPr>
            <a:r>
              <a:t>1,000 unique reviews • 11 Oct 2026 UTC • newest accessible review pages • India storefront / English locale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257800"/>
            <a:ext cx="10561320" cy="685800"/>
          </a:xfrm>
          <a:prstGeom prst="roundRect">
            <a:avLst/>
          </a:prstGeom>
          <a:solidFill>
            <a:srgbClr val="FC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94960"/>
            <a:ext cx="101498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DA666B"/>
                </a:solidFill>
                <a:latin typeface="Aptos"/>
              </a:defRPr>
            </a:pPr>
            <a:r>
              <a:t>Limitation: additional targeted 1-star / 2-star retrieval failed; the 292 low-star reviews came from the all-rating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03 • SAMPLE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What the collected sample contains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45720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646577"/>
                </a:solidFill>
                <a:latin typeface="Aptos"/>
              </a:defRPr>
            </a:pPr>
            <a:r>
              <a:t>Star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234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5 stars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892807"/>
            <a:ext cx="3246120" cy="246888"/>
          </a:xfrm>
          <a:prstGeom prst="round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874519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A2A3A"/>
                </a:solidFill>
                <a:latin typeface="Aptos"/>
              </a:defRPr>
            </a:pPr>
            <a:r>
              <a:t>640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6577"/>
                </a:solidFill>
                <a:latin typeface="Aptos"/>
              </a:defRPr>
            </a:pPr>
            <a:r>
              <a:t>64.0%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7"/>
            <a:ext cx="1234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1 star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2551175"/>
            <a:ext cx="1313664" cy="246888"/>
          </a:xfrm>
          <a:prstGeom prst="round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532887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A2A3A"/>
                </a:solidFill>
                <a:latin typeface="Aptos"/>
              </a:defRPr>
            </a:pPr>
            <a:r>
              <a:t>259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32887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6577"/>
                </a:solidFill>
                <a:latin typeface="Aptos"/>
              </a:defRPr>
            </a:pPr>
            <a:r>
              <a:t>25.9%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91256"/>
            <a:ext cx="1234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4 stars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3209544"/>
            <a:ext cx="213026" cy="246888"/>
          </a:xfrm>
          <a:prstGeom prst="round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191256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A2A3A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91256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6577"/>
                </a:solidFill>
                <a:latin typeface="Aptos"/>
              </a:defRPr>
            </a:pPr>
            <a:r>
              <a:t>4.2%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9624"/>
            <a:ext cx="1234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2 stars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3867911"/>
            <a:ext cx="167378" cy="246888"/>
          </a:xfrm>
          <a:prstGeom prst="roundRect">
            <a:avLst/>
          </a:prstGeom>
          <a:solidFill>
            <a:srgbClr val="E2B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849624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A2A3A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49624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6577"/>
                </a:solidFill>
                <a:latin typeface="Aptos"/>
              </a:defRPr>
            </a:pPr>
            <a:r>
              <a:t>3.3%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07992"/>
            <a:ext cx="1234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3 stars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57400" y="4526279"/>
            <a:ext cx="131873" cy="246888"/>
          </a:xfrm>
          <a:prstGeom prst="roundRect">
            <a:avLst/>
          </a:prstGeom>
          <a:solidFill>
            <a:srgbClr val="64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4507992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A2A3A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07992"/>
            <a:ext cx="9144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46577"/>
                </a:solidFill>
                <a:latin typeface="Aptos"/>
              </a:defRPr>
            </a:pPr>
            <a:r>
              <a:t>2.6%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1737360"/>
            <a:ext cx="3657600" cy="132588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1737360"/>
            <a:ext cx="64008" cy="1325880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1865376"/>
            <a:ext cx="333756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292 low-star 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19" y="2249424"/>
            <a:ext cx="3337560" cy="73151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259 one-star + 33 two-star reviews in this sample.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3291840"/>
            <a:ext cx="3657600" cy="146304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35240" y="3291840"/>
            <a:ext cx="64008" cy="1463040"/>
          </a:xfrm>
          <a:prstGeom prst="rect">
            <a:avLst/>
          </a:prstGeom>
          <a:solidFill>
            <a:srgbClr val="E2B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19" y="3419856"/>
            <a:ext cx="333756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19" y="3803904"/>
            <a:ext cx="3337560" cy="8686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Recent convenience sample—not a representative estimate of all employees or historical reviews.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DA666B"/>
                </a:solidFill>
                <a:latin typeface="Aptos"/>
              </a:defRPr>
            </a:pPr>
            <a:r>
              <a:t>Listing-level score and total ratings were not captured in the saved metadata; verify separately.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04 • THEME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Reported pain points in low-star reviews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6" name="Picture 5" descr="low_star_theme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818120" cy="34057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691640"/>
            <a:ext cx="3063240" cy="137160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58200" y="1691640"/>
            <a:ext cx="64008" cy="137160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819656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Largest buckets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203704"/>
            <a:ext cx="2743200" cy="7772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Other / unclear, driver / vehicle operations, booking / scheduling.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337560"/>
            <a:ext cx="3063240" cy="150876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3337560"/>
            <a:ext cx="64008" cy="1508760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465576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Interpret carefully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849624"/>
            <a:ext cx="2743200" cy="91439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Keyword tags can overlap. Counts are theme mentions, not mutually exclusive reviews.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C1B35"/>
                </a:solidFill>
                <a:latin typeface="Aptos"/>
              </a:defRPr>
            </a:pPr>
            <a:r>
              <a:t>Next: manually audit the largest categories and refine labels before making strong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05 • TIME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When were reviews in this sample posted?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6" name="Picture 5" descr="monthly_review_counts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863840" cy="27990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737360"/>
            <a:ext cx="3063240" cy="132588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58200" y="1737360"/>
            <a:ext cx="64008" cy="1325880"/>
          </a:xfrm>
          <a:prstGeom prst="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865376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Observed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249424"/>
            <a:ext cx="2743200" cy="73151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Jun 150 • Jul 286 • Aug 241 • Sep 245 • Oct 78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337560"/>
            <a:ext cx="3063240" cy="150876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3337560"/>
            <a:ext cx="64008" cy="1508760"/>
          </a:xfrm>
          <a:prstGeom prst="rect">
            <a:avLst/>
          </a:prstGeom>
          <a:solidFill>
            <a:srgbClr val="E2B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465576"/>
            <a:ext cx="27432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Important caveat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849624"/>
            <a:ext cx="2743200" cy="91439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October ends on 9 Oct and is incomplete. Counts are not normalized by trips or users.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78992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DA666B"/>
                </a:solidFill>
                <a:latin typeface="Aptos"/>
              </a:defRPr>
            </a:pPr>
            <a:r>
              <a:t>Do not infer product quality improved or worsened from raw monthly counts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06 • EVIDENCE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What public evidence can—and cannot—say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182880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182880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28216"/>
            <a:ext cx="498348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Supported by this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12264"/>
            <a:ext cx="4983480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• Users publicly report problems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• Theme patterns can guide investigation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• Help Center pages document support topics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182880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64008" cy="1828800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28216"/>
            <a:ext cx="498348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Not established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12264"/>
            <a:ext cx="4983480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• True prevalence among all trips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• Technical root cause of each complaint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• Whether one theme explains the overall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C1B35"/>
                </a:solidFill>
                <a:latin typeface="Aptos"/>
              </a:defRPr>
            </a:pPr>
            <a:r>
              <a:t>Validation requires authorized internal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53128"/>
            <a:ext cx="82296" cy="82296"/>
          </a:xfrm>
          <a:prstGeom prst="round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343400"/>
            <a:ext cx="102412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A3A"/>
                </a:solidFill>
                <a:latin typeface="Aptos"/>
              </a:defRPr>
            </a:pPr>
            <a:r>
              <a:t>Booking/trip-state events and no-show dispute outcomes.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56048"/>
            <a:ext cx="82296" cy="82296"/>
          </a:xfrm>
          <a:prstGeom prst="round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846320"/>
            <a:ext cx="102412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A3A"/>
                </a:solidFill>
                <a:latin typeface="Aptos"/>
              </a:defRPr>
            </a:pPr>
            <a:r>
              <a:t>GPS/ETA timestamps, notification milestones, app version and crash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458968"/>
            <a:ext cx="82296" cy="82296"/>
          </a:xfrm>
          <a:prstGeom prst="round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5349240"/>
            <a:ext cx="1024128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A3A"/>
                </a:solidFill>
                <a:latin typeface="Aptos"/>
              </a:defRPr>
            </a:pPr>
            <a:r>
              <a:t>Support contacts and release timeline, using privacy-safe identifiers.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07 •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Prioritize by impact and evidence—not volume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520440" cy="155448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554480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36776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P0 • Booking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20824"/>
            <a:ext cx="3200400" cy="96011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Trace booking intent vs. persisted trip state; add regression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55448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64008" cy="1554480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36776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P0 • No-show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20824"/>
            <a:ext cx="3200400" cy="96011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Audit check-in state, grace periods, overrides and disputes.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520440" cy="155448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08760"/>
            <a:ext cx="64008" cy="155448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636776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P1 • GPS / 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020824"/>
            <a:ext cx="3200400" cy="96011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Measure location freshness and ETA error at journey checkpoints.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429000"/>
            <a:ext cx="3520440" cy="155448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429000"/>
            <a:ext cx="64008" cy="1554480"/>
          </a:xfrm>
          <a:prstGeom prst="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557016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P1 •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941064"/>
            <a:ext cx="3200400" cy="96011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Instrument trigger-to-delivery milestones; add useful fallback visibility.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429000"/>
            <a:ext cx="3520440" cy="155448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429000"/>
            <a:ext cx="64008" cy="1554480"/>
          </a:xfrm>
          <a:prstGeom prst="rect">
            <a:avLst/>
          </a:prstGeom>
          <a:solidFill>
            <a:srgbClr val="E2B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557016"/>
            <a:ext cx="3200400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P2 • Booking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41064"/>
            <a:ext cx="3200400" cy="960119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Clarify confirmation, next steps and current booking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60704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DA666B"/>
                </a:solidFill>
                <a:latin typeface="Aptos"/>
              </a:defRPr>
            </a:pPr>
            <a:r>
              <a:t>Provisional priorities: confirm them against operational evidence before committing to a fix.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08 •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A practical 30-day execution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417320" cy="502920"/>
          </a:xfrm>
          <a:prstGeom prst="round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91056"/>
            <a:ext cx="1234440" cy="2103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Days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90472"/>
            <a:ext cx="89611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A3A"/>
                </a:solidFill>
                <a:latin typeface="Aptos"/>
              </a:defRPr>
            </a:pPr>
            <a:r>
              <a:t>Confirm baseline; audit 50–100 reviews; align on issue definitions.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04288"/>
            <a:ext cx="1417320" cy="502920"/>
          </a:xfrm>
          <a:prstGeom prst="round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32304"/>
            <a:ext cx="1234440" cy="2103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Days 3–5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31720"/>
            <a:ext cx="89611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A3A"/>
                </a:solidFill>
                <a:latin typeface="Aptos"/>
              </a:defRPr>
            </a:pPr>
            <a:r>
              <a:t>Trace real cases with Product, Support and Operations; separate app vs. operational causes.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45536"/>
            <a:ext cx="1417320" cy="502920"/>
          </a:xfrm>
          <a:prstGeom prst="round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73552"/>
            <a:ext cx="1234440" cy="2103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172968"/>
            <a:ext cx="89611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A3A"/>
                </a:solidFill>
                <a:latin typeface="Aptos"/>
              </a:defRPr>
            </a:pPr>
            <a:r>
              <a:t>Rank confirmed issues; agree owners, acceptance tests and baseline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86784"/>
            <a:ext cx="1417320" cy="502920"/>
          </a:xfrm>
          <a:prstGeom prst="round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234440" cy="2103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014216"/>
            <a:ext cx="89611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A3A"/>
                </a:solidFill>
                <a:latin typeface="Aptos"/>
              </a:defRPr>
            </a:pPr>
            <a:r>
              <a:t>Ship one focused fix to a limited cohort; monitor outcomes and rollback criteria.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28032"/>
            <a:ext cx="1417320" cy="502920"/>
          </a:xfrm>
          <a:prstGeom prst="round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56048"/>
            <a:ext cx="1234440" cy="2103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855464"/>
            <a:ext cx="896112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2A3A"/>
                </a:solidFill>
                <a:latin typeface="Aptos"/>
              </a:defRPr>
            </a:pPr>
            <a:r>
              <a:t>Compare against baseline; document what improved and what should happen next.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C1B35"/>
                </a:solidFill>
                <a:latin typeface="Aptos"/>
              </a:defRPr>
            </a:pPr>
            <a:r>
              <a:t>Weekly rhythm: learn → assign owner → act → measure → share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09 •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Measure employee outcomes, not only stars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74720" cy="141732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4173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31546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Booking mismatch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57984"/>
            <a:ext cx="3154679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Intent vs. persisted booking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474720" cy="141732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45920"/>
            <a:ext cx="64008" cy="1417320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73936"/>
            <a:ext cx="31546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Stale-location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57984"/>
            <a:ext cx="3154679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Tracking updates older than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45920"/>
            <a:ext cx="3474720" cy="141732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45920"/>
            <a:ext cx="64008" cy="1417320"/>
          </a:xfrm>
          <a:prstGeom prst="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73936"/>
            <a:ext cx="31546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ETA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57984"/>
            <a:ext cx="3154679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Predicted vs. actual arrival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39"/>
            <a:ext cx="3474720" cy="141732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20439"/>
            <a:ext cx="64008" cy="1417320"/>
          </a:xfrm>
          <a:prstGeom prst="rect">
            <a:avLst/>
          </a:prstGeom>
          <a:solidFill>
            <a:srgbClr val="E2B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48456"/>
            <a:ext cx="31546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Notification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32504"/>
            <a:ext cx="3154679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Trigger to delivery milestone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20439"/>
            <a:ext cx="3474720" cy="141732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520439"/>
            <a:ext cx="64008" cy="14173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648456"/>
            <a:ext cx="31546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False no-show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32504"/>
            <a:ext cx="3154679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Audited incorrect no-show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520439"/>
            <a:ext cx="3474720" cy="141732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520439"/>
            <a:ext cx="64008" cy="1417320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648456"/>
            <a:ext cx="31546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Low-star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032504"/>
            <a:ext cx="3154679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New 1–2 star reviews / all new 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C1B35"/>
                </a:solidFill>
                <a:latin typeface="Aptos"/>
              </a:defRPr>
            </a:pPr>
            <a:r>
              <a:t>Set thresholds after baseline; document metric owner, source query, time window and exclusions.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08484"/>
                </a:solidFill>
                <a:latin typeface="Aptos"/>
              </a:defRPr>
            </a:pPr>
            <a:r>
              <a:t>10 •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C1B35"/>
                </a:solidFill>
                <a:latin typeface="Aptos"/>
              </a:defRPr>
            </a:pPr>
            <a:r>
              <a:t>Make the review-to-action loop repeatable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572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64657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103120" cy="182880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64008" cy="182880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93976"/>
            <a:ext cx="17830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78024"/>
            <a:ext cx="1783079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Refresh public feedback and listing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606040"/>
            <a:ext cx="228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6465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1965960"/>
            <a:ext cx="2103120" cy="182880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2928" y="1965960"/>
            <a:ext cx="64008" cy="1828800"/>
          </a:xfrm>
          <a:prstGeom prst="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093976"/>
            <a:ext cx="17830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478024"/>
            <a:ext cx="1783079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Tag themes; manually audit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606040"/>
            <a:ext cx="228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6465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1965960"/>
            <a:ext cx="2103120" cy="182880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02936" y="1965960"/>
            <a:ext cx="64008" cy="1828800"/>
          </a:xfrm>
          <a:prstGeom prst="rect">
            <a:avLst/>
          </a:prstGeom>
          <a:solidFill>
            <a:srgbClr val="DA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2093976"/>
            <a:ext cx="17830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478024"/>
            <a:ext cx="1783079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Check authorized trip/support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5" y="2606040"/>
            <a:ext cx="228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6465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1965960"/>
            <a:ext cx="2103120" cy="182880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1965960"/>
            <a:ext cx="64008" cy="1828800"/>
          </a:xfrm>
          <a:prstGeom prst="rect">
            <a:avLst/>
          </a:prstGeom>
          <a:solidFill>
            <a:srgbClr val="E2B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3" y="2093976"/>
            <a:ext cx="17830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2478024"/>
            <a:ext cx="1783079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Rank by impact and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6063" y="2606040"/>
            <a:ext cx="228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64657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1965960"/>
            <a:ext cx="2103120" cy="1828800"/>
          </a:xfrm>
          <a:prstGeom prst="roundRect">
            <a:avLst/>
          </a:prstGeom>
          <a:solidFill>
            <a:srgbClr val="F6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02952" y="1965960"/>
            <a:ext cx="64008" cy="182880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85832" y="2093976"/>
            <a:ext cx="1783079" cy="3108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C1B35"/>
                </a:solidFill>
                <a:latin typeface="Aptos"/>
              </a:defRPr>
            </a:pPr>
            <a:r>
              <a:t>Ship &amp; 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2478024"/>
            <a:ext cx="1783079" cy="12344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A2A3A"/>
                </a:solidFill>
                <a:latin typeface="Aptos"/>
              </a:defRPr>
            </a:pPr>
            <a:r>
              <a:t>Release fix; measure; update backlog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C1B35"/>
                </a:solidFill>
                <a:latin typeface="Aptos"/>
              </a:defRPr>
            </a:pPr>
            <a:r>
              <a:t>Keep source URL, collection timestamp, tag rationale, owner, decision and release annotation for each material finding.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DA666B"/>
                </a:solidFill>
                <a:latin typeface="Aptos"/>
              </a:defRPr>
            </a:pPr>
            <a:r>
              <a:t>Keyword or AI tags should assist triage—not be treated as ground truth.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73152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7FDCD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33272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Make the employee journey dependable.</a:t>
            </a:r>
          </a:p>
          <a:p>
            <a:pPr algn="l"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Then prove the fix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966960" cy="11430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DCDDE9"/>
                </a:solidFill>
                <a:latin typeface="Aptos"/>
              </a:defRPr>
            </a:pPr>
            <a:r>
              <a:t>Listen to employees, validate the failure, fix the highest-impact issue, and measure the journey outcome.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3749039" cy="640080"/>
          </a:xfrm>
          <a:prstGeom prst="roundRect">
            <a:avLst/>
          </a:prstGeom>
          <a:solidFill>
            <a:srgbClr val="4F2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928616"/>
            <a:ext cx="333756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Thank you • Tharun Teja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7315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B9BCCD"/>
                </a:solidFill>
                <a:latin typeface="Aptos"/>
              </a:defRPr>
            </a:pPr>
            <a:r>
              <a:t>Evidence-led • Practical • Repeatable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the MoveInSync Employee App Rating</dc:title>
  <dc:subject>Forward Deployed Engineer case study</dc:subject>
  <dc:creator>Tharun Teja</dc:creator>
  <cp:keywords>MoveInSync, FDE, ratings, reviews, execution plan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