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bbf53a5-a168-2bc3-44c4-bf5e5267b547}">
          <p14:sldIdLst>
            <p14:sldId id="256"/>
            <p14:sldId id="257"/>
          </p14:sldIdLst>
        </p14:section>
        <p14:section name="Evidence" id="{4830bd43-23b2-d521-d3a3-7b0e64ab1bd7}">
          <p14:sldIdLst>
            <p14:sldId id="258"/>
            <p14:sldId id="259"/>
            <p14:sldId id="260"/>
            <p14:sldId id="261"/>
            <p14:sldId id="262"/>
            <p14:sldId id="263"/>
            <p14:sldId id="264"/>
            <p14:sldId id="265"/>
            <p14:sldId id="266"/>
            <p14:sldId id="267"/>
          </p14:sldIdLst>
        </p14:section>
        <p14:section name="Diagnosis" id="{b09ffa2c-a8a9-081e-c7ac-5ca4718fd7c6}">
          <p14:sldIdLst>
            <p14:sldId id="268"/>
            <p14:sldId id="269"/>
            <p14:sldId id="270"/>
          </p14:sldIdLst>
        </p14:section>
        <p14:section name="Execution plan" id="{76eff48f-ee4b-d65e-3578-7e6ab86a290d}">
          <p14:sldIdLst>
            <p14:sldId id="271"/>
            <p14:sldId id="272"/>
            <p14:sldId id="273"/>
            <p14:sldId id="274"/>
            <p14:sldId id="275"/>
            <p14:sldId id="276"/>
            <p14:sldId id="277"/>
            <p14:sldId id="278"/>
            <p14:sldId id="279"/>
            <p14:sldId id="280"/>
            <p14:sldId id="281"/>
            <p14:sldId id="282"/>
          </p14:sldIdLst>
        </p14:section>
        <p14:section name="Close" id="{c6e80250-8fc0-8ebe-a90c-ef56a689e8e1}">
          <p14:sldIdLst>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Reviews</c:v>
                </c:pt>
              </c:strCache>
            </c:strRef>
          </c:tx>
          <c:spPr>
            <a:solidFill>
              <a:srgbClr val="A23B2A"/>
            </a:solidFill>
            <a:effectLst/>
          </c:spPr>
          <c:invertIfNegative val="0"/>
          <c:dLbls>
            <c:numFmt formatCode="#,##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A23B2A"/>
              </a:solidFill>
              <a:effectLst/>
            </c:spPr>
          </c:dPt>
          <c:dPt>
            <c:idx val="1"/>
            <c:invertIfNegative val="0"/>
            <c:bubble3D val="0"/>
            <c:spPr>
              <a:solidFill>
                <a:srgbClr val="D98B7E"/>
              </a:solidFill>
              <a:effectLst/>
            </c:spPr>
          </c:dPt>
          <c:dPt>
            <c:idx val="2"/>
            <c:invertIfNegative val="0"/>
            <c:bubble3D val="0"/>
            <c:spPr>
              <a:solidFill>
                <a:srgbClr val="9AA5AE"/>
              </a:solidFill>
              <a:effectLst/>
            </c:spPr>
          </c:dPt>
          <c:dPt>
            <c:idx val="3"/>
            <c:invertIfNegative val="0"/>
            <c:bubble3D val="0"/>
            <c:spPr>
              <a:solidFill>
                <a:srgbClr val="6FAFAA"/>
              </a:solidFill>
              <a:effectLst/>
            </c:spPr>
          </c:dPt>
          <c:dPt>
            <c:idx val="4"/>
            <c:invertIfNegative val="0"/>
            <c:bubble3D val="0"/>
            <c:spPr>
              <a:solidFill>
                <a:srgbClr val="1B7F79"/>
              </a:solidFill>
              <a:effectLst/>
            </c:spPr>
          </c:dPt>
          <c:cat>
            <c:multiLvlStrRef>
              <c:f>Sheet1!$A$2:$A$6</c:f>
              <c:multiLvlStrCache>
                <c:ptCount val="5"/>
                <c:lvl>
                  <c:pt idx="0">
                    <c:v>1 star</c:v>
                  </c:pt>
                  <c:pt idx="1">
                    <c:v>2 stars</c:v>
                  </c:pt>
                  <c:pt idx="2">
                    <c:v>3 stars</c:v>
                  </c:pt>
                  <c:pt idx="3">
                    <c:v>4 stars</c:v>
                  </c:pt>
                  <c:pt idx="4">
                    <c:v>5 stars</c:v>
                  </c:pt>
                </c:lvl>
              </c:multiLvlStrCache>
            </c:multiLvlStrRef>
          </c:cat>
          <c:val>
            <c:numRef>
              <c:f>Sheet1!$B$2:$B$6</c:f>
              <c:numCache>
                <c:formatCode>General</c:formatCode>
                <c:ptCount val="5"/>
                <c:pt idx="0">
                  <c:v>259</c:v>
                </c:pt>
                <c:pt idx="1">
                  <c:v>33</c:v>
                </c:pt>
                <c:pt idx="2">
                  <c:v>26</c:v>
                </c:pt>
                <c:pt idx="3">
                  <c:v>42</c:v>
                </c:pt>
                <c:pt idx="4">
                  <c:v>640</c:v>
                </c:pt>
              </c:numCache>
            </c:numRef>
          </c:val>
        </c:ser>
        <c:dLbls>
          <c:numFmt formatCode="#,##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7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Mentions</c:v>
                </c:pt>
              </c:strCache>
            </c:strRef>
          </c:tx>
          <c:spPr>
            <a:solidFill>
              <a:srgbClr val="9AA5AE"/>
            </a:solidFill>
            <a:effectLst/>
          </c:spPr>
          <c:invertIfNegative val="0"/>
          <c:dLbls>
            <c:numFmt formatCode="#,##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9AA5AE"/>
              </a:solidFill>
              <a:effectLst/>
            </c:spPr>
          </c:dPt>
          <c:dPt>
            <c:idx val="1"/>
            <c:invertIfNegative val="0"/>
            <c:bubble3D val="0"/>
            <c:spPr>
              <a:solidFill>
                <a:srgbClr val="1B7F79"/>
              </a:solidFill>
              <a:effectLst/>
            </c:spPr>
          </c:dPt>
          <c:dPt>
            <c:idx val="2"/>
            <c:invertIfNegative val="0"/>
            <c:bubble3D val="0"/>
            <c:spPr>
              <a:solidFill>
                <a:srgbClr val="1B7F79"/>
              </a:solidFill>
              <a:effectLst/>
            </c:spPr>
          </c:dPt>
          <c:dPt>
            <c:idx val="3"/>
            <c:invertIfNegative val="0"/>
            <c:bubble3D val="0"/>
            <c:spPr>
              <a:solidFill>
                <a:srgbClr val="1B7F79"/>
              </a:solidFill>
              <a:effectLst/>
            </c:spPr>
          </c:dPt>
          <c:dPt>
            <c:idx val="4"/>
            <c:invertIfNegative val="0"/>
            <c:bubble3D val="0"/>
            <c:spPr>
              <a:solidFill>
                <a:srgbClr val="1B7F79"/>
              </a:solidFill>
              <a:effectLst/>
            </c:spPr>
          </c:dPt>
          <c:dPt>
            <c:idx val="5"/>
            <c:invertIfNegative val="0"/>
            <c:bubble3D val="0"/>
            <c:spPr>
              <a:solidFill>
                <a:srgbClr val="1B7F79"/>
              </a:solidFill>
              <a:effectLst/>
            </c:spPr>
          </c:dPt>
          <c:dPt>
            <c:idx val="6"/>
            <c:invertIfNegative val="0"/>
            <c:bubble3D val="0"/>
            <c:spPr>
              <a:solidFill>
                <a:srgbClr val="1B7F79"/>
              </a:solidFill>
              <a:effectLst/>
            </c:spPr>
          </c:dPt>
          <c:dPt>
            <c:idx val="7"/>
            <c:invertIfNegative val="0"/>
            <c:bubble3D val="0"/>
            <c:spPr>
              <a:solidFill>
                <a:srgbClr val="1B7F79"/>
              </a:solidFill>
              <a:effectLst/>
            </c:spPr>
          </c:dPt>
          <c:dPt>
            <c:idx val="8"/>
            <c:invertIfNegative val="0"/>
            <c:bubble3D val="0"/>
            <c:spPr>
              <a:solidFill>
                <a:srgbClr val="1B7F79"/>
              </a:solidFill>
              <a:effectLst/>
            </c:spPr>
          </c:dPt>
          <c:dPt>
            <c:idx val="9"/>
            <c:invertIfNegative val="0"/>
            <c:bubble3D val="0"/>
            <c:spPr>
              <a:solidFill>
                <a:srgbClr val="A23B2A"/>
              </a:solidFill>
              <a:effectLst/>
            </c:spPr>
          </c:dPt>
          <c:cat>
            <c:multiLvlStrRef>
              <c:f>Sheet1!$A$2:$A$11</c:f>
              <c:multiLvlStrCache>
                <c:ptCount val="10"/>
                <c:lvl>
                  <c:pt idx="0">
                    <c:v>Other / unclear</c:v>
                  </c:pt>
                  <c:pt idx="1">
                    <c:v>Driver / vehicle operations</c:v>
                  </c:pt>
                  <c:pt idx="2">
                    <c:v>Booking / scheduling</c:v>
                  </c:pt>
                  <c:pt idx="3">
                    <c:v>Crash / performance / network</c:v>
                  </c:pt>
                  <c:pt idx="4">
                    <c:v>GPS / ETA / tracking</c:v>
                  </c:pt>
                  <c:pt idx="5">
                    <c:v>UX / usability</c:v>
                  </c:pt>
                  <c:pt idx="6">
                    <c:v>Notifications / alerts</c:v>
                  </c:pt>
                  <c:pt idx="7">
                    <c:v>Customer support</c:v>
                  </c:pt>
                  <c:pt idx="8">
                    <c:v>Login / access</c:v>
                  </c:pt>
                  <c:pt idx="9">
                    <c:v>No-show / check-in</c:v>
                  </c:pt>
                </c:lvl>
              </c:multiLvlStrCache>
            </c:multiLvlStrRef>
          </c:cat>
          <c:val>
            <c:numRef>
              <c:f>Sheet1!$B$2:$B$11</c:f>
              <c:numCache>
                <c:formatCode>General</c:formatCode>
                <c:ptCount val="10"/>
                <c:pt idx="0">
                  <c:v>111</c:v>
                </c:pt>
                <c:pt idx="1">
                  <c:v>73</c:v>
                </c:pt>
                <c:pt idx="2">
                  <c:v>64</c:v>
                </c:pt>
                <c:pt idx="3">
                  <c:v>49</c:v>
                </c:pt>
                <c:pt idx="4">
                  <c:v>39</c:v>
                </c:pt>
                <c:pt idx="5">
                  <c:v>34</c:v>
                </c:pt>
                <c:pt idx="6">
                  <c:v>29</c:v>
                </c:pt>
                <c:pt idx="7">
                  <c:v>15</c:v>
                </c:pt>
                <c:pt idx="8">
                  <c:v>14</c:v>
                </c:pt>
                <c:pt idx="9">
                  <c:v>10</c:v>
                </c:pt>
              </c:numCache>
            </c:numRef>
          </c:val>
        </c:ser>
        <c:dLbls>
          <c:numFmt formatCode="#,##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1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Reviews</c:v>
                </c:pt>
              </c:strCache>
            </c:strRef>
          </c:tx>
          <c:spPr>
            <a:solidFill>
              <a:srgbClr val="9AA5AE"/>
            </a:solidFill>
            <a:effectLst/>
          </c:spPr>
          <c:invertIfNegative val="0"/>
          <c:dLbls>
            <c:numFmt formatCode="#,##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9AA5AE"/>
              </a:solidFill>
              <a:effectLst/>
            </c:spPr>
          </c:dPt>
          <c:dPt>
            <c:idx val="1"/>
            <c:invertIfNegative val="0"/>
            <c:bubble3D val="0"/>
            <c:spPr>
              <a:solidFill>
                <a:srgbClr val="1B7F79"/>
              </a:solidFill>
              <a:effectLst/>
            </c:spPr>
          </c:dPt>
          <c:dPt>
            <c:idx val="2"/>
            <c:invertIfNegative val="0"/>
            <c:bubble3D val="0"/>
            <c:spPr>
              <a:solidFill>
                <a:srgbClr val="1B7F79"/>
              </a:solidFill>
              <a:effectLst/>
            </c:spPr>
          </c:dPt>
          <c:dPt>
            <c:idx val="3"/>
            <c:invertIfNegative val="0"/>
            <c:bubble3D val="0"/>
            <c:spPr>
              <a:solidFill>
                <a:srgbClr val="1B7F79"/>
              </a:solidFill>
              <a:effectLst/>
            </c:spPr>
          </c:dPt>
          <c:dPt>
            <c:idx val="4"/>
            <c:invertIfNegative val="0"/>
            <c:bubble3D val="0"/>
            <c:spPr>
              <a:solidFill>
                <a:srgbClr val="9AA5AE"/>
              </a:solidFill>
              <a:effectLst/>
            </c:spPr>
          </c:dPt>
          <c:cat>
            <c:multiLvlStrRef>
              <c:f>Sheet1!$A$2:$A$6</c:f>
              <c:multiLvlStrCache>
                <c:ptCount val="5"/>
                <c:lvl>
                  <c:pt idx="0">
                    <c:v>Jun*</c:v>
                  </c:pt>
                  <c:pt idx="1">
                    <c:v>Jul</c:v>
                  </c:pt>
                  <c:pt idx="2">
                    <c:v>Aug</c:v>
                  </c:pt>
                  <c:pt idx="3">
                    <c:v>Sep</c:v>
                  </c:pt>
                  <c:pt idx="4">
                    <c:v>Oct*</c:v>
                  </c:pt>
                </c:lvl>
              </c:multiLvlStrCache>
            </c:multiLvlStrRef>
          </c:cat>
          <c:val>
            <c:numRef>
              <c:f>Sheet1!$B$2:$B$6</c:f>
              <c:numCache>
                <c:formatCode>General</c:formatCode>
                <c:ptCount val="5"/>
                <c:pt idx="0">
                  <c:v>150</c:v>
                </c:pt>
                <c:pt idx="1">
                  <c:v>286</c:v>
                </c:pt>
                <c:pt idx="2">
                  <c:v>241</c:v>
                </c:pt>
                <c:pt idx="3">
                  <c:v>245</c:v>
                </c:pt>
                <c:pt idx="4">
                  <c:v>78</c:v>
                </c:pt>
              </c:numCache>
            </c:numRef>
          </c:val>
        </c:ser>
        <c:dLbls>
          <c:numFmt formatCode="#,##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day</c:v>
                </c:pt>
              </c:strCache>
            </c:strRef>
          </c:tx>
          <c:spPr>
            <a:solidFill>
              <a:srgbClr val="1B7F79"/>
            </a:solidFill>
            <a:effectLst/>
          </c:spPr>
          <c:invertIfNegative val="0"/>
          <c:dLbls>
            <c:numFmt formatCode="0.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cat>
            <c:multiLvlStrRef>
              <c:f>Sheet1!$A$2:$A$6</c:f>
              <c:multiLvlStrCache>
                <c:ptCount val="5"/>
                <c:lvl>
                  <c:pt idx="0">
                    <c:v>Jun*</c:v>
                  </c:pt>
                  <c:pt idx="1">
                    <c:v>Jul</c:v>
                  </c:pt>
                  <c:pt idx="2">
                    <c:v>Aug</c:v>
                  </c:pt>
                  <c:pt idx="3">
                    <c:v>Sep</c:v>
                  </c:pt>
                  <c:pt idx="4">
                    <c:v>Oct*</c:v>
                  </c:pt>
                </c:lvl>
              </c:multiLvlStrCache>
            </c:multiLvlStrRef>
          </c:cat>
          <c:val>
            <c:numRef>
              <c:f>Sheet1!$B$2:$B$6</c:f>
              <c:numCache>
                <c:formatCode>General</c:formatCode>
                <c:ptCount val="5"/>
                <c:pt idx="0">
                  <c:v>8.8</c:v>
                </c:pt>
                <c:pt idx="1">
                  <c:v>9.2</c:v>
                </c:pt>
                <c:pt idx="2">
                  <c:v>7.8</c:v>
                </c:pt>
                <c:pt idx="3">
                  <c:v>8.2</c:v>
                </c:pt>
                <c:pt idx="4">
                  <c:v>8.7</c:v>
                </c:pt>
              </c:numCache>
            </c:numRef>
          </c:val>
        </c:ser>
        <c:dLbls>
          <c:numFmt formatCode="0.0" sourceLinked="0"/>
          <c:txPr>
            <a:bodyPr/>
            <a:lstStyle/>
            <a:p>
              <a:pPr>
                <a:defRPr b="0" i="0" strike="noStrike" sz="1400" u="none">
                  <a:solidFill>
                    <a:srgbClr val="1B1F2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Tharun. This deck walks through how I looked at the MoveInSync employee app rating, what I found in 1,000 recent reviews, and the plan I would follow in the first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answer. The listing shows 4.3 stars, but one number cannot tell us what to fix. I collected 1,000 recent reviews, and 292 of them are one or two stars. The biggest named complaints are about drivers and vehicles, booking, crashes and network, and GPS and ETA. I treat these as leads to test, not as proven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use this app early in the morning, trying to reach work on time. A wrong booking or a missing vehicle costs time and sometimes money. One average number can't answer what matters most, so I wrote down four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asks Google Play for the newest public reviews of com.moveinsync.ets, India store, in English, up to 1,000. It removes duplicates and saves one CSV. Then I tagged the 292 one and two star reviews with keyword rules. Anyone can run it again from the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bug but it matters. The separate pull of one and two star reviews returned nothing because I used the wrong argument name. So the 292 low-star reviews are simply the low-star part of the 1,000 sample. I also noted the 4.3 score by hand because my script did not save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is mostly five star. 292 of 1,000 are one or two stars, and 259 of those are one star. The sample average works out to 3.77, below the listing's 4.3. I would not read that as a decline. The listing covers all ratings over the life of the app, and the sample is recent written reviews, which lean towards unhappy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mentions from rule-based tags, and one review can carry several tags, so the bars overlap. I read the bar lengths off the notebook chart, so the numbers are close but not exact. Driver and vehicle operations is the biggest named theme at about one low-star review in four. No-show is small, about 3%, but a wrong no-show can cost someone money, so I rank it by consequence.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group the themes by what they tell us. Operations means the vehicle and driver side. Commute trust means the app and the real trip disagree. Reliability and look means the basics of using the app. The percentages are mentions per 100 low-star reviews, so they overlap and should not be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alone, the monthly chart suggests a jump in July and a steep fall in October. But the window runs from 14 June to 9 October, so June has 17 days and October only 9. Divide by days and the rate is steady, about 8 to 9 written reviews a day and about 2.5 low-star ones. So there is no sign of the app getting worse or better from volume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building the notebook I read five reviews on the public listing. I use them for texture only, never to count anything. They line up with the themes in the larger data: booking, tracking and ETA, alerts and no-show.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hand-read reviews and the larger data agree, I am more comfortable prioritising. Booking and tracking agree in both. No-show is rare in counts but high in consequence. Crashes and driver or vehicle operations are new signals that only show up in the larger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being honest. The data shows what unhappy reviewers write and when. It does not show why trips fail, how often, or whether a complaint is an app bug or an operations problem. For that I need internal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brief describes the whole journey from onboarding to raising an issue. The app is where most of it becomes visible. I matched each theme to the step where it hurts. The numbers are mentions per 100 low-star reviews,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many complaints are the app and the real trip disagreeing. I call this state correctness and journey visibility. Second, the biggest named theme is about drivers and vehicles, so part of the problem is probably operational. I need internal event data to separate the two. I also list other explanations I need to rule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reflects how much harm is possible and how urgent the moment is. It does not reflect how sure I am about the cause. Booking and no-show come first because a mistake there can cost an employee money or a shift. These percentages are approximate mentions per 100 low-star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part of the deck. I am not promising a big rating jump in 30 days. I want to find the failures that matter most, fix one or two once they are confirmed, and leave behind a weekly routine the team keeps running. These are the five rules I would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workstream has one accountable owner so nothing falls between teams. A means accountable, R does the work, C is consulted and I is informed. Names get filled in on day one. The operations link is new, because drivers and vehicles are the largest named theme.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has a gate. We only move on when the gate is met. If it is not, we stop and think again. Phase 0 is about aligning and fixing the data, then we trace real cases, decide on the smallest fix, build it, release it to a small group and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week I get everyone aligned on definitions, fix my own data gaps, trace real cases from tap to saved booking, and pick the smallest fix with the biggest effect. No big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week two we build the fix behind a feature flag, with tests for the exact failure and tracking events so we can tell if it worked. In week three it goes to a small group and I check the numbers every day. In week four we compare with the baseline, list other changes that could explain movement and hand the weekly routine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can't test most of my ideas without a shared record of what happened at each step. Where the system already logs something we reuse it, and we add only what is missing. Every event carries an anonymous trip or booking ID, a server time, the app version and the platform. No names are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mistake in booking or no-show logic can hurt employees directly, so nothing goes to everyone at once. Each stage has a rule for moving on and a rule for rolling back. I leave the threshold values empty on purpose. They should come from the baseline numbers, not from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 rating is a lagging signal. These eight measures move first. For each one the team should write down the owner, the query, the time window, what is left out and what an alert should trigger. We set targets only after we know the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judge results I get a baseline first, compare like with like, write down anything else that could move the numbers and say so when groups are small. I would never chase the star count itself: no hiding negative feedback and no interrupting people while they book or wait. To keep people aligned there is a 15 minute weekly check-in, an evidence review, a review for each release and a leadership readout on day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will keep asking this question, so I would turn the answer into a short weekly routine and not a one-time document. Monday is refresh and tag, Tuesday is triage with owners, every release gets annotated, and once a month we sum up what improved and what did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risks I would watch. The first is data access, so I start with public data and made-up traces, and ask for limited-access exports on day one. The one I take most seriously is a fix that touches safety or pay related flows, which is why releases go to small groups with a rollback agreed beforehand.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day 30 I want six things. Shared definitions and checked labels. At least one booking or no-show problem followed end to end. A baseline for each early-sign measure. One or two fixes released step by step. A weekly routine with an owner. And a short readout that separates what we proved, what we suspect and what we still do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limits I want to be clear about. It is a convenience sample of the newest accessible written reviews. The low-star pull failed and needs a re-run. The listing score was noted by hand. The theme counts are chart readings, and the labels are not yet human-checked. Counts have no trip numbers behind them. On day one I would ask for a 90 day review export and the internal event and operations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fix the data gaps, confirm the failures with real event data, and release small fixes while measuring both the commute and the reviews.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used in this study. Public data only. No internal MoveInSync data or private employee data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201168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3" name="Text 0"/>
          <p:cNvSpPr/>
          <p:nvPr>
            <p:ph idx="101" type="body" hasCustomPrompt="1"/>
          </p:nvPr>
        </p:nvSpPr>
        <p:spPr>
          <a:xfrm>
            <a:off x="731520" y="3886200"/>
            <a:ext cx="6035040" cy="9144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11091672" cy="10515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Tharun Teja  |  MoveInSync FDE case study</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2801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colab.research.google.com/drive/1Ady6sJFFMrLd4ywXR_t5MYpIq0eBZiYb?usp=sharing" TargetMode="External"/><Relationship Id="rId1"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3.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3.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3.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colab.research.google.com/drive/1Ady6sJFFMrLd4ywXR_t5MYpIq0eBZiYb?usp=sharing" TargetMode="Externa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309360" cy="2011680"/>
          </a:xfrm>
          <a:prstGeom prst="rect">
            <a:avLst/>
          </a:prstGeom>
          <a:noFill/>
          <a:ln/>
        </p:spPr>
        <p:txBody>
          <a:bodyPr wrap="square" lIns="0" tIns="0" rIns="0" bIns="0" rtlCol="0" anchor="t"/>
          <a:lstStyle/>
          <a:p>
            <a:pPr algn="l" indent="0" marL="0">
              <a:buNone/>
            </a:pPr>
            <a:r>
              <a:rPr lang="en-US" sz="4200" b="1" dirty="0">
                <a:solidFill>
                  <a:schemeClr val="bg1"/>
                </a:solidFill>
              </a:rPr>
              <a:t>Improving the MoveInSync Employee App Rating</a:t>
            </a:r>
            <a:endParaRPr lang="en-US" sz="4200" dirty="0"/>
          </a:p>
        </p:txBody>
      </p:sp>
      <p:sp>
        <p:nvSpPr>
          <p:cNvPr id="3" name="Text 0"/>
          <p:cNvSpPr/>
          <p:nvPr>
            <p:ph idx="101" type="body" hasCustomPrompt="1"/>
          </p:nvPr>
        </p:nvSpPr>
        <p:spPr>
          <a:xfrm>
            <a:off x="731520" y="3886200"/>
            <a:ext cx="6035040" cy="914400"/>
          </a:xfrm>
          <a:prstGeom prst="rect">
            <a:avLst/>
          </a:prstGeom>
          <a:noFill/>
          <a:ln/>
        </p:spPr>
        <p:txBody>
          <a:bodyPr wrap="square" lIns="0" tIns="0" rIns="0" bIns="0" rtlCol="0" anchor="t"/>
          <a:lstStyle/>
          <a:p>
            <a:pPr algn="l" indent="0" marL="0">
              <a:buNone/>
            </a:pPr>
            <a:r>
              <a:rPr lang="en-US" sz="2000" dirty="0">
                <a:solidFill>
                  <a:schemeClr val="bg2"/>
                </a:solidFill>
              </a:rPr>
              <a:t>What 1,000 Google Play reviews tell us, and a 30-day plan to act on it</a:t>
            </a:r>
            <a:endParaRPr lang="en-US" sz="2000" dirty="0"/>
          </a:p>
        </p:txBody>
      </p:sp>
      <p:sp>
        <p:nvSpPr>
          <p:cNvPr id="4" name="Text 2"/>
          <p:cNvSpPr txBox="1"/>
          <p:nvPr/>
        </p:nvSpPr>
        <p:spPr>
          <a:xfrm>
            <a:off x="731520" y="1188720"/>
            <a:ext cx="64008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FORWARD DEPLOYED ENGINEER CASE STUDY</a:t>
            </a:r>
            <a:endParaRPr lang="en-US" sz="1200" dirty="0"/>
          </a:p>
        </p:txBody>
      </p:sp>
      <p:sp>
        <p:nvSpPr>
          <p:cNvPr id="5" name="Text 3"/>
          <p:cNvSpPr txBox="1"/>
          <p:nvPr/>
        </p:nvSpPr>
        <p:spPr>
          <a:xfrm>
            <a:off x="731520" y="5760720"/>
            <a:ext cx="6400800" cy="365760"/>
          </a:xfrm>
          <a:prstGeom prst="rect">
            <a:avLst/>
          </a:prstGeom>
          <a:noFill/>
          <a:ln/>
        </p:spPr>
        <p:txBody>
          <a:bodyPr wrap="square" lIns="0" tIns="0" rIns="0" bIns="0" rtlCol="0" anchor="t"/>
          <a:lstStyle/>
          <a:p>
            <a:pPr indent="0" marL="0">
              <a:buNone/>
            </a:pPr>
            <a:r>
              <a:rPr lang="en-US" sz="1400" dirty="0">
                <a:solidFill>
                  <a:schemeClr val="accent5"/>
                </a:solidFill>
              </a:rPr>
              <a:t>Tharun Teja  |  10 October 2026</a:t>
            </a:r>
            <a:endParaRPr lang="en-US" sz="1400" dirty="0"/>
          </a:p>
        </p:txBody>
      </p:sp>
      <p:sp>
        <p:nvSpPr>
          <p:cNvPr id="6" name="Route line"/>
          <p:cNvSpPr/>
          <p:nvPr/>
        </p:nvSpPr>
        <p:spPr>
          <a:xfrm>
            <a:off x="8001000" y="3337560"/>
            <a:ext cx="3611880" cy="0"/>
          </a:xfrm>
          <a:prstGeom prst="line">
            <a:avLst/>
          </a:prstGeom>
          <a:noFill/>
          <a:ln w="38100">
            <a:solidFill>
              <a:schemeClr val="accent4"/>
            </a:solidFill>
            <a:prstDash val="dash"/>
          </a:ln>
        </p:spPr>
      </p:sp>
      <p:sp>
        <p:nvSpPr>
          <p:cNvPr id="7" name="Route stop"/>
          <p:cNvSpPr/>
          <p:nvPr/>
        </p:nvSpPr>
        <p:spPr>
          <a:xfrm>
            <a:off x="7726680" y="3154680"/>
            <a:ext cx="365760" cy="365760"/>
          </a:xfrm>
          <a:prstGeom prst="ellipse">
            <a:avLst/>
          </a:prstGeom>
          <a:solidFill>
            <a:schemeClr val="bg2"/>
          </a:solidFill>
          <a:ln w="38100">
            <a:solidFill>
              <a:schemeClr val="accent1"/>
            </a:solidFill>
            <a:prstDash val="solid"/>
          </a:ln>
        </p:spPr>
      </p:sp>
      <p:sp>
        <p:nvSpPr>
          <p:cNvPr id="8" name="Text 6"/>
          <p:cNvSpPr txBox="1"/>
          <p:nvPr/>
        </p:nvSpPr>
        <p:spPr>
          <a:xfrm>
            <a:off x="7406640" y="3703320"/>
            <a:ext cx="1005840" cy="320040"/>
          </a:xfrm>
          <a:prstGeom prst="rect">
            <a:avLst/>
          </a:prstGeom>
          <a:noFill/>
          <a:ln/>
        </p:spPr>
        <p:txBody>
          <a:bodyPr wrap="square" lIns="0" tIns="0" rIns="0" bIns="0" rtlCol="0" anchor="t"/>
          <a:lstStyle/>
          <a:p>
            <a:pPr algn="ctr" indent="0" marL="0">
              <a:buNone/>
            </a:pPr>
            <a:r>
              <a:rPr lang="en-US" sz="1400" dirty="0">
                <a:solidFill>
                  <a:schemeClr val="bg2"/>
                </a:solidFill>
              </a:rPr>
              <a:t>Book</a:t>
            </a:r>
            <a:endParaRPr lang="en-US" sz="1400" dirty="0"/>
          </a:p>
        </p:txBody>
      </p:sp>
      <p:sp>
        <p:nvSpPr>
          <p:cNvPr id="9" name="Route stop"/>
          <p:cNvSpPr/>
          <p:nvPr/>
        </p:nvSpPr>
        <p:spPr>
          <a:xfrm>
            <a:off x="9006840" y="3154680"/>
            <a:ext cx="365760" cy="365760"/>
          </a:xfrm>
          <a:prstGeom prst="ellipse">
            <a:avLst/>
          </a:prstGeom>
          <a:solidFill>
            <a:schemeClr val="bg2"/>
          </a:solidFill>
          <a:ln w="38100">
            <a:solidFill>
              <a:schemeClr val="accent1"/>
            </a:solidFill>
            <a:prstDash val="solid"/>
          </a:ln>
        </p:spPr>
      </p:sp>
      <p:sp>
        <p:nvSpPr>
          <p:cNvPr id="10" name="Text 8"/>
          <p:cNvSpPr txBox="1"/>
          <p:nvPr/>
        </p:nvSpPr>
        <p:spPr>
          <a:xfrm>
            <a:off x="8686800" y="3703320"/>
            <a:ext cx="1005840" cy="320040"/>
          </a:xfrm>
          <a:prstGeom prst="rect">
            <a:avLst/>
          </a:prstGeom>
          <a:noFill/>
          <a:ln/>
        </p:spPr>
        <p:txBody>
          <a:bodyPr wrap="square" lIns="0" tIns="0" rIns="0" bIns="0" rtlCol="0" anchor="t"/>
          <a:lstStyle/>
          <a:p>
            <a:pPr algn="ctr" indent="0" marL="0">
              <a:buNone/>
            </a:pPr>
            <a:r>
              <a:rPr lang="en-US" sz="1400" dirty="0">
                <a:solidFill>
                  <a:schemeClr val="bg2"/>
                </a:solidFill>
              </a:rPr>
              <a:t>Assign</a:t>
            </a:r>
            <a:endParaRPr lang="en-US" sz="1400" dirty="0"/>
          </a:p>
        </p:txBody>
      </p:sp>
      <p:sp>
        <p:nvSpPr>
          <p:cNvPr id="11" name="Route stop"/>
          <p:cNvSpPr/>
          <p:nvPr/>
        </p:nvSpPr>
        <p:spPr>
          <a:xfrm>
            <a:off x="10287000" y="3154680"/>
            <a:ext cx="365760" cy="365760"/>
          </a:xfrm>
          <a:prstGeom prst="ellipse">
            <a:avLst/>
          </a:prstGeom>
          <a:solidFill>
            <a:schemeClr val="bg2"/>
          </a:solidFill>
          <a:ln w="38100">
            <a:solidFill>
              <a:schemeClr val="accent1"/>
            </a:solidFill>
            <a:prstDash val="solid"/>
          </a:ln>
        </p:spPr>
      </p:sp>
      <p:sp>
        <p:nvSpPr>
          <p:cNvPr id="12" name="Text 10"/>
          <p:cNvSpPr txBox="1"/>
          <p:nvPr/>
        </p:nvSpPr>
        <p:spPr>
          <a:xfrm>
            <a:off x="9966960" y="3703320"/>
            <a:ext cx="1005840" cy="320040"/>
          </a:xfrm>
          <a:prstGeom prst="rect">
            <a:avLst/>
          </a:prstGeom>
          <a:noFill/>
          <a:ln/>
        </p:spPr>
        <p:txBody>
          <a:bodyPr wrap="square" lIns="0" tIns="0" rIns="0" bIns="0" rtlCol="0" anchor="t"/>
          <a:lstStyle/>
          <a:p>
            <a:pPr algn="ctr" indent="0" marL="0">
              <a:buNone/>
            </a:pPr>
            <a:r>
              <a:rPr lang="en-US" sz="1400" dirty="0">
                <a:solidFill>
                  <a:schemeClr val="bg2"/>
                </a:solidFill>
              </a:rPr>
              <a:t>Wait</a:t>
            </a:r>
            <a:endParaRPr lang="en-US" sz="1400" dirty="0"/>
          </a:p>
        </p:txBody>
      </p:sp>
      <p:sp>
        <p:nvSpPr>
          <p:cNvPr id="13" name="Route stop"/>
          <p:cNvSpPr/>
          <p:nvPr/>
        </p:nvSpPr>
        <p:spPr>
          <a:xfrm>
            <a:off x="11384280" y="3154680"/>
            <a:ext cx="365760" cy="365760"/>
          </a:xfrm>
          <a:prstGeom prst="ellipse">
            <a:avLst/>
          </a:prstGeom>
          <a:solidFill>
            <a:schemeClr val="accent1"/>
          </a:solidFill>
          <a:ln w="38100">
            <a:solidFill>
              <a:schemeClr val="accent1"/>
            </a:solidFill>
            <a:prstDash val="solid"/>
          </a:ln>
        </p:spPr>
      </p:sp>
      <p:sp>
        <p:nvSpPr>
          <p:cNvPr id="14" name="Text 12"/>
          <p:cNvSpPr txBox="1"/>
          <p:nvPr/>
        </p:nvSpPr>
        <p:spPr>
          <a:xfrm>
            <a:off x="11064240" y="3703320"/>
            <a:ext cx="1005840" cy="320040"/>
          </a:xfrm>
          <a:prstGeom prst="rect">
            <a:avLst/>
          </a:prstGeom>
          <a:noFill/>
          <a:ln/>
        </p:spPr>
        <p:txBody>
          <a:bodyPr wrap="square" lIns="0" tIns="0" rIns="0" bIns="0" rtlCol="0" anchor="t"/>
          <a:lstStyle/>
          <a:p>
            <a:pPr algn="ctr" indent="0" marL="0">
              <a:buNone/>
            </a:pPr>
            <a:r>
              <a:rPr lang="en-US" sz="1400" dirty="0">
                <a:solidFill>
                  <a:schemeClr val="bg2"/>
                </a:solidFill>
              </a:rPr>
              <a:t>Arrive</a:t>
            </a:r>
            <a:endParaRPr lang="en-US" sz="1400" dirty="0"/>
          </a:p>
        </p:txBody>
      </p:sp>
      <p:pic>
        <p:nvPicPr>
          <p:cNvPr id="15" name="Image 0" descr="car">    </p:cNvPr>
          <p:cNvPicPr>
            <a:picLocks noChangeAspect="1"/>
          </p:cNvPicPr>
          <p:nvPr/>
        </p:nvPicPr>
        <p:blipFill>
          <a:blip r:embed="rId1"/>
          <a:stretch>
            <a:fillRect/>
          </a:stretch>
        </p:blipFill>
        <p:spPr>
          <a:xfrm>
            <a:off x="7680960" y="2240280"/>
            <a:ext cx="594360" cy="594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THE ANSWER FIRST</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Make the commute reliable first, and let the rating follow</a:t>
            </a:r>
            <a:endParaRPr lang="en-US" sz="3200" dirty="0"/>
          </a:p>
        </p:txBody>
      </p:sp>
      <p:sp>
        <p:nvSpPr>
          <p:cNvPr id="5" name="Stat card"/>
          <p:cNvSpPr/>
          <p:nvPr/>
        </p:nvSpPr>
        <p:spPr>
          <a:xfrm>
            <a:off x="548640" y="1783080"/>
            <a:ext cx="3593592"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822960" y="1920240"/>
            <a:ext cx="3108960" cy="914400"/>
          </a:xfrm>
          <a:prstGeom prst="rect">
            <a:avLst/>
          </a:prstGeom>
          <a:noFill/>
          <a:ln/>
        </p:spPr>
        <p:txBody>
          <a:bodyPr wrap="square" lIns="0" tIns="0" rIns="0" bIns="0" rtlCol="0" anchor="t"/>
          <a:lstStyle/>
          <a:p>
            <a:pPr indent="0" marL="0">
              <a:buNone/>
            </a:pPr>
            <a:r>
              <a:rPr lang="en-US" sz="5400" b="1" dirty="0">
                <a:solidFill>
                  <a:schemeClr val="accent2"/>
                </a:solidFill>
              </a:rPr>
              <a:t>4.3</a:t>
            </a:r>
            <a:endParaRPr lang="en-US" sz="5400" dirty="0"/>
          </a:p>
        </p:txBody>
      </p:sp>
      <p:sp>
        <p:nvSpPr>
          <p:cNvPr id="7" name="Text 4"/>
          <p:cNvSpPr txBox="1"/>
          <p:nvPr/>
        </p:nvSpPr>
        <p:spPr>
          <a:xfrm>
            <a:off x="822960" y="2926080"/>
            <a:ext cx="3108960" cy="914400"/>
          </a:xfrm>
          <a:prstGeom prst="rect">
            <a:avLst/>
          </a:prstGeom>
          <a:noFill/>
          <a:ln/>
        </p:spPr>
        <p:txBody>
          <a:bodyPr wrap="square" lIns="0" tIns="0" rIns="0" bIns="0" rtlCol="0" anchor="t"/>
          <a:lstStyle/>
          <a:p>
            <a:pPr indent="0" marL="0">
              <a:buNone/>
            </a:pPr>
            <a:r>
              <a:rPr lang="en-US" sz="1400" dirty="0">
                <a:solidFill>
                  <a:schemeClr val="tx2"/>
                </a:solidFill>
              </a:rPr>
              <a:t>Listing score on Google Play, from about 1.15 lakh ratings (noted by hand, 10 Oct 2026)</a:t>
            </a:r>
            <a:endParaRPr lang="en-US" sz="1400" dirty="0"/>
          </a:p>
        </p:txBody>
      </p:sp>
      <p:sp>
        <p:nvSpPr>
          <p:cNvPr id="8" name="Stat card"/>
          <p:cNvSpPr/>
          <p:nvPr/>
        </p:nvSpPr>
        <p:spPr>
          <a:xfrm>
            <a:off x="4297680" y="1783080"/>
            <a:ext cx="3593592"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4572000" y="1920240"/>
            <a:ext cx="3108960" cy="914400"/>
          </a:xfrm>
          <a:prstGeom prst="rect">
            <a:avLst/>
          </a:prstGeom>
          <a:noFill/>
          <a:ln/>
        </p:spPr>
        <p:txBody>
          <a:bodyPr wrap="square" lIns="0" tIns="0" rIns="0" bIns="0" rtlCol="0" anchor="t"/>
          <a:lstStyle/>
          <a:p>
            <a:pPr indent="0" marL="0">
              <a:buNone/>
            </a:pPr>
            <a:r>
              <a:rPr lang="en-US" sz="5400" b="1" dirty="0">
                <a:solidFill>
                  <a:schemeClr val="accent2"/>
                </a:solidFill>
              </a:rPr>
              <a:t>1,000</a:t>
            </a:r>
            <a:endParaRPr lang="en-US" sz="5400" dirty="0"/>
          </a:p>
        </p:txBody>
      </p:sp>
      <p:sp>
        <p:nvSpPr>
          <p:cNvPr id="10" name="Text 7"/>
          <p:cNvSpPr txBox="1"/>
          <p:nvPr/>
        </p:nvSpPr>
        <p:spPr>
          <a:xfrm>
            <a:off x="4572000" y="2926080"/>
            <a:ext cx="3108960" cy="914400"/>
          </a:xfrm>
          <a:prstGeom prst="rect">
            <a:avLst/>
          </a:prstGeom>
          <a:noFill/>
          <a:ln/>
        </p:spPr>
        <p:txBody>
          <a:bodyPr wrap="square" lIns="0" tIns="0" rIns="0" bIns="0" rtlCol="0" anchor="t"/>
          <a:lstStyle/>
          <a:p>
            <a:pPr indent="0" marL="0">
              <a:buNone/>
            </a:pPr>
            <a:r>
              <a:rPr lang="en-US" sz="1400" dirty="0">
                <a:solidFill>
                  <a:schemeClr val="tx2"/>
                </a:solidFill>
              </a:rPr>
              <a:t>Recent reviews I collected, 14 June to 9 October 2026</a:t>
            </a:r>
            <a:endParaRPr lang="en-US" sz="1400" dirty="0"/>
          </a:p>
        </p:txBody>
      </p:sp>
      <p:sp>
        <p:nvSpPr>
          <p:cNvPr id="11" name="Stat card"/>
          <p:cNvSpPr/>
          <p:nvPr/>
        </p:nvSpPr>
        <p:spPr>
          <a:xfrm>
            <a:off x="8046720" y="1783080"/>
            <a:ext cx="3593592"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8321040" y="1920240"/>
            <a:ext cx="3108960" cy="914400"/>
          </a:xfrm>
          <a:prstGeom prst="rect">
            <a:avLst/>
          </a:prstGeom>
          <a:noFill/>
          <a:ln/>
        </p:spPr>
        <p:txBody>
          <a:bodyPr wrap="square" lIns="0" tIns="0" rIns="0" bIns="0" rtlCol="0" anchor="t"/>
          <a:lstStyle/>
          <a:p>
            <a:pPr indent="0" marL="0">
              <a:buNone/>
            </a:pPr>
            <a:r>
              <a:rPr lang="en-US" sz="5400" b="1" dirty="0">
                <a:solidFill>
                  <a:schemeClr val="accent2"/>
                </a:solidFill>
              </a:rPr>
              <a:t>29.2%</a:t>
            </a:r>
            <a:endParaRPr lang="en-US" sz="5400" dirty="0"/>
          </a:p>
        </p:txBody>
      </p:sp>
      <p:sp>
        <p:nvSpPr>
          <p:cNvPr id="13" name="Text 10"/>
          <p:cNvSpPr txBox="1"/>
          <p:nvPr/>
        </p:nvSpPr>
        <p:spPr>
          <a:xfrm>
            <a:off x="8321040" y="2926080"/>
            <a:ext cx="3108960" cy="914400"/>
          </a:xfrm>
          <a:prstGeom prst="rect">
            <a:avLst/>
          </a:prstGeom>
          <a:noFill/>
          <a:ln/>
        </p:spPr>
        <p:txBody>
          <a:bodyPr wrap="square" lIns="0" tIns="0" rIns="0" bIns="0" rtlCol="0" anchor="t"/>
          <a:lstStyle/>
          <a:p>
            <a:pPr indent="0" marL="0">
              <a:buNone/>
            </a:pPr>
            <a:r>
              <a:rPr lang="en-US" sz="1400" dirty="0">
                <a:solidFill>
                  <a:schemeClr val="tx2"/>
                </a:solidFill>
              </a:rPr>
              <a:t>Of those are one or two stars (292 reviews)</a:t>
            </a:r>
            <a:endParaRPr lang="en-US" sz="1400" dirty="0"/>
          </a:p>
        </p:txBody>
      </p:sp>
      <p:sp>
        <p:nvSpPr>
          <p:cNvPr id="14" name="Icon circle"/>
          <p:cNvSpPr/>
          <p:nvPr/>
        </p:nvSpPr>
        <p:spPr>
          <a:xfrm>
            <a:off x="548640" y="4434840"/>
            <a:ext cx="640080" cy="640080"/>
          </a:xfrm>
          <a:prstGeom prst="ellipse">
            <a:avLst/>
          </a:prstGeom>
          <a:solidFill>
            <a:schemeClr val="accent2"/>
          </a:solidFill>
          <a:ln w="12700">
            <a:solidFill>
              <a:schemeClr val="accent2"/>
            </a:solidFill>
            <a:prstDash val="solid"/>
          </a:ln>
        </p:spPr>
      </p:sp>
      <p:pic>
        <p:nvPicPr>
          <p:cNvPr id="15" name="Image 0" descr="icon">    </p:cNvPr>
          <p:cNvPicPr>
            <a:picLocks noChangeAspect="1"/>
          </p:cNvPicPr>
          <p:nvPr/>
        </p:nvPicPr>
        <p:blipFill>
          <a:blip r:embed="rId1"/>
          <a:stretch>
            <a:fillRect/>
          </a:stretch>
        </p:blipFill>
        <p:spPr>
          <a:xfrm>
            <a:off x="715061" y="4601261"/>
            <a:ext cx="307238" cy="307238"/>
          </a:xfrm>
          <a:prstGeom prst="rect">
            <a:avLst/>
          </a:prstGeom>
        </p:spPr>
      </p:pic>
      <p:sp>
        <p:nvSpPr>
          <p:cNvPr id="16" name="Text 12"/>
          <p:cNvSpPr txBox="1"/>
          <p:nvPr/>
        </p:nvSpPr>
        <p:spPr>
          <a:xfrm>
            <a:off x="1417320" y="4389120"/>
            <a:ext cx="10058400" cy="1188720"/>
          </a:xfrm>
          <a:prstGeom prst="rect">
            <a:avLst/>
          </a:prstGeom>
          <a:noFill/>
          <a:ln/>
        </p:spPr>
        <p:txBody>
          <a:bodyPr wrap="square" lIns="0" tIns="0" rIns="0" bIns="0" rtlCol="0" anchor="t"/>
          <a:lstStyle/>
          <a:p>
            <a:pPr indent="0" marL="0">
              <a:buNone/>
            </a:pPr>
            <a:r>
              <a:rPr lang="en-US" sz="1800" b="1" dirty="0">
                <a:solidFill>
                  <a:schemeClr val="tx1"/>
                </a:solidFill>
              </a:rPr>
              <a:t>What unhappy reviewers write about most</a:t>
            </a:r>
            <a:endParaRPr lang="en-US" sz="1400" dirty="0"/>
          </a:p>
          <a:p>
            <a:pPr indent="0" marL="0">
              <a:buNone/>
            </a:pPr>
            <a:r>
              <a:rPr lang="en-US" sz="1600" dirty="0">
                <a:solidFill>
                  <a:schemeClr val="tx1"/>
                </a:solidFill>
              </a:rPr>
              <a:t>Drivers and vehicles, booking, crashes and network, GPS and ETA. I treat these as leads to test with real trip data, not as proven causes.</a:t>
            </a:r>
            <a:endParaRPr lang="en-US" sz="1400" dirty="0"/>
          </a:p>
        </p:txBody>
      </p:sp>
      <p:sp>
        <p:nvSpPr>
          <p:cNvPr id="17" name="Text 13"/>
          <p:cNvSpPr txBox="1"/>
          <p:nvPr/>
        </p:nvSpPr>
        <p:spPr>
          <a:xfrm>
            <a:off x="548640" y="5852160"/>
            <a:ext cx="11091672" cy="320040"/>
          </a:xfrm>
          <a:prstGeom prst="rect">
            <a:avLst/>
          </a:prstGeom>
          <a:noFill/>
          <a:ln/>
        </p:spPr>
        <p:txBody>
          <a:bodyPr wrap="square" lIns="0" tIns="0" rIns="0" bIns="0" rtlCol="0" anchor="t"/>
          <a:lstStyle/>
          <a:p>
            <a:pPr indent="0" marL="0">
              <a:buNone/>
            </a:pPr>
            <a:r>
              <a:rPr lang="en-US" sz="1200" dirty="0">
                <a:solidFill>
                  <a:schemeClr val="accent4"/>
                </a:solidFill>
              </a:rPr>
              <a:t>Approximate shares are read from the notebook charts and should be confirmed against the CSV.</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WHY I DID THIS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I started with four questions</a:t>
            </a:r>
            <a:endParaRPr lang="en-US" sz="3200" dirty="0"/>
          </a:p>
        </p:txBody>
      </p:sp>
      <p:sp>
        <p:nvSpPr>
          <p:cNvPr id="5" name="Context card"/>
          <p:cNvSpPr/>
          <p:nvPr/>
        </p:nvSpPr>
        <p:spPr>
          <a:xfrm>
            <a:off x="548640" y="1783080"/>
            <a:ext cx="3566160" cy="4297680"/>
          </a:xfrm>
          <a:prstGeom prst="roundRect">
            <a:avLst>
              <a:gd name="adj" fmla="val 2051"/>
            </a:avLst>
          </a:prstGeom>
          <a:solidFill>
            <a:schemeClr val="bg2"/>
          </a:solidFill>
          <a:ln w="12700">
            <a:solidFill>
              <a:schemeClr val="bg2"/>
            </a:solidFill>
            <a:prstDash val="solid"/>
          </a:ln>
        </p:spPr>
      </p:sp>
      <p:pic>
        <p:nvPicPr>
          <p:cNvPr id="6" name="Image 0" descr="clock">    </p:cNvPr>
          <p:cNvPicPr>
            <a:picLocks noChangeAspect="1"/>
          </p:cNvPicPr>
          <p:nvPr/>
        </p:nvPicPr>
        <p:blipFill>
          <a:blip r:embed="rId1"/>
          <a:stretch>
            <a:fillRect/>
          </a:stretch>
        </p:blipFill>
        <p:spPr>
          <a:xfrm>
            <a:off x="868680" y="2057400"/>
            <a:ext cx="640080" cy="640080"/>
          </a:xfrm>
          <a:prstGeom prst="rect">
            <a:avLst/>
          </a:prstGeom>
        </p:spPr>
      </p:pic>
      <p:sp>
        <p:nvSpPr>
          <p:cNvPr id="7" name="Text 3"/>
          <p:cNvSpPr txBox="1"/>
          <p:nvPr/>
        </p:nvSpPr>
        <p:spPr>
          <a:xfrm>
            <a:off x="868680" y="2880360"/>
            <a:ext cx="2926080" cy="3017520"/>
          </a:xfrm>
          <a:prstGeom prst="rect">
            <a:avLst/>
          </a:prstGeom>
          <a:noFill/>
          <a:ln/>
        </p:spPr>
        <p:txBody>
          <a:bodyPr wrap="square" lIns="0" tIns="0" rIns="0" bIns="0" rtlCol="0" anchor="t"/>
          <a:lstStyle/>
          <a:p>
            <a:pPr indent="0" marL="0">
              <a:buNone/>
            </a:pPr>
            <a:r>
              <a:rPr lang="en-US" sz="2000" b="1" dirty="0">
                <a:solidFill>
                  <a:schemeClr val="tx1"/>
                </a:solidFill>
              </a:rPr>
              <a:t>Early morning, on a deadline</a:t>
            </a:r>
            <a:endParaRPr lang="en-US" sz="1400" dirty="0"/>
          </a:p>
          <a:p>
            <a:pPr indent="0" marL="0">
              <a:buNone/>
            </a:pPr>
            <a:r>
              <a:rPr lang="en-US" sz="1500" dirty="0">
                <a:solidFill>
                  <a:schemeClr val="tx1"/>
                </a:solidFill>
              </a:rPr>
              <a:t>People use this app while trying to get to work on time. A wrong booking or a missing cab on the map costs them time, and sometimes money.</a:t>
            </a:r>
            <a:endParaRPr lang="en-US" sz="1400" dirty="0"/>
          </a:p>
        </p:txBody>
      </p:sp>
      <p:sp>
        <p:nvSpPr>
          <p:cNvPr id="8" name="Icon circle"/>
          <p:cNvSpPr/>
          <p:nvPr/>
        </p:nvSpPr>
        <p:spPr>
          <a:xfrm>
            <a:off x="4434840" y="1856232"/>
            <a:ext cx="731520" cy="731520"/>
          </a:xfrm>
          <a:prstGeom prst="ellipse">
            <a:avLst/>
          </a:prstGeom>
          <a:solidFill>
            <a:schemeClr val="accent2"/>
          </a:solidFill>
          <a:ln w="12700">
            <a:solidFill>
              <a:schemeClr val="accent2"/>
            </a:solidFill>
            <a:prstDash val="solid"/>
          </a:ln>
        </p:spPr>
      </p:sp>
      <p:pic>
        <p:nvPicPr>
          <p:cNvPr id="9" name="Image 1" descr="icon">    </p:cNvPr>
          <p:cNvPicPr>
            <a:picLocks noChangeAspect="1"/>
          </p:cNvPicPr>
          <p:nvPr/>
        </p:nvPicPr>
        <p:blipFill>
          <a:blip r:embed="rId2"/>
          <a:stretch>
            <a:fillRect/>
          </a:stretch>
        </p:blipFill>
        <p:spPr>
          <a:xfrm>
            <a:off x="4625035" y="2046427"/>
            <a:ext cx="351130" cy="351130"/>
          </a:xfrm>
          <a:prstGeom prst="rect">
            <a:avLst/>
          </a:prstGeom>
        </p:spPr>
      </p:pic>
      <p:sp>
        <p:nvSpPr>
          <p:cNvPr id="10" name="Text 5"/>
          <p:cNvSpPr txBox="1"/>
          <p:nvPr/>
        </p:nvSpPr>
        <p:spPr>
          <a:xfrm>
            <a:off x="5394960" y="1801368"/>
            <a:ext cx="914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RQ1</a:t>
            </a:r>
            <a:endParaRPr lang="en-US" sz="1200" dirty="0"/>
          </a:p>
        </p:txBody>
      </p:sp>
      <p:sp>
        <p:nvSpPr>
          <p:cNvPr id="11" name="Text 6"/>
          <p:cNvSpPr txBox="1"/>
          <p:nvPr/>
        </p:nvSpPr>
        <p:spPr>
          <a:xfrm>
            <a:off x="5394960" y="2075688"/>
            <a:ext cx="6217920" cy="731520"/>
          </a:xfrm>
          <a:prstGeom prst="rect">
            <a:avLst/>
          </a:prstGeom>
          <a:noFill/>
          <a:ln/>
        </p:spPr>
        <p:txBody>
          <a:bodyPr wrap="square" lIns="0" tIns="0" rIns="0" bIns="0" rtlCol="0" anchor="t"/>
          <a:lstStyle/>
          <a:p>
            <a:pPr indent="0" marL="0">
              <a:buNone/>
            </a:pPr>
            <a:r>
              <a:rPr lang="en-US" sz="1800" dirty="0">
                <a:solidFill>
                  <a:schemeClr val="tx1"/>
                </a:solidFill>
              </a:rPr>
              <a:t>What do unhappy reviewers complain about, and how big is each theme?</a:t>
            </a:r>
            <a:endParaRPr lang="en-US" sz="1800" dirty="0"/>
          </a:p>
        </p:txBody>
      </p:sp>
      <p:sp>
        <p:nvSpPr>
          <p:cNvPr id="12" name="Icon circle"/>
          <p:cNvSpPr/>
          <p:nvPr/>
        </p:nvSpPr>
        <p:spPr>
          <a:xfrm>
            <a:off x="4434840" y="2953512"/>
            <a:ext cx="731520" cy="731520"/>
          </a:xfrm>
          <a:prstGeom prst="ellipse">
            <a:avLst/>
          </a:prstGeom>
          <a:solidFill>
            <a:schemeClr val="accent2"/>
          </a:solidFill>
          <a:ln w="12700">
            <a:solidFill>
              <a:schemeClr val="accent2"/>
            </a:solidFill>
            <a:prstDash val="solid"/>
          </a:ln>
        </p:spPr>
      </p:sp>
      <p:pic>
        <p:nvPicPr>
          <p:cNvPr id="13" name="Image 2" descr="icon">    </p:cNvPr>
          <p:cNvPicPr>
            <a:picLocks noChangeAspect="1"/>
          </p:cNvPicPr>
          <p:nvPr/>
        </p:nvPicPr>
        <p:blipFill>
          <a:blip r:embed="rId3"/>
          <a:stretch>
            <a:fillRect/>
          </a:stretch>
        </p:blipFill>
        <p:spPr>
          <a:xfrm>
            <a:off x="4625035" y="3143707"/>
            <a:ext cx="351130" cy="351130"/>
          </a:xfrm>
          <a:prstGeom prst="rect">
            <a:avLst/>
          </a:prstGeom>
        </p:spPr>
      </p:pic>
      <p:sp>
        <p:nvSpPr>
          <p:cNvPr id="14" name="Text 8"/>
          <p:cNvSpPr txBox="1"/>
          <p:nvPr/>
        </p:nvSpPr>
        <p:spPr>
          <a:xfrm>
            <a:off x="5394960" y="2898648"/>
            <a:ext cx="914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RQ2</a:t>
            </a:r>
            <a:endParaRPr lang="en-US" sz="1200" dirty="0"/>
          </a:p>
        </p:txBody>
      </p:sp>
      <p:sp>
        <p:nvSpPr>
          <p:cNvPr id="15" name="Text 9"/>
          <p:cNvSpPr txBox="1"/>
          <p:nvPr/>
        </p:nvSpPr>
        <p:spPr>
          <a:xfrm>
            <a:off x="5394960" y="3172968"/>
            <a:ext cx="6217920" cy="731520"/>
          </a:xfrm>
          <a:prstGeom prst="rect">
            <a:avLst/>
          </a:prstGeom>
          <a:noFill/>
          <a:ln/>
        </p:spPr>
        <p:txBody>
          <a:bodyPr wrap="square" lIns="0" tIns="0" rIns="0" bIns="0" rtlCol="0" anchor="t"/>
          <a:lstStyle/>
          <a:p>
            <a:pPr indent="0" marL="0">
              <a:buNone/>
            </a:pPr>
            <a:r>
              <a:rPr lang="en-US" sz="1800" dirty="0">
                <a:solidFill>
                  <a:schemeClr val="tx1"/>
                </a:solidFill>
              </a:rPr>
              <a:t>Is the number of reviews changing over the period we can see?</a:t>
            </a:r>
            <a:endParaRPr lang="en-US" sz="1800" dirty="0"/>
          </a:p>
        </p:txBody>
      </p:sp>
      <p:sp>
        <p:nvSpPr>
          <p:cNvPr id="16" name="Icon circle"/>
          <p:cNvSpPr/>
          <p:nvPr/>
        </p:nvSpPr>
        <p:spPr>
          <a:xfrm>
            <a:off x="4434840" y="4050792"/>
            <a:ext cx="731520" cy="731520"/>
          </a:xfrm>
          <a:prstGeom prst="ellipse">
            <a:avLst/>
          </a:prstGeom>
          <a:solidFill>
            <a:schemeClr val="accent2"/>
          </a:solidFill>
          <a:ln w="12700">
            <a:solidFill>
              <a:schemeClr val="accent2"/>
            </a:solidFill>
            <a:prstDash val="solid"/>
          </a:ln>
        </p:spPr>
      </p:sp>
      <p:pic>
        <p:nvPicPr>
          <p:cNvPr id="17" name="Image 3" descr="icon">    </p:cNvPr>
          <p:cNvPicPr>
            <a:picLocks noChangeAspect="1"/>
          </p:cNvPicPr>
          <p:nvPr/>
        </p:nvPicPr>
        <p:blipFill>
          <a:blip r:embed="rId4"/>
          <a:stretch>
            <a:fillRect/>
          </a:stretch>
        </p:blipFill>
        <p:spPr>
          <a:xfrm>
            <a:off x="4625035" y="4240987"/>
            <a:ext cx="351130" cy="351130"/>
          </a:xfrm>
          <a:prstGeom prst="rect">
            <a:avLst/>
          </a:prstGeom>
        </p:spPr>
      </p:pic>
      <p:sp>
        <p:nvSpPr>
          <p:cNvPr id="18" name="Text 11"/>
          <p:cNvSpPr txBox="1"/>
          <p:nvPr/>
        </p:nvSpPr>
        <p:spPr>
          <a:xfrm>
            <a:off x="5394960" y="3995928"/>
            <a:ext cx="914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RQ3</a:t>
            </a:r>
            <a:endParaRPr lang="en-US" sz="1200" dirty="0"/>
          </a:p>
        </p:txBody>
      </p:sp>
      <p:sp>
        <p:nvSpPr>
          <p:cNvPr id="19" name="Text 12"/>
          <p:cNvSpPr txBox="1"/>
          <p:nvPr/>
        </p:nvSpPr>
        <p:spPr>
          <a:xfrm>
            <a:off x="5394960" y="4270248"/>
            <a:ext cx="6217920" cy="731520"/>
          </a:xfrm>
          <a:prstGeom prst="rect">
            <a:avLst/>
          </a:prstGeom>
          <a:noFill/>
          <a:ln/>
        </p:spPr>
        <p:txBody>
          <a:bodyPr wrap="square" lIns="0" tIns="0" rIns="0" bIns="0" rtlCol="0" anchor="t"/>
          <a:lstStyle/>
          <a:p>
            <a:pPr indent="0" marL="0">
              <a:buNone/>
            </a:pPr>
            <a:r>
              <a:rPr lang="en-US" sz="1800" dirty="0">
                <a:solidFill>
                  <a:schemeClr val="tx1"/>
                </a:solidFill>
              </a:rPr>
              <a:t>Which problems look like the app, and which look like operations?</a:t>
            </a:r>
            <a:endParaRPr lang="en-US" sz="1800" dirty="0"/>
          </a:p>
        </p:txBody>
      </p:sp>
      <p:sp>
        <p:nvSpPr>
          <p:cNvPr id="20" name="Icon circle"/>
          <p:cNvSpPr/>
          <p:nvPr/>
        </p:nvSpPr>
        <p:spPr>
          <a:xfrm>
            <a:off x="4434840" y="5148072"/>
            <a:ext cx="731520" cy="731520"/>
          </a:xfrm>
          <a:prstGeom prst="ellipse">
            <a:avLst/>
          </a:prstGeom>
          <a:solidFill>
            <a:schemeClr val="accent2"/>
          </a:solidFill>
          <a:ln w="12700">
            <a:solidFill>
              <a:schemeClr val="accent2"/>
            </a:solidFill>
            <a:prstDash val="solid"/>
          </a:ln>
        </p:spPr>
      </p:sp>
      <p:pic>
        <p:nvPicPr>
          <p:cNvPr id="21" name="Image 4" descr="icon">    </p:cNvPr>
          <p:cNvPicPr>
            <a:picLocks noChangeAspect="1"/>
          </p:cNvPicPr>
          <p:nvPr/>
        </p:nvPicPr>
        <p:blipFill>
          <a:blip r:embed="rId5"/>
          <a:stretch>
            <a:fillRect/>
          </a:stretch>
        </p:blipFill>
        <p:spPr>
          <a:xfrm>
            <a:off x="4625035" y="5338267"/>
            <a:ext cx="351130" cy="351130"/>
          </a:xfrm>
          <a:prstGeom prst="rect">
            <a:avLst/>
          </a:prstGeom>
        </p:spPr>
      </p:pic>
      <p:sp>
        <p:nvSpPr>
          <p:cNvPr id="22" name="Text 14"/>
          <p:cNvSpPr txBox="1"/>
          <p:nvPr/>
        </p:nvSpPr>
        <p:spPr>
          <a:xfrm>
            <a:off x="5394960" y="5093208"/>
            <a:ext cx="9144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RQ4</a:t>
            </a:r>
            <a:endParaRPr lang="en-US" sz="1200" dirty="0"/>
          </a:p>
        </p:txBody>
      </p:sp>
      <p:sp>
        <p:nvSpPr>
          <p:cNvPr id="23" name="Text 15"/>
          <p:cNvSpPr txBox="1"/>
          <p:nvPr/>
        </p:nvSpPr>
        <p:spPr>
          <a:xfrm>
            <a:off x="5394960" y="5367528"/>
            <a:ext cx="6217920" cy="731520"/>
          </a:xfrm>
          <a:prstGeom prst="rect">
            <a:avLst/>
          </a:prstGeom>
          <a:noFill/>
          <a:ln/>
        </p:spPr>
        <p:txBody>
          <a:bodyPr wrap="square" lIns="0" tIns="0" rIns="0" bIns="0" rtlCol="0" anchor="t"/>
          <a:lstStyle/>
          <a:p>
            <a:pPr indent="0" marL="0">
              <a:buNone/>
            </a:pPr>
            <a:r>
              <a:rPr lang="en-US" sz="1800" dirty="0">
                <a:solidFill>
                  <a:schemeClr val="tx1"/>
                </a:solidFill>
              </a:rPr>
              <a:t>What should the first 30 days be, and how will we know it worked?</a:t>
            </a:r>
            <a:endParaRPr lang="en-US" sz="18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DATA</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I built a repeatable notebook to collect the reviews</a:t>
            </a:r>
            <a:endParaRPr lang="en-US" sz="3200" dirty="0"/>
          </a:p>
        </p:txBody>
      </p:sp>
      <p:sp>
        <p:nvSpPr>
          <p:cNvPr id="5" name="Step card"/>
          <p:cNvSpPr/>
          <p:nvPr/>
        </p:nvSpPr>
        <p:spPr>
          <a:xfrm>
            <a:off x="548640" y="1783080"/>
            <a:ext cx="2011680" cy="2468880"/>
          </a:xfrm>
          <a:prstGeom prst="roundRect">
            <a:avLst>
              <a:gd name="adj" fmla="val 3636"/>
            </a:avLst>
          </a:prstGeom>
          <a:solidFill>
            <a:schemeClr val="bg2"/>
          </a:solidFill>
          <a:ln w="12700">
            <a:solidFill>
              <a:schemeClr val="bg2"/>
            </a:solidFill>
            <a:prstDash val="solid"/>
          </a:ln>
        </p:spPr>
      </p:sp>
      <p:sp>
        <p:nvSpPr>
          <p:cNvPr id="6" name="Number badge"/>
          <p:cNvSpPr/>
          <p:nvPr/>
        </p:nvSpPr>
        <p:spPr>
          <a:xfrm>
            <a:off x="777240" y="1965960"/>
            <a:ext cx="457200" cy="457200"/>
          </a:xfrm>
          <a:prstGeom prst="ellipse">
            <a:avLst/>
          </a:prstGeom>
          <a:solidFill>
            <a:schemeClr val="accent2"/>
          </a:solidFill>
          <a:ln w="12700">
            <a:solidFill>
              <a:schemeClr val="accent2"/>
            </a:solidFill>
            <a:prstDash val="solid"/>
          </a:ln>
        </p:spPr>
      </p:sp>
      <p:sp>
        <p:nvSpPr>
          <p:cNvPr id="7" name="Text 4"/>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777240" y="2560320"/>
            <a:ext cx="1645920" cy="365760"/>
          </a:xfrm>
          <a:prstGeom prst="rect">
            <a:avLst/>
          </a:prstGeom>
          <a:noFill/>
          <a:ln/>
        </p:spPr>
        <p:txBody>
          <a:bodyPr wrap="square" lIns="0" tIns="0" rIns="0" bIns="0" rtlCol="0" anchor="t"/>
          <a:lstStyle/>
          <a:p>
            <a:pPr indent="0" marL="0">
              <a:buNone/>
            </a:pPr>
            <a:r>
              <a:rPr lang="en-US" sz="1700" b="1" dirty="0">
                <a:solidFill>
                  <a:schemeClr val="tx2"/>
                </a:solidFill>
              </a:rPr>
              <a:t>Target</a:t>
            </a:r>
            <a:endParaRPr lang="en-US" sz="1700" dirty="0"/>
          </a:p>
        </p:txBody>
      </p:sp>
      <p:sp>
        <p:nvSpPr>
          <p:cNvPr id="9" name="Text 6"/>
          <p:cNvSpPr txBox="1"/>
          <p:nvPr/>
        </p:nvSpPr>
        <p:spPr>
          <a:xfrm>
            <a:off x="777240" y="2971800"/>
            <a:ext cx="1645920" cy="1188720"/>
          </a:xfrm>
          <a:prstGeom prst="rect">
            <a:avLst/>
          </a:prstGeom>
          <a:noFill/>
          <a:ln/>
        </p:spPr>
        <p:txBody>
          <a:bodyPr wrap="square" lIns="0" tIns="0" rIns="0" bIns="0" rtlCol="0" anchor="t"/>
          <a:lstStyle/>
          <a:p>
            <a:pPr indent="0" marL="0">
              <a:buNone/>
            </a:pPr>
            <a:r>
              <a:rPr lang="en-US" sz="1400" dirty="0">
                <a:solidFill>
                  <a:schemeClr val="tx1"/>
                </a:solidFill>
              </a:rPr>
              <a:t>com.moveinsync.ets, India store, English</a:t>
            </a:r>
            <a:endParaRPr lang="en-US" sz="1400" dirty="0"/>
          </a:p>
        </p:txBody>
      </p:sp>
      <p:sp>
        <p:nvSpPr>
          <p:cNvPr id="10" name="Step card"/>
          <p:cNvSpPr/>
          <p:nvPr/>
        </p:nvSpPr>
        <p:spPr>
          <a:xfrm>
            <a:off x="2818638" y="1783080"/>
            <a:ext cx="2011680" cy="2468880"/>
          </a:xfrm>
          <a:prstGeom prst="roundRect">
            <a:avLst>
              <a:gd name="adj" fmla="val 3636"/>
            </a:avLst>
          </a:prstGeom>
          <a:solidFill>
            <a:schemeClr val="bg2"/>
          </a:solidFill>
          <a:ln w="12700">
            <a:solidFill>
              <a:schemeClr val="bg2"/>
            </a:solidFill>
            <a:prstDash val="solid"/>
          </a:ln>
        </p:spPr>
      </p:sp>
      <p:sp>
        <p:nvSpPr>
          <p:cNvPr id="11" name="Number badge"/>
          <p:cNvSpPr/>
          <p:nvPr/>
        </p:nvSpPr>
        <p:spPr>
          <a:xfrm>
            <a:off x="3047238" y="1965960"/>
            <a:ext cx="457200" cy="457200"/>
          </a:xfrm>
          <a:prstGeom prst="ellipse">
            <a:avLst/>
          </a:prstGeom>
          <a:solidFill>
            <a:schemeClr val="accent2"/>
          </a:solidFill>
          <a:ln w="12700">
            <a:solidFill>
              <a:schemeClr val="accent2"/>
            </a:solidFill>
            <a:prstDash val="solid"/>
          </a:ln>
        </p:spPr>
      </p:sp>
      <p:sp>
        <p:nvSpPr>
          <p:cNvPr id="12" name="Text 9"/>
          <p:cNvSpPr txBox="1"/>
          <p:nvPr/>
        </p:nvSpPr>
        <p:spPr>
          <a:xfrm>
            <a:off x="3047238"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3047238" y="2560320"/>
            <a:ext cx="1645920" cy="365760"/>
          </a:xfrm>
          <a:prstGeom prst="rect">
            <a:avLst/>
          </a:prstGeom>
          <a:noFill/>
          <a:ln/>
        </p:spPr>
        <p:txBody>
          <a:bodyPr wrap="square" lIns="0" tIns="0" rIns="0" bIns="0" rtlCol="0" anchor="t"/>
          <a:lstStyle/>
          <a:p>
            <a:pPr indent="0" marL="0">
              <a:buNone/>
            </a:pPr>
            <a:r>
              <a:rPr lang="en-US" sz="1700" b="1" dirty="0">
                <a:solidFill>
                  <a:schemeClr val="tx2"/>
                </a:solidFill>
              </a:rPr>
              <a:t>Collect</a:t>
            </a:r>
            <a:endParaRPr lang="en-US" sz="1700" dirty="0"/>
          </a:p>
        </p:txBody>
      </p:sp>
      <p:sp>
        <p:nvSpPr>
          <p:cNvPr id="14" name="Text 11"/>
          <p:cNvSpPr txBox="1"/>
          <p:nvPr/>
        </p:nvSpPr>
        <p:spPr>
          <a:xfrm>
            <a:off x="3047238" y="2971800"/>
            <a:ext cx="1645920" cy="1188720"/>
          </a:xfrm>
          <a:prstGeom prst="rect">
            <a:avLst/>
          </a:prstGeom>
          <a:noFill/>
          <a:ln/>
        </p:spPr>
        <p:txBody>
          <a:bodyPr wrap="square" lIns="0" tIns="0" rIns="0" bIns="0" rtlCol="0" anchor="t"/>
          <a:lstStyle/>
          <a:p>
            <a:pPr indent="0" marL="0">
              <a:buNone/>
            </a:pPr>
            <a:r>
              <a:rPr lang="en-US" sz="1400" dirty="0">
                <a:solidFill>
                  <a:schemeClr val="tx1"/>
                </a:solidFill>
              </a:rPr>
              <a:t>Newest accessible reviews, up to 1,000</a:t>
            </a:r>
            <a:endParaRPr lang="en-US" sz="1400" dirty="0"/>
          </a:p>
        </p:txBody>
      </p:sp>
      <p:sp>
        <p:nvSpPr>
          <p:cNvPr id="15" name="Step card"/>
          <p:cNvSpPr/>
          <p:nvPr/>
        </p:nvSpPr>
        <p:spPr>
          <a:xfrm>
            <a:off x="5088636" y="1783080"/>
            <a:ext cx="2011680" cy="2468880"/>
          </a:xfrm>
          <a:prstGeom prst="roundRect">
            <a:avLst>
              <a:gd name="adj" fmla="val 3636"/>
            </a:avLst>
          </a:prstGeom>
          <a:solidFill>
            <a:schemeClr val="bg2"/>
          </a:solidFill>
          <a:ln w="12700">
            <a:solidFill>
              <a:schemeClr val="bg2"/>
            </a:solidFill>
            <a:prstDash val="solid"/>
          </a:ln>
        </p:spPr>
      </p:sp>
      <p:sp>
        <p:nvSpPr>
          <p:cNvPr id="16" name="Number badge"/>
          <p:cNvSpPr/>
          <p:nvPr/>
        </p:nvSpPr>
        <p:spPr>
          <a:xfrm>
            <a:off x="5317236" y="1965960"/>
            <a:ext cx="457200" cy="457200"/>
          </a:xfrm>
          <a:prstGeom prst="ellipse">
            <a:avLst/>
          </a:prstGeom>
          <a:solidFill>
            <a:schemeClr val="accent2"/>
          </a:solidFill>
          <a:ln w="12700">
            <a:solidFill>
              <a:schemeClr val="accent2"/>
            </a:solidFill>
            <a:prstDash val="solid"/>
          </a:ln>
        </p:spPr>
      </p:sp>
      <p:sp>
        <p:nvSpPr>
          <p:cNvPr id="17" name="Text 14"/>
          <p:cNvSpPr txBox="1"/>
          <p:nvPr/>
        </p:nvSpPr>
        <p:spPr>
          <a:xfrm>
            <a:off x="5317236"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5317236" y="256032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De-duplicate</a:t>
            </a:r>
            <a:endParaRPr lang="en-US" sz="1700" dirty="0"/>
          </a:p>
        </p:txBody>
      </p:sp>
      <p:sp>
        <p:nvSpPr>
          <p:cNvPr id="19" name="Text 16"/>
          <p:cNvSpPr txBox="1"/>
          <p:nvPr/>
        </p:nvSpPr>
        <p:spPr>
          <a:xfrm>
            <a:off x="5317236" y="2971800"/>
            <a:ext cx="1645920" cy="1188720"/>
          </a:xfrm>
          <a:prstGeom prst="rect">
            <a:avLst/>
          </a:prstGeom>
          <a:noFill/>
          <a:ln/>
        </p:spPr>
        <p:txBody>
          <a:bodyPr wrap="square" lIns="0" tIns="0" rIns="0" bIns="0" rtlCol="0" anchor="t"/>
          <a:lstStyle/>
          <a:p>
            <a:pPr indent="0" marL="0">
              <a:buNone/>
            </a:pPr>
            <a:r>
              <a:rPr lang="en-US" sz="1400" dirty="0">
                <a:solidFill>
                  <a:schemeClr val="tx1"/>
                </a:solidFill>
              </a:rPr>
              <a:t>Unique IDs. Result: 1,000 records</a:t>
            </a:r>
            <a:endParaRPr lang="en-US" sz="1400" dirty="0"/>
          </a:p>
        </p:txBody>
      </p:sp>
      <p:sp>
        <p:nvSpPr>
          <p:cNvPr id="20" name="Step card"/>
          <p:cNvSpPr/>
          <p:nvPr/>
        </p:nvSpPr>
        <p:spPr>
          <a:xfrm>
            <a:off x="7358634" y="1783080"/>
            <a:ext cx="2011680" cy="2468880"/>
          </a:xfrm>
          <a:prstGeom prst="roundRect">
            <a:avLst>
              <a:gd name="adj" fmla="val 3636"/>
            </a:avLst>
          </a:prstGeom>
          <a:solidFill>
            <a:schemeClr val="bg2"/>
          </a:solidFill>
          <a:ln w="12700">
            <a:solidFill>
              <a:schemeClr val="bg2"/>
            </a:solidFill>
            <a:prstDash val="solid"/>
          </a:ln>
        </p:spPr>
      </p:sp>
      <p:sp>
        <p:nvSpPr>
          <p:cNvPr id="21" name="Number badge"/>
          <p:cNvSpPr/>
          <p:nvPr/>
        </p:nvSpPr>
        <p:spPr>
          <a:xfrm>
            <a:off x="7587234" y="1965960"/>
            <a:ext cx="457200" cy="457200"/>
          </a:xfrm>
          <a:prstGeom prst="ellipse">
            <a:avLst/>
          </a:prstGeom>
          <a:solidFill>
            <a:schemeClr val="accent2"/>
          </a:solidFill>
          <a:ln w="12700">
            <a:solidFill>
              <a:schemeClr val="accent2"/>
            </a:solidFill>
            <a:prstDash val="solid"/>
          </a:ln>
        </p:spPr>
      </p:sp>
      <p:sp>
        <p:nvSpPr>
          <p:cNvPr id="22" name="Text 19"/>
          <p:cNvSpPr txBox="1"/>
          <p:nvPr/>
        </p:nvSpPr>
        <p:spPr>
          <a:xfrm>
            <a:off x="7587234"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 20"/>
          <p:cNvSpPr txBox="1"/>
          <p:nvPr/>
        </p:nvSpPr>
        <p:spPr>
          <a:xfrm>
            <a:off x="7587234" y="2560320"/>
            <a:ext cx="1645920" cy="365760"/>
          </a:xfrm>
          <a:prstGeom prst="rect">
            <a:avLst/>
          </a:prstGeom>
          <a:noFill/>
          <a:ln/>
        </p:spPr>
        <p:txBody>
          <a:bodyPr wrap="square" lIns="0" tIns="0" rIns="0" bIns="0" rtlCol="0" anchor="t"/>
          <a:lstStyle/>
          <a:p>
            <a:pPr indent="0" marL="0">
              <a:buNone/>
            </a:pPr>
            <a:r>
              <a:rPr lang="en-US" sz="1700" b="1" dirty="0">
                <a:solidFill>
                  <a:schemeClr val="tx2"/>
                </a:solidFill>
              </a:rPr>
              <a:t>Save</a:t>
            </a:r>
            <a:endParaRPr lang="en-US" sz="1700" dirty="0"/>
          </a:p>
        </p:txBody>
      </p:sp>
      <p:sp>
        <p:nvSpPr>
          <p:cNvPr id="24" name="Text 21"/>
          <p:cNvSpPr txBox="1"/>
          <p:nvPr/>
        </p:nvSpPr>
        <p:spPr>
          <a:xfrm>
            <a:off x="7587234" y="2971800"/>
            <a:ext cx="1645920" cy="1188720"/>
          </a:xfrm>
          <a:prstGeom prst="rect">
            <a:avLst/>
          </a:prstGeom>
          <a:noFill/>
          <a:ln/>
        </p:spPr>
        <p:txBody>
          <a:bodyPr wrap="square" lIns="0" tIns="0" rIns="0" bIns="0" rtlCol="0" anchor="t"/>
          <a:lstStyle/>
          <a:p>
            <a:pPr indent="0" marL="0">
              <a:buNone/>
            </a:pPr>
            <a:r>
              <a:rPr lang="en-US" sz="1400" dirty="0">
                <a:solidFill>
                  <a:schemeClr val="tx1"/>
                </a:solidFill>
              </a:rPr>
              <a:t>One CSV: rating, date, text, version, source</a:t>
            </a:r>
            <a:endParaRPr lang="en-US" sz="1400" dirty="0"/>
          </a:p>
        </p:txBody>
      </p:sp>
      <p:sp>
        <p:nvSpPr>
          <p:cNvPr id="25" name="Step card"/>
          <p:cNvSpPr/>
          <p:nvPr/>
        </p:nvSpPr>
        <p:spPr>
          <a:xfrm>
            <a:off x="9628632" y="1783080"/>
            <a:ext cx="2011680" cy="2468880"/>
          </a:xfrm>
          <a:prstGeom prst="roundRect">
            <a:avLst>
              <a:gd name="adj" fmla="val 3636"/>
            </a:avLst>
          </a:prstGeom>
          <a:solidFill>
            <a:schemeClr val="bg2"/>
          </a:solidFill>
          <a:ln w="12700">
            <a:solidFill>
              <a:schemeClr val="bg2"/>
            </a:solidFill>
            <a:prstDash val="solid"/>
          </a:ln>
        </p:spPr>
      </p:sp>
      <p:sp>
        <p:nvSpPr>
          <p:cNvPr id="26" name="Number badge"/>
          <p:cNvSpPr/>
          <p:nvPr/>
        </p:nvSpPr>
        <p:spPr>
          <a:xfrm>
            <a:off x="9857232" y="1965960"/>
            <a:ext cx="457200" cy="457200"/>
          </a:xfrm>
          <a:prstGeom prst="ellipse">
            <a:avLst/>
          </a:prstGeom>
          <a:solidFill>
            <a:schemeClr val="accent2"/>
          </a:solidFill>
          <a:ln w="12700">
            <a:solidFill>
              <a:schemeClr val="accent2"/>
            </a:solidFill>
            <a:prstDash val="solid"/>
          </a:ln>
        </p:spPr>
      </p:sp>
      <p:sp>
        <p:nvSpPr>
          <p:cNvPr id="27" name="Text 24"/>
          <p:cNvSpPr txBox="1"/>
          <p:nvPr/>
        </p:nvSpPr>
        <p:spPr>
          <a:xfrm>
            <a:off x="9857232" y="19659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Text 25"/>
          <p:cNvSpPr txBox="1"/>
          <p:nvPr/>
        </p:nvSpPr>
        <p:spPr>
          <a:xfrm>
            <a:off x="9857232" y="2560320"/>
            <a:ext cx="1645920" cy="365760"/>
          </a:xfrm>
          <a:prstGeom prst="rect">
            <a:avLst/>
          </a:prstGeom>
          <a:noFill/>
          <a:ln/>
        </p:spPr>
        <p:txBody>
          <a:bodyPr wrap="square" lIns="0" tIns="0" rIns="0" bIns="0" rtlCol="0" anchor="t"/>
          <a:lstStyle/>
          <a:p>
            <a:pPr indent="0" marL="0">
              <a:buNone/>
            </a:pPr>
            <a:r>
              <a:rPr lang="en-US" sz="1700" b="1" dirty="0">
                <a:solidFill>
                  <a:schemeClr val="tx2"/>
                </a:solidFill>
              </a:rPr>
              <a:t>Tag</a:t>
            </a:r>
            <a:endParaRPr lang="en-US" sz="1700" dirty="0"/>
          </a:p>
        </p:txBody>
      </p:sp>
      <p:sp>
        <p:nvSpPr>
          <p:cNvPr id="29" name="Text 26"/>
          <p:cNvSpPr txBox="1"/>
          <p:nvPr/>
        </p:nvSpPr>
        <p:spPr>
          <a:xfrm>
            <a:off x="9857232" y="2971800"/>
            <a:ext cx="1645920" cy="1188720"/>
          </a:xfrm>
          <a:prstGeom prst="rect">
            <a:avLst/>
          </a:prstGeom>
          <a:noFill/>
          <a:ln/>
        </p:spPr>
        <p:txBody>
          <a:bodyPr wrap="square" lIns="0" tIns="0" rIns="0" bIns="0" rtlCol="0" anchor="t"/>
          <a:lstStyle/>
          <a:p>
            <a:pPr indent="0" marL="0">
              <a:buNone/>
            </a:pPr>
            <a:r>
              <a:rPr lang="en-US" sz="1400" dirty="0">
                <a:solidFill>
                  <a:schemeClr val="tx1"/>
                </a:solidFill>
              </a:rPr>
              <a:t>Keyword rules on the 292 low-star reviews</a:t>
            </a:r>
            <a:endParaRPr lang="en-US" sz="1400" dirty="0"/>
          </a:p>
        </p:txBody>
      </p:sp>
      <p:sp>
        <p:nvSpPr>
          <p:cNvPr id="30" name="Link card"/>
          <p:cNvSpPr/>
          <p:nvPr/>
        </p:nvSpPr>
        <p:spPr>
          <a:xfrm>
            <a:off x="548640" y="4572000"/>
            <a:ext cx="11091672" cy="1417320"/>
          </a:xfrm>
          <a:prstGeom prst="roundRect">
            <a:avLst>
              <a:gd name="adj" fmla="val 5161"/>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31" name="Image 0" descr="database">    </p:cNvPr>
          <p:cNvPicPr>
            <a:picLocks noChangeAspect="1"/>
          </p:cNvPicPr>
          <p:nvPr/>
        </p:nvPicPr>
        <p:blipFill>
          <a:blip r:embed="rId1"/>
          <a:stretch>
            <a:fillRect/>
          </a:stretch>
        </p:blipFill>
        <p:spPr>
          <a:xfrm>
            <a:off x="822960" y="4919472"/>
            <a:ext cx="502920" cy="502920"/>
          </a:xfrm>
          <a:prstGeom prst="rect">
            <a:avLst/>
          </a:prstGeom>
        </p:spPr>
      </p:pic>
      <p:sp>
        <p:nvSpPr>
          <p:cNvPr id="32" name="Text 28"/>
          <p:cNvSpPr txBox="1"/>
          <p:nvPr/>
        </p:nvSpPr>
        <p:spPr>
          <a:xfrm>
            <a:off x="1600200" y="4709160"/>
            <a:ext cx="9720072" cy="1188720"/>
          </a:xfrm>
          <a:prstGeom prst="rect">
            <a:avLst/>
          </a:prstGeom>
          <a:noFill/>
          <a:ln/>
        </p:spPr>
        <p:txBody>
          <a:bodyPr wrap="square" lIns="0" tIns="0" rIns="0" bIns="0" rtlCol="0" anchor="t"/>
          <a:lstStyle/>
          <a:p>
            <a:pPr indent="0" marL="0">
              <a:buNone/>
            </a:pPr>
            <a:r>
              <a:rPr lang="en-US" sz="1600" b="1" dirty="0">
                <a:solidFill>
                  <a:schemeClr val="tx1"/>
                </a:solidFill>
              </a:rPr>
              <a:t>Open the notebook</a:t>
            </a:r>
            <a:endParaRPr lang="en-US" sz="1400" dirty="0"/>
          </a:p>
          <a:p>
            <a:pPr indent="0" marL="0">
              <a:buNone/>
            </a:pPr>
            <a:r>
              <a:rPr lang="en-US" sz="1400" u="sng" dirty="0">
                <a:solidFill>
                  <a:srgbClr val="1B6FB5"/>
                </a:solidFill>
                <a:hlinkClick r:id="rId2" invalidUrl="" action="" tgtFrame="" tooltip="Open the Colab notebook" history="1" highlightClick="0" endSnd="0">
                  <a:extLst>
                    <a:ext uri="{A12FA001-AC4F-418D-AE19-62706E023703}">
                      <ahyp:hlinkClr xmlns:ahyp="http://schemas.microsoft.com/office/drawing/2018/hyperlinkcolor" val="tx"/>
                    </a:ext>
                  </a:extLst>
                </a:hlinkClick>
              </a:rPr>
              <a:t>https://colab.research.google.com/drive/1Ady6sJFFMrLd4ywXR_t5MYpIq0eBZiYb?usp=sharing</a:t>
            </a:r>
            <a:endParaRPr lang="en-US" sz="1400" dirty="0"/>
          </a:p>
          <a:p>
            <a:pPr indent="0" marL="0">
              <a:buNone/>
            </a:pPr>
            <a:r>
              <a:rPr lang="en-US" sz="1200" dirty="0">
                <a:solidFill>
                  <a:schemeClr val="accent4"/>
                </a:solidFill>
              </a:rPr>
              <a:t>To run it again: Runtime, then Run all. Reviewer names are not among the saved fields.</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BEING UPFRONT</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One step failed, and I want to say so</a:t>
            </a:r>
            <a:endParaRPr lang="en-US" sz="3200" dirty="0"/>
          </a:p>
        </p:txBody>
      </p:sp>
      <p:sp>
        <p:nvSpPr>
          <p:cNvPr id="5" name="Info card"/>
          <p:cNvSpPr/>
          <p:nvPr/>
        </p:nvSpPr>
        <p:spPr>
          <a:xfrm>
            <a:off x="54864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6" name="Image 0" descr="icon">    </p:cNvPr>
          <p:cNvPicPr>
            <a:picLocks noChangeAspect="1"/>
          </p:cNvPicPr>
          <p:nvPr/>
        </p:nvPicPr>
        <p:blipFill>
          <a:blip r:embed="rId1"/>
          <a:stretch>
            <a:fillRect/>
          </a:stretch>
        </p:blipFill>
        <p:spPr>
          <a:xfrm>
            <a:off x="868680" y="2057400"/>
            <a:ext cx="594360" cy="594360"/>
          </a:xfrm>
          <a:prstGeom prst="rect">
            <a:avLst/>
          </a:prstGeom>
        </p:spPr>
      </p:pic>
      <p:sp>
        <p:nvSpPr>
          <p:cNvPr id="7" name="Text 3"/>
          <p:cNvSpPr txBox="1"/>
          <p:nvPr/>
        </p:nvSpPr>
        <p:spPr>
          <a:xfrm>
            <a:off x="868680" y="2880360"/>
            <a:ext cx="3017520" cy="411480"/>
          </a:xfrm>
          <a:prstGeom prst="rect">
            <a:avLst/>
          </a:prstGeom>
          <a:noFill/>
          <a:ln/>
        </p:spPr>
        <p:txBody>
          <a:bodyPr wrap="square" lIns="0" tIns="0" rIns="0" bIns="0" rtlCol="0" anchor="t"/>
          <a:lstStyle/>
          <a:p>
            <a:pPr indent="0" marL="0">
              <a:buNone/>
            </a:pPr>
            <a:r>
              <a:rPr lang="en-US" sz="2000" b="1" dirty="0">
                <a:solidFill>
                  <a:schemeClr val="tx2"/>
                </a:solidFill>
              </a:rPr>
              <a:t>What happened</a:t>
            </a:r>
            <a:endParaRPr lang="en-US" sz="2000" dirty="0"/>
          </a:p>
        </p:txBody>
      </p:sp>
      <p:sp>
        <p:nvSpPr>
          <p:cNvPr id="8" name="Text 4"/>
          <p:cNvSpPr txBox="1"/>
          <p:nvPr/>
        </p:nvSpPr>
        <p:spPr>
          <a:xfrm>
            <a:off x="868680" y="3429000"/>
            <a:ext cx="3017520" cy="2377440"/>
          </a:xfrm>
          <a:prstGeom prst="rect">
            <a:avLst/>
          </a:prstGeom>
          <a:noFill/>
          <a:ln/>
        </p:spPr>
        <p:txBody>
          <a:bodyPr wrap="square" lIns="0" tIns="0" rIns="0" bIns="0" rtlCol="0" anchor="t"/>
          <a:lstStyle/>
          <a:p>
            <a:pPr indent="0" marL="0">
              <a:buNone/>
            </a:pPr>
            <a:r>
              <a:rPr lang="en-US" sz="1700" dirty="0">
                <a:solidFill>
                  <a:schemeClr val="tx1"/>
                </a:solidFill>
              </a:rPr>
              <a:t>The separate one-star and two-star pull failed. The scraper expects filter_score_with and I wrote filter_score. I only saw it in the collection log.</a:t>
            </a:r>
            <a:endParaRPr lang="en-US" sz="1700" dirty="0"/>
          </a:p>
        </p:txBody>
      </p:sp>
      <p:sp>
        <p:nvSpPr>
          <p:cNvPr id="9" name="Info card"/>
          <p:cNvSpPr/>
          <p:nvPr/>
        </p:nvSpPr>
        <p:spPr>
          <a:xfrm>
            <a:off x="429768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10" name="Image 1" descr="icon">    </p:cNvPr>
          <p:cNvPicPr>
            <a:picLocks noChangeAspect="1"/>
          </p:cNvPicPr>
          <p:nvPr/>
        </p:nvPicPr>
        <p:blipFill>
          <a:blip r:embed="rId2"/>
          <a:stretch>
            <a:fillRect/>
          </a:stretch>
        </p:blipFill>
        <p:spPr>
          <a:xfrm>
            <a:off x="4617720" y="2057400"/>
            <a:ext cx="594360" cy="594360"/>
          </a:xfrm>
          <a:prstGeom prst="rect">
            <a:avLst/>
          </a:prstGeom>
        </p:spPr>
      </p:pic>
      <p:sp>
        <p:nvSpPr>
          <p:cNvPr id="11" name="Text 6"/>
          <p:cNvSpPr txBox="1"/>
          <p:nvPr/>
        </p:nvSpPr>
        <p:spPr>
          <a:xfrm>
            <a:off x="4617720" y="2880360"/>
            <a:ext cx="3017520" cy="411480"/>
          </a:xfrm>
          <a:prstGeom prst="rect">
            <a:avLst/>
          </a:prstGeom>
          <a:noFill/>
          <a:ln/>
        </p:spPr>
        <p:txBody>
          <a:bodyPr wrap="square" lIns="0" tIns="0" rIns="0" bIns="0" rtlCol="0" anchor="t"/>
          <a:lstStyle/>
          <a:p>
            <a:pPr indent="0" marL="0">
              <a:buNone/>
            </a:pPr>
            <a:r>
              <a:rPr lang="en-US" sz="2000" b="1" dirty="0">
                <a:solidFill>
                  <a:schemeClr val="tx2"/>
                </a:solidFill>
              </a:rPr>
              <a:t>What it changes</a:t>
            </a:r>
            <a:endParaRPr lang="en-US" sz="2000" dirty="0"/>
          </a:p>
        </p:txBody>
      </p:sp>
      <p:sp>
        <p:nvSpPr>
          <p:cNvPr id="12" name="Text 7"/>
          <p:cNvSpPr txBox="1"/>
          <p:nvPr/>
        </p:nvSpPr>
        <p:spPr>
          <a:xfrm>
            <a:off x="4617720" y="3429000"/>
            <a:ext cx="3017520" cy="2377440"/>
          </a:xfrm>
          <a:prstGeom prst="rect">
            <a:avLst/>
          </a:prstGeom>
          <a:noFill/>
          <a:ln/>
        </p:spPr>
        <p:txBody>
          <a:bodyPr wrap="square" lIns="0" tIns="0" rIns="0" bIns="0" rtlCol="0" anchor="t"/>
          <a:lstStyle/>
          <a:p>
            <a:pPr indent="0" marL="0">
              <a:buNone/>
            </a:pPr>
            <a:r>
              <a:rPr lang="en-US" sz="1700" dirty="0">
                <a:solidFill>
                  <a:schemeClr val="tx1"/>
                </a:solidFill>
              </a:rPr>
              <a:t>The 292 low-star reviews are the low-star part of the 1,000-review sample. They are not a targeted pull, so there are fewer than I planned.</a:t>
            </a:r>
            <a:endParaRPr lang="en-US" sz="1700" dirty="0"/>
          </a:p>
        </p:txBody>
      </p:sp>
      <p:sp>
        <p:nvSpPr>
          <p:cNvPr id="13" name="Info card"/>
          <p:cNvSpPr/>
          <p:nvPr/>
        </p:nvSpPr>
        <p:spPr>
          <a:xfrm>
            <a:off x="804672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14" name="Image 2" descr="icon">    </p:cNvPr>
          <p:cNvPicPr>
            <a:picLocks noChangeAspect="1"/>
          </p:cNvPicPr>
          <p:nvPr/>
        </p:nvPicPr>
        <p:blipFill>
          <a:blip r:embed="rId3"/>
          <a:stretch>
            <a:fillRect/>
          </a:stretch>
        </p:blipFill>
        <p:spPr>
          <a:xfrm>
            <a:off x="8366760" y="2057400"/>
            <a:ext cx="594360" cy="594360"/>
          </a:xfrm>
          <a:prstGeom prst="rect">
            <a:avLst/>
          </a:prstGeom>
        </p:spPr>
      </p:pic>
      <p:sp>
        <p:nvSpPr>
          <p:cNvPr id="15" name="Text 9"/>
          <p:cNvSpPr txBox="1"/>
          <p:nvPr/>
        </p:nvSpPr>
        <p:spPr>
          <a:xfrm>
            <a:off x="8366760" y="2880360"/>
            <a:ext cx="3017520" cy="411480"/>
          </a:xfrm>
          <a:prstGeom prst="rect">
            <a:avLst/>
          </a:prstGeom>
          <a:noFill/>
          <a:ln/>
        </p:spPr>
        <p:txBody>
          <a:bodyPr wrap="square" lIns="0" tIns="0" rIns="0" bIns="0" rtlCol="0" anchor="t"/>
          <a:lstStyle/>
          <a:p>
            <a:pPr indent="0" marL="0">
              <a:buNone/>
            </a:pPr>
            <a:r>
              <a:rPr lang="en-US" sz="2000" b="1" dirty="0">
                <a:solidFill>
                  <a:schemeClr val="tx2"/>
                </a:solidFill>
              </a:rPr>
              <a:t>What I will do</a:t>
            </a:r>
            <a:endParaRPr lang="en-US" sz="2000" dirty="0"/>
          </a:p>
        </p:txBody>
      </p:sp>
      <p:sp>
        <p:nvSpPr>
          <p:cNvPr id="16" name="Text 10"/>
          <p:cNvSpPr txBox="1"/>
          <p:nvPr/>
        </p:nvSpPr>
        <p:spPr>
          <a:xfrm>
            <a:off x="8366760" y="3429000"/>
            <a:ext cx="3017520" cy="2377440"/>
          </a:xfrm>
          <a:prstGeom prst="rect">
            <a:avLst/>
          </a:prstGeom>
          <a:noFill/>
          <a:ln/>
        </p:spPr>
        <p:txBody>
          <a:bodyPr wrap="square" lIns="0" tIns="0" rIns="0" bIns="0" rtlCol="0" anchor="t"/>
          <a:lstStyle/>
          <a:p>
            <a:pPr indent="0" marL="0">
              <a:buNone/>
            </a:pPr>
            <a:r>
              <a:rPr lang="en-US" sz="1700" dirty="0">
                <a:solidFill>
                  <a:schemeClr val="tx1"/>
                </a:solidFill>
              </a:rPr>
              <a:t>Fix the call and re-run the pull in Phase 0. Also capture the listing score, rating count and update date again, with the date and time, because my script did not save them.</a:t>
            </a:r>
            <a:endParaRPr lang="en-US" sz="17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RESULTS: RATINGS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Most written reviews are positive, but 3 in 10 are one or two stars</a:t>
            </a:r>
            <a:endParaRPr lang="en-US" sz="3200" dirty="0"/>
          </a:p>
        </p:txBody>
      </p:sp>
      <p:graphicFrame>
        <p:nvGraphicFramePr>
          <p:cNvPr id="5" name="Chart 0" descr=""/>
          <p:cNvGraphicFramePr/>
          <p:nvPr/>
        </p:nvGraphicFramePr>
        <p:xfrm>
          <a:off x="548640" y="1737360"/>
          <a:ext cx="6583680" cy="4434840"/>
        </p:xfrm>
        <a:graphic xmlns:a="http://schemas.openxmlformats.org/drawingml/2006/main">
          <a:graphicData uri="http://schemas.openxmlformats.org/drawingml/2006/chart">
            <c:chart xmlns:c="http://schemas.openxmlformats.org/drawingml/2006/chart" r:id="rId1"/>
          </a:graphicData>
        </a:graphic>
      </p:graphicFrame>
      <p:sp>
        <p:nvSpPr>
          <p:cNvPr id="6" name="Stat card"/>
          <p:cNvSpPr/>
          <p:nvPr/>
        </p:nvSpPr>
        <p:spPr>
          <a:xfrm>
            <a:off x="7498080" y="1783080"/>
            <a:ext cx="4142232" cy="1188720"/>
          </a:xfrm>
          <a:prstGeom prst="roundRect">
            <a:avLst>
              <a:gd name="adj" fmla="val 6154"/>
            </a:avLst>
          </a:prstGeom>
          <a:solidFill>
            <a:schemeClr val="bg2"/>
          </a:solidFill>
          <a:ln w="12700">
            <a:solidFill>
              <a:schemeClr val="bg2"/>
            </a:solidFill>
            <a:prstDash val="solid"/>
          </a:ln>
        </p:spPr>
      </p:sp>
      <p:sp>
        <p:nvSpPr>
          <p:cNvPr id="7" name="Text 3"/>
          <p:cNvSpPr txBox="1"/>
          <p:nvPr/>
        </p:nvSpPr>
        <p:spPr>
          <a:xfrm>
            <a:off x="7726680" y="1892808"/>
            <a:ext cx="1737360" cy="914400"/>
          </a:xfrm>
          <a:prstGeom prst="rect">
            <a:avLst/>
          </a:prstGeom>
          <a:noFill/>
          <a:ln/>
        </p:spPr>
        <p:txBody>
          <a:bodyPr wrap="square" lIns="0" tIns="0" rIns="0" bIns="0" rtlCol="0" anchor="ctr"/>
          <a:lstStyle/>
          <a:p>
            <a:pPr indent="0" marL="0">
              <a:buNone/>
            </a:pPr>
            <a:r>
              <a:rPr lang="en-US" sz="3400" b="1" dirty="0">
                <a:solidFill>
                  <a:schemeClr val="accent2"/>
                </a:solidFill>
              </a:rPr>
              <a:t>88.7%</a:t>
            </a:r>
            <a:endParaRPr lang="en-US" sz="3400" dirty="0"/>
          </a:p>
        </p:txBody>
      </p:sp>
      <p:sp>
        <p:nvSpPr>
          <p:cNvPr id="8" name="Text 4"/>
          <p:cNvSpPr txBox="1"/>
          <p:nvPr/>
        </p:nvSpPr>
        <p:spPr>
          <a:xfrm>
            <a:off x="9418320" y="1892808"/>
            <a:ext cx="2103120" cy="914400"/>
          </a:xfrm>
          <a:prstGeom prst="rect">
            <a:avLst/>
          </a:prstGeom>
          <a:noFill/>
          <a:ln/>
        </p:spPr>
        <p:txBody>
          <a:bodyPr wrap="square" lIns="0" tIns="0" rIns="0" bIns="0" rtlCol="0" anchor="ctr"/>
          <a:lstStyle/>
          <a:p>
            <a:pPr indent="0" marL="0">
              <a:buNone/>
            </a:pPr>
            <a:r>
              <a:rPr lang="en-US" sz="1400" dirty="0">
                <a:solidFill>
                  <a:schemeClr val="tx1"/>
                </a:solidFill>
              </a:rPr>
              <a:t>of the 292 low-star reviews are one-star (259)</a:t>
            </a:r>
            <a:endParaRPr lang="en-US" sz="1400" dirty="0"/>
          </a:p>
        </p:txBody>
      </p:sp>
      <p:sp>
        <p:nvSpPr>
          <p:cNvPr id="9" name="Stat card"/>
          <p:cNvSpPr/>
          <p:nvPr/>
        </p:nvSpPr>
        <p:spPr>
          <a:xfrm>
            <a:off x="7498080" y="3108960"/>
            <a:ext cx="4142232" cy="1188720"/>
          </a:xfrm>
          <a:prstGeom prst="roundRect">
            <a:avLst>
              <a:gd name="adj" fmla="val 6154"/>
            </a:avLst>
          </a:prstGeom>
          <a:solidFill>
            <a:schemeClr val="bg2"/>
          </a:solidFill>
          <a:ln w="12700">
            <a:solidFill>
              <a:schemeClr val="bg2"/>
            </a:solidFill>
            <a:prstDash val="solid"/>
          </a:ln>
        </p:spPr>
      </p:sp>
      <p:sp>
        <p:nvSpPr>
          <p:cNvPr id="10" name="Text 6"/>
          <p:cNvSpPr txBox="1"/>
          <p:nvPr/>
        </p:nvSpPr>
        <p:spPr>
          <a:xfrm>
            <a:off x="7726680" y="3218688"/>
            <a:ext cx="1737360" cy="914400"/>
          </a:xfrm>
          <a:prstGeom prst="rect">
            <a:avLst/>
          </a:prstGeom>
          <a:noFill/>
          <a:ln/>
        </p:spPr>
        <p:txBody>
          <a:bodyPr wrap="square" lIns="0" tIns="0" rIns="0" bIns="0" rtlCol="0" anchor="ctr"/>
          <a:lstStyle/>
          <a:p>
            <a:pPr indent="0" marL="0">
              <a:buNone/>
            </a:pPr>
            <a:r>
              <a:rPr lang="en-US" sz="3400" b="1" dirty="0">
                <a:solidFill>
                  <a:schemeClr val="accent2"/>
                </a:solidFill>
              </a:rPr>
              <a:t>3.77</a:t>
            </a:r>
            <a:endParaRPr lang="en-US" sz="3400" dirty="0"/>
          </a:p>
        </p:txBody>
      </p:sp>
      <p:sp>
        <p:nvSpPr>
          <p:cNvPr id="11" name="Text 7"/>
          <p:cNvSpPr txBox="1"/>
          <p:nvPr/>
        </p:nvSpPr>
        <p:spPr>
          <a:xfrm>
            <a:off x="9418320" y="3218688"/>
            <a:ext cx="2103120" cy="914400"/>
          </a:xfrm>
          <a:prstGeom prst="rect">
            <a:avLst/>
          </a:prstGeom>
          <a:noFill/>
          <a:ln/>
        </p:spPr>
        <p:txBody>
          <a:bodyPr wrap="square" lIns="0" tIns="0" rIns="0" bIns="0" rtlCol="0" anchor="ctr"/>
          <a:lstStyle/>
          <a:p>
            <a:pPr indent="0" marL="0">
              <a:buNone/>
            </a:pPr>
            <a:r>
              <a:rPr lang="en-US" sz="1400" dirty="0">
                <a:solidFill>
                  <a:schemeClr val="tx1"/>
                </a:solidFill>
              </a:rPr>
              <a:t>average of the sample, against 4.3 on the listing</a:t>
            </a:r>
            <a:endParaRPr lang="en-US" sz="1400" dirty="0"/>
          </a:p>
        </p:txBody>
      </p:sp>
      <p:sp>
        <p:nvSpPr>
          <p:cNvPr id="12" name="Note card"/>
          <p:cNvSpPr/>
          <p:nvPr/>
        </p:nvSpPr>
        <p:spPr>
          <a:xfrm>
            <a:off x="7498080" y="4434840"/>
            <a:ext cx="4142232" cy="1737360"/>
          </a:xfrm>
          <a:prstGeom prst="roundRect">
            <a:avLst>
              <a:gd name="adj" fmla="val 4211"/>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3" name="Text 9"/>
          <p:cNvSpPr txBox="1"/>
          <p:nvPr/>
        </p:nvSpPr>
        <p:spPr>
          <a:xfrm>
            <a:off x="7726680" y="4553712"/>
            <a:ext cx="3703320" cy="1554480"/>
          </a:xfrm>
          <a:prstGeom prst="rect">
            <a:avLst/>
          </a:prstGeom>
          <a:noFill/>
          <a:ln/>
        </p:spPr>
        <p:txBody>
          <a:bodyPr wrap="square" lIns="0" tIns="0" rIns="0" bIns="0" rtlCol="0" anchor="t"/>
          <a:lstStyle/>
          <a:p>
            <a:pPr indent="0" marL="0">
              <a:buNone/>
            </a:pPr>
            <a:r>
              <a:rPr lang="en-US" sz="1500" b="1" dirty="0">
                <a:solidFill>
                  <a:schemeClr val="tx1"/>
                </a:solidFill>
              </a:rPr>
              <a:t>Why the gap is not a decline</a:t>
            </a:r>
            <a:endParaRPr lang="en-US" sz="1400" dirty="0"/>
          </a:p>
          <a:p>
            <a:pPr indent="0" marL="0">
              <a:buNone/>
            </a:pPr>
            <a:r>
              <a:rPr lang="en-US" sz="1400" dirty="0">
                <a:solidFill>
                  <a:schemeClr val="tx1"/>
                </a:solidFill>
              </a:rPr>
              <a:t>The listing covers all ratings over the app's life. My sample is recent written reviews, and people who write lean unhappy.</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RESULTS: THEMES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Drivers, booking and crashes lead the named complaints</a:t>
            </a:r>
            <a:endParaRPr lang="en-US" sz="3200" dirty="0"/>
          </a:p>
        </p:txBody>
      </p:sp>
      <p:graphicFrame>
        <p:nvGraphicFramePr>
          <p:cNvPr id="5" name="Chart 0" descr=""/>
          <p:cNvGraphicFramePr/>
          <p:nvPr/>
        </p:nvGraphicFramePr>
        <p:xfrm>
          <a:off x="548640" y="1691640"/>
          <a:ext cx="7223760" cy="4206240"/>
        </p:xfrm>
        <a:graphic xmlns:a="http://schemas.openxmlformats.org/drawingml/2006/main">
          <a:graphicData uri="http://schemas.openxmlformats.org/drawingml/2006/chart">
            <c:chart xmlns:c="http://schemas.openxmlformats.org/drawingml/2006/chart" r:id="rId1"/>
          </a:graphicData>
        </a:graphic>
      </p:graphicFrame>
      <p:sp>
        <p:nvSpPr>
          <p:cNvPr id="6" name="Reading card"/>
          <p:cNvSpPr/>
          <p:nvPr/>
        </p:nvSpPr>
        <p:spPr>
          <a:xfrm>
            <a:off x="8046720" y="1783080"/>
            <a:ext cx="3593592" cy="4206240"/>
          </a:xfrm>
          <a:prstGeom prst="roundRect">
            <a:avLst>
              <a:gd name="adj" fmla="val 2036"/>
            </a:avLst>
          </a:prstGeom>
          <a:solidFill>
            <a:schemeClr val="bg2"/>
          </a:solidFill>
          <a:ln w="12700">
            <a:solidFill>
              <a:schemeClr val="bg2"/>
            </a:solidFill>
            <a:prstDash val="solid"/>
          </a:ln>
        </p:spPr>
      </p:sp>
      <p:sp>
        <p:nvSpPr>
          <p:cNvPr id="7" name="Text 3"/>
          <p:cNvSpPr txBox="1"/>
          <p:nvPr/>
        </p:nvSpPr>
        <p:spPr>
          <a:xfrm>
            <a:off x="8275320" y="1965960"/>
            <a:ext cx="3154680" cy="3840480"/>
          </a:xfrm>
          <a:prstGeom prst="rect">
            <a:avLst/>
          </a:prstGeom>
          <a:noFill/>
          <a:ln/>
        </p:spPr>
        <p:txBody>
          <a:bodyPr wrap="square" lIns="0" tIns="0" rIns="0" bIns="0" rtlCol="0" anchor="t"/>
          <a:lstStyle/>
          <a:p>
            <a:pPr indent="0" marL="0">
              <a:buNone/>
            </a:pPr>
            <a:r>
              <a:rPr lang="en-US" sz="1800" b="1" dirty="0">
                <a:solidFill>
                  <a:schemeClr val="tx1"/>
                </a:solidFill>
              </a:rPr>
              <a:t>How I read it</a:t>
            </a:r>
            <a:endParaRPr lang="en-US" sz="1400" dirty="0"/>
          </a:p>
          <a:p>
            <a:pPr marL="342900" indent="-342900">
              <a:spcAft>
                <a:spcPts val="600"/>
              </a:spcAft>
              <a:buSzPct val="100000"/>
              <a:buChar char="•"/>
            </a:pPr>
            <a:r>
              <a:rPr lang="en-US" sz="1400" dirty="0">
                <a:solidFill>
                  <a:schemeClr val="tx1"/>
                </a:solidFill>
              </a:rPr>
              <a:t>About 25% of low-star reviews mention drivers and vehicles</a:t>
            </a:r>
            <a:endParaRPr lang="en-US" sz="1400" dirty="0"/>
          </a:p>
          <a:p>
            <a:pPr marL="342900" indent="-342900">
              <a:spcAft>
                <a:spcPts val="600"/>
              </a:spcAft>
              <a:buSzPct val="100000"/>
              <a:buChar char="•"/>
            </a:pPr>
            <a:r>
              <a:rPr lang="en-US" sz="1400" dirty="0">
                <a:solidFill>
                  <a:schemeClr val="tx1"/>
                </a:solidFill>
              </a:rPr>
              <a:t>Booking is next at about 22%</a:t>
            </a:r>
            <a:endParaRPr lang="en-US" sz="1400" dirty="0"/>
          </a:p>
          <a:p>
            <a:pPr marL="342900" indent="-342900">
              <a:spcAft>
                <a:spcPts val="600"/>
              </a:spcAft>
              <a:buSzPct val="100000"/>
              <a:buChar char="•"/>
            </a:pPr>
            <a:r>
              <a:rPr lang="en-US" sz="1400" dirty="0">
                <a:solidFill>
                  <a:schemeClr val="tx1"/>
                </a:solidFill>
              </a:rPr>
              <a:t>About 38% have no clear theme</a:t>
            </a:r>
            <a:endParaRPr lang="en-US" sz="1400" dirty="0"/>
          </a:p>
          <a:p>
            <a:pPr marL="342900" indent="-342900">
              <a:spcAft>
                <a:spcPts val="600"/>
              </a:spcAft>
              <a:buSzPct val="100000"/>
              <a:buChar char="•"/>
            </a:pPr>
            <a:r>
              <a:rPr lang="en-US" sz="1400" dirty="0">
                <a:solidFill>
                  <a:schemeClr val="tx1"/>
                </a:solidFill>
              </a:rPr>
              <a:t>No-show is only about 3%, but costly</a:t>
            </a:r>
            <a:endParaRPr lang="en-US" sz="1400" dirty="0"/>
          </a:p>
        </p:txBody>
      </p:sp>
      <p:sp>
        <p:nvSpPr>
          <p:cNvPr id="8" name="Text 4"/>
          <p:cNvSpPr txBox="1"/>
          <p:nvPr/>
        </p:nvSpPr>
        <p:spPr>
          <a:xfrm>
            <a:off x="548640" y="6035040"/>
            <a:ext cx="7315200" cy="274320"/>
          </a:xfrm>
          <a:prstGeom prst="rect">
            <a:avLst/>
          </a:prstGeom>
          <a:noFill/>
          <a:ln/>
        </p:spPr>
        <p:txBody>
          <a:bodyPr wrap="square" lIns="0" tIns="0" rIns="0" bIns="0" rtlCol="0" anchor="t"/>
          <a:lstStyle/>
          <a:p>
            <a:pPr indent="0" marL="0">
              <a:buNone/>
            </a:pPr>
            <a:r>
              <a:rPr lang="en-US" sz="1100" dirty="0">
                <a:solidFill>
                  <a:schemeClr val="accent4"/>
                </a:solidFill>
              </a:rPr>
              <a:t>Mentions read from the notebook chart (approx.). One review can carry several tags.</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RESULTS: THEMES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Three kinds of problem sit inside those numbers</a:t>
            </a:r>
            <a:endParaRPr lang="en-US" sz="3200" dirty="0"/>
          </a:p>
        </p:txBody>
      </p:sp>
      <p:sp>
        <p:nvSpPr>
          <p:cNvPr id="5" name="Group card"/>
          <p:cNvSpPr/>
          <p:nvPr/>
        </p:nvSpPr>
        <p:spPr>
          <a:xfrm>
            <a:off x="54864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68680" y="2011680"/>
            <a:ext cx="685800" cy="685800"/>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1046988" y="2189988"/>
            <a:ext cx="329184" cy="329184"/>
          </a:xfrm>
          <a:prstGeom prst="rect">
            <a:avLst/>
          </a:prstGeom>
        </p:spPr>
      </p:pic>
      <p:sp>
        <p:nvSpPr>
          <p:cNvPr id="8" name="Text 4"/>
          <p:cNvSpPr txBox="1"/>
          <p:nvPr/>
        </p:nvSpPr>
        <p:spPr>
          <a:xfrm>
            <a:off x="868680" y="2834640"/>
            <a:ext cx="3017520" cy="365760"/>
          </a:xfrm>
          <a:prstGeom prst="rect">
            <a:avLst/>
          </a:prstGeom>
          <a:noFill/>
          <a:ln/>
        </p:spPr>
        <p:txBody>
          <a:bodyPr wrap="square" lIns="0" tIns="0" rIns="0" bIns="0" rtlCol="0" anchor="t"/>
          <a:lstStyle/>
          <a:p>
            <a:pPr indent="0" marL="0">
              <a:buNone/>
            </a:pPr>
            <a:r>
              <a:rPr lang="en-US" sz="1900" b="1" dirty="0">
                <a:solidFill>
                  <a:schemeClr val="tx2"/>
                </a:solidFill>
              </a:rPr>
              <a:t>Operations</a:t>
            </a:r>
            <a:endParaRPr lang="en-US" sz="1900" dirty="0"/>
          </a:p>
        </p:txBody>
      </p:sp>
      <p:sp>
        <p:nvSpPr>
          <p:cNvPr id="9" name="Text 5"/>
          <p:cNvSpPr txBox="1"/>
          <p:nvPr/>
        </p:nvSpPr>
        <p:spPr>
          <a:xfrm>
            <a:off x="868680" y="3246120"/>
            <a:ext cx="3017520" cy="640080"/>
          </a:xfrm>
          <a:prstGeom prst="rect">
            <a:avLst/>
          </a:prstGeom>
          <a:noFill/>
          <a:ln/>
        </p:spPr>
        <p:txBody>
          <a:bodyPr wrap="square" lIns="0" tIns="0" rIns="0" bIns="0" rtlCol="0" anchor="t"/>
          <a:lstStyle/>
          <a:p>
            <a:pPr indent="0" marL="0">
              <a:buNone/>
            </a:pPr>
            <a:r>
              <a:rPr lang="en-US" sz="1400" b="1" dirty="0">
                <a:solidFill>
                  <a:schemeClr val="accent2"/>
                </a:solidFill>
              </a:rPr>
              <a:t>About 25</a:t>
            </a:r>
            <a:endParaRPr lang="en-US" sz="1400" dirty="0"/>
          </a:p>
        </p:txBody>
      </p:sp>
      <p:sp>
        <p:nvSpPr>
          <p:cNvPr id="10" name="Text 6"/>
          <p:cNvSpPr txBox="1"/>
          <p:nvPr/>
        </p:nvSpPr>
        <p:spPr>
          <a:xfrm>
            <a:off x="868680" y="3931920"/>
            <a:ext cx="3017520" cy="1097280"/>
          </a:xfrm>
          <a:prstGeom prst="rect">
            <a:avLst/>
          </a:prstGeom>
          <a:noFill/>
          <a:ln/>
        </p:spPr>
        <p:txBody>
          <a:bodyPr wrap="square" lIns="0" tIns="0" rIns="0" bIns="0" rtlCol="0" anchor="t"/>
          <a:lstStyle/>
          <a:p>
            <a:pPr indent="0" marL="0">
              <a:buNone/>
            </a:pPr>
            <a:r>
              <a:rPr lang="en-US" sz="1400" dirty="0">
                <a:solidFill>
                  <a:schemeClr val="tx1"/>
                </a:solidFill>
              </a:rPr>
              <a:t>Driver and vehicle problems: late, missing or swapped vehicles, driver behaviour.</a:t>
            </a:r>
            <a:endParaRPr lang="en-US" sz="1400" dirty="0"/>
          </a:p>
        </p:txBody>
      </p:sp>
      <p:sp>
        <p:nvSpPr>
          <p:cNvPr id="11" name="Text 7"/>
          <p:cNvSpPr txBox="1"/>
          <p:nvPr/>
        </p:nvSpPr>
        <p:spPr>
          <a:xfrm>
            <a:off x="868680" y="5074920"/>
            <a:ext cx="3017520" cy="777240"/>
          </a:xfrm>
          <a:prstGeom prst="rect">
            <a:avLst/>
          </a:prstGeom>
          <a:noFill/>
          <a:ln/>
        </p:spPr>
        <p:txBody>
          <a:bodyPr wrap="square" lIns="0" tIns="0" rIns="0" bIns="0" rtlCol="0" anchor="t"/>
          <a:lstStyle/>
          <a:p>
            <a:pPr indent="0" marL="0">
              <a:buNone/>
            </a:pPr>
            <a:r>
              <a:rPr lang="en-US" sz="1400" i="1" dirty="0">
                <a:solidFill>
                  <a:schemeClr val="accent4"/>
                </a:solidFill>
              </a:rPr>
              <a:t>Operations has to be in the room from day one.</a:t>
            </a:r>
            <a:endParaRPr lang="en-US" sz="1400" dirty="0"/>
          </a:p>
        </p:txBody>
      </p:sp>
      <p:sp>
        <p:nvSpPr>
          <p:cNvPr id="12" name="Group card"/>
          <p:cNvSpPr/>
          <p:nvPr/>
        </p:nvSpPr>
        <p:spPr>
          <a:xfrm>
            <a:off x="429768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3" name="Icon circle"/>
          <p:cNvSpPr/>
          <p:nvPr/>
        </p:nvSpPr>
        <p:spPr>
          <a:xfrm>
            <a:off x="4617720" y="2011680"/>
            <a:ext cx="685800" cy="685800"/>
          </a:xfrm>
          <a:prstGeom prst="ellipse">
            <a:avLst/>
          </a:prstGeom>
          <a:solidFill>
            <a:schemeClr val="accent2"/>
          </a:solidFill>
          <a:ln w="12700">
            <a:solidFill>
              <a:schemeClr val="accent2"/>
            </a:solidFill>
            <a:prstDash val="solid"/>
          </a:ln>
        </p:spPr>
      </p:sp>
      <p:pic>
        <p:nvPicPr>
          <p:cNvPr id="14" name="Image 1" descr="icon">    </p:cNvPr>
          <p:cNvPicPr>
            <a:picLocks noChangeAspect="1"/>
          </p:cNvPicPr>
          <p:nvPr/>
        </p:nvPicPr>
        <p:blipFill>
          <a:blip r:embed="rId2"/>
          <a:stretch>
            <a:fillRect/>
          </a:stretch>
        </p:blipFill>
        <p:spPr>
          <a:xfrm>
            <a:off x="4796028" y="2189988"/>
            <a:ext cx="329184" cy="329184"/>
          </a:xfrm>
          <a:prstGeom prst="rect">
            <a:avLst/>
          </a:prstGeom>
        </p:spPr>
      </p:pic>
      <p:sp>
        <p:nvSpPr>
          <p:cNvPr id="15" name="Text 10"/>
          <p:cNvSpPr txBox="1"/>
          <p:nvPr/>
        </p:nvSpPr>
        <p:spPr>
          <a:xfrm>
            <a:off x="4617720" y="2834640"/>
            <a:ext cx="3017520" cy="365760"/>
          </a:xfrm>
          <a:prstGeom prst="rect">
            <a:avLst/>
          </a:prstGeom>
          <a:noFill/>
          <a:ln/>
        </p:spPr>
        <p:txBody>
          <a:bodyPr wrap="square" lIns="0" tIns="0" rIns="0" bIns="0" rtlCol="0" anchor="t"/>
          <a:lstStyle/>
          <a:p>
            <a:pPr indent="0" marL="0">
              <a:buNone/>
            </a:pPr>
            <a:r>
              <a:rPr lang="en-US" sz="1900" b="1" dirty="0">
                <a:solidFill>
                  <a:schemeClr val="tx2"/>
                </a:solidFill>
              </a:rPr>
              <a:t>Commute trust</a:t>
            </a:r>
            <a:endParaRPr lang="en-US" sz="1900" dirty="0"/>
          </a:p>
        </p:txBody>
      </p:sp>
      <p:sp>
        <p:nvSpPr>
          <p:cNvPr id="16" name="Text 11"/>
          <p:cNvSpPr txBox="1"/>
          <p:nvPr/>
        </p:nvSpPr>
        <p:spPr>
          <a:xfrm>
            <a:off x="4617720" y="3246120"/>
            <a:ext cx="3017520" cy="640080"/>
          </a:xfrm>
          <a:prstGeom prst="rect">
            <a:avLst/>
          </a:prstGeom>
          <a:noFill/>
          <a:ln/>
        </p:spPr>
        <p:txBody>
          <a:bodyPr wrap="square" lIns="0" tIns="0" rIns="0" bIns="0" rtlCol="0" anchor="t"/>
          <a:lstStyle/>
          <a:p>
            <a:pPr indent="0" marL="0">
              <a:buNone/>
            </a:pPr>
            <a:r>
              <a:rPr lang="en-US" sz="1400" b="1" dirty="0">
                <a:solidFill>
                  <a:schemeClr val="accent2"/>
                </a:solidFill>
              </a:rPr>
              <a:t>Booking 22  |  GPS/ETA 13  |  Alerts 10  |  No-show 3</a:t>
            </a:r>
            <a:endParaRPr lang="en-US" sz="1400" dirty="0"/>
          </a:p>
        </p:txBody>
      </p:sp>
      <p:sp>
        <p:nvSpPr>
          <p:cNvPr id="17" name="Text 12"/>
          <p:cNvSpPr txBox="1"/>
          <p:nvPr/>
        </p:nvSpPr>
        <p:spPr>
          <a:xfrm>
            <a:off x="4617720" y="3931920"/>
            <a:ext cx="3017520" cy="1097280"/>
          </a:xfrm>
          <a:prstGeom prst="rect">
            <a:avLst/>
          </a:prstGeom>
          <a:noFill/>
          <a:ln/>
        </p:spPr>
        <p:txBody>
          <a:bodyPr wrap="square" lIns="0" tIns="0" rIns="0" bIns="0" rtlCol="0" anchor="t"/>
          <a:lstStyle/>
          <a:p>
            <a:pPr indent="0" marL="0">
              <a:buNone/>
            </a:pPr>
            <a:r>
              <a:rPr lang="en-US" sz="1400" dirty="0">
                <a:solidFill>
                  <a:schemeClr val="tx1"/>
                </a:solidFill>
              </a:rPr>
              <a:t>The app and the real trip disagree: what was booked, where the vehicle is, whether an alert came.</a:t>
            </a:r>
            <a:endParaRPr lang="en-US" sz="1400" dirty="0"/>
          </a:p>
        </p:txBody>
      </p:sp>
      <p:sp>
        <p:nvSpPr>
          <p:cNvPr id="18" name="Text 13"/>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400" i="1" dirty="0">
                <a:solidFill>
                  <a:schemeClr val="accent4"/>
                </a:solidFill>
              </a:rPr>
              <a:t>My lead hypothesis: state correctness and journey visibility.</a:t>
            </a:r>
            <a:endParaRPr lang="en-US" sz="1400" dirty="0"/>
          </a:p>
        </p:txBody>
      </p:sp>
      <p:sp>
        <p:nvSpPr>
          <p:cNvPr id="19" name="Group card"/>
          <p:cNvSpPr/>
          <p:nvPr/>
        </p:nvSpPr>
        <p:spPr>
          <a:xfrm>
            <a:off x="8046720" y="1783080"/>
            <a:ext cx="3593592" cy="416052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0" name="Icon circle"/>
          <p:cNvSpPr/>
          <p:nvPr/>
        </p:nvSpPr>
        <p:spPr>
          <a:xfrm>
            <a:off x="8366760" y="2011680"/>
            <a:ext cx="685800" cy="685800"/>
          </a:xfrm>
          <a:prstGeom prst="ellipse">
            <a:avLst/>
          </a:prstGeom>
          <a:solidFill>
            <a:schemeClr val="accent2"/>
          </a:solidFill>
          <a:ln w="12700">
            <a:solidFill>
              <a:schemeClr val="accent2"/>
            </a:solidFill>
            <a:prstDash val="solid"/>
          </a:ln>
        </p:spPr>
      </p:sp>
      <p:pic>
        <p:nvPicPr>
          <p:cNvPr id="21" name="Image 2" descr="icon">    </p:cNvPr>
          <p:cNvPicPr>
            <a:picLocks noChangeAspect="1"/>
          </p:cNvPicPr>
          <p:nvPr/>
        </p:nvPicPr>
        <p:blipFill>
          <a:blip r:embed="rId3"/>
          <a:stretch>
            <a:fillRect/>
          </a:stretch>
        </p:blipFill>
        <p:spPr>
          <a:xfrm>
            <a:off x="8545068" y="2189988"/>
            <a:ext cx="329184" cy="329184"/>
          </a:xfrm>
          <a:prstGeom prst="rect">
            <a:avLst/>
          </a:prstGeom>
        </p:spPr>
      </p:pic>
      <p:sp>
        <p:nvSpPr>
          <p:cNvPr id="22" name="Text 16"/>
          <p:cNvSpPr txBox="1"/>
          <p:nvPr/>
        </p:nvSpPr>
        <p:spPr>
          <a:xfrm>
            <a:off x="8366760" y="2834640"/>
            <a:ext cx="3017520" cy="365760"/>
          </a:xfrm>
          <a:prstGeom prst="rect">
            <a:avLst/>
          </a:prstGeom>
          <a:noFill/>
          <a:ln/>
        </p:spPr>
        <p:txBody>
          <a:bodyPr wrap="square" lIns="0" tIns="0" rIns="0" bIns="0" rtlCol="0" anchor="t"/>
          <a:lstStyle/>
          <a:p>
            <a:pPr indent="0" marL="0">
              <a:buNone/>
            </a:pPr>
            <a:r>
              <a:rPr lang="en-US" sz="1900" b="1" dirty="0">
                <a:solidFill>
                  <a:schemeClr val="tx2"/>
                </a:solidFill>
              </a:rPr>
              <a:t>App reliability and look</a:t>
            </a:r>
            <a:endParaRPr lang="en-US" sz="1900" dirty="0"/>
          </a:p>
        </p:txBody>
      </p:sp>
      <p:sp>
        <p:nvSpPr>
          <p:cNvPr id="23" name="Text 17"/>
          <p:cNvSpPr txBox="1"/>
          <p:nvPr/>
        </p:nvSpPr>
        <p:spPr>
          <a:xfrm>
            <a:off x="8366760" y="3246120"/>
            <a:ext cx="3017520" cy="640080"/>
          </a:xfrm>
          <a:prstGeom prst="rect">
            <a:avLst/>
          </a:prstGeom>
          <a:noFill/>
          <a:ln/>
        </p:spPr>
        <p:txBody>
          <a:bodyPr wrap="square" lIns="0" tIns="0" rIns="0" bIns="0" rtlCol="0" anchor="t"/>
          <a:lstStyle/>
          <a:p>
            <a:pPr indent="0" marL="0">
              <a:buNone/>
            </a:pPr>
            <a:r>
              <a:rPr lang="en-US" sz="1400" b="1" dirty="0">
                <a:solidFill>
                  <a:schemeClr val="accent2"/>
                </a:solidFill>
              </a:rPr>
              <a:t>Crashes 17  |  UX 12  |  Login 5</a:t>
            </a:r>
            <a:endParaRPr lang="en-US" sz="1400" dirty="0"/>
          </a:p>
        </p:txBody>
      </p:sp>
      <p:sp>
        <p:nvSpPr>
          <p:cNvPr id="24" name="Text 18"/>
          <p:cNvSpPr txBox="1"/>
          <p:nvPr/>
        </p:nvSpPr>
        <p:spPr>
          <a:xfrm>
            <a:off x="8366760" y="3931920"/>
            <a:ext cx="3017520" cy="1097280"/>
          </a:xfrm>
          <a:prstGeom prst="rect">
            <a:avLst/>
          </a:prstGeom>
          <a:noFill/>
          <a:ln/>
        </p:spPr>
        <p:txBody>
          <a:bodyPr wrap="square" lIns="0" tIns="0" rIns="0" bIns="0" rtlCol="0" anchor="t"/>
          <a:lstStyle/>
          <a:p>
            <a:pPr indent="0" marL="0">
              <a:buNone/>
            </a:pPr>
            <a:r>
              <a:rPr lang="en-US" sz="1400" dirty="0">
                <a:solidFill>
                  <a:schemeClr val="tx1"/>
                </a:solidFill>
              </a:rPr>
              <a:t>Basic use: opening the app, signing in, screens that are slow or confusing.</a:t>
            </a:r>
            <a:endParaRPr lang="en-US" sz="1400" dirty="0"/>
          </a:p>
        </p:txBody>
      </p:sp>
      <p:sp>
        <p:nvSpPr>
          <p:cNvPr id="25" name="Text 19"/>
          <p:cNvSpPr txBox="1"/>
          <p:nvPr/>
        </p:nvSpPr>
        <p:spPr>
          <a:xfrm>
            <a:off x="8366760" y="5074920"/>
            <a:ext cx="3017520" cy="777240"/>
          </a:xfrm>
          <a:prstGeom prst="rect">
            <a:avLst/>
          </a:prstGeom>
          <a:noFill/>
          <a:ln/>
        </p:spPr>
        <p:txBody>
          <a:bodyPr wrap="square" lIns="0" tIns="0" rIns="0" bIns="0" rtlCol="0" anchor="t"/>
          <a:lstStyle/>
          <a:p>
            <a:pPr indent="0" marL="0">
              <a:buNone/>
            </a:pPr>
            <a:r>
              <a:rPr lang="en-US" sz="1400" i="1" dirty="0">
                <a:solidFill>
                  <a:schemeClr val="accent4"/>
                </a:solidFill>
              </a:rPr>
              <a:t>Some of it may be phone or signal. Basics still matter.</a:t>
            </a:r>
            <a:endParaRPr lang="en-US" sz="1400" dirty="0"/>
          </a:p>
        </p:txBody>
      </p:sp>
      <p:sp>
        <p:nvSpPr>
          <p:cNvPr id="26" name="Text 20"/>
          <p:cNvSpPr txBox="1"/>
          <p:nvPr/>
        </p:nvSpPr>
        <p:spPr>
          <a:xfrm>
            <a:off x="548640" y="6080760"/>
            <a:ext cx="11091672" cy="274320"/>
          </a:xfrm>
          <a:prstGeom prst="rect">
            <a:avLst/>
          </a:prstGeom>
          <a:noFill/>
          <a:ln/>
        </p:spPr>
        <p:txBody>
          <a:bodyPr wrap="square" lIns="0" tIns="0" rIns="0" bIns="0" rtlCol="0" anchor="t"/>
          <a:lstStyle/>
          <a:p>
            <a:pPr indent="0" marL="0">
              <a:buNone/>
            </a:pPr>
            <a:r>
              <a:rPr lang="en-US" sz="1100" dirty="0">
                <a:solidFill>
                  <a:schemeClr val="accent4"/>
                </a:solidFill>
              </a:rPr>
              <a:t>Numbers are mentions per 100 low-star reviews (approx.). They overlap and should not be added up.</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RESULTS: TIMING</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The monthly counts look uneven, but per day the inflow is flat</a:t>
            </a:r>
            <a:endParaRPr lang="en-US" sz="3200" dirty="0"/>
          </a:p>
        </p:txBody>
      </p:sp>
      <p:sp>
        <p:nvSpPr>
          <p:cNvPr id="5" name="Text 2"/>
          <p:cNvSpPr txBox="1"/>
          <p:nvPr/>
        </p:nvSpPr>
        <p:spPr>
          <a:xfrm>
            <a:off x="548640"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Reviews per month</a:t>
            </a:r>
            <a:endParaRPr lang="en-US" sz="1600" dirty="0"/>
          </a:p>
        </p:txBody>
      </p:sp>
      <p:graphicFrame>
        <p:nvGraphicFramePr>
          <p:cNvPr id="6" name="Chart 0" descr=""/>
          <p:cNvGraphicFramePr/>
          <p:nvPr/>
        </p:nvGraphicFramePr>
        <p:xfrm>
          <a:off x="548640" y="2011680"/>
          <a:ext cx="5303520" cy="301752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6336792" y="1691640"/>
            <a:ext cx="5303520" cy="320040"/>
          </a:xfrm>
          <a:prstGeom prst="rect">
            <a:avLst/>
          </a:prstGeom>
          <a:noFill/>
          <a:ln/>
        </p:spPr>
        <p:txBody>
          <a:bodyPr wrap="square" lIns="0" tIns="0" rIns="0" bIns="0" rtlCol="0" anchor="t"/>
          <a:lstStyle/>
          <a:p>
            <a:pPr indent="0" marL="0">
              <a:buNone/>
            </a:pPr>
            <a:r>
              <a:rPr lang="en-US" sz="1600" b="1" dirty="0">
                <a:solidFill>
                  <a:schemeClr val="tx2"/>
                </a:solidFill>
              </a:rPr>
              <a:t>Reviews per day</a:t>
            </a:r>
            <a:endParaRPr lang="en-US" sz="1600" dirty="0"/>
          </a:p>
        </p:txBody>
      </p:sp>
      <p:graphicFrame>
        <p:nvGraphicFramePr>
          <p:cNvPr id="8" name="Chart 1" descr=""/>
          <p:cNvGraphicFramePr/>
          <p:nvPr/>
        </p:nvGraphicFramePr>
        <p:xfrm>
          <a:off x="6336792" y="2011680"/>
          <a:ext cx="5303520" cy="3017520"/>
        </p:xfrm>
        <a:graphic xmlns:a="http://schemas.openxmlformats.org/drawingml/2006/main">
          <a:graphicData uri="http://schemas.openxmlformats.org/drawingml/2006/chart">
            <c:chart xmlns:c="http://schemas.openxmlformats.org/drawingml/2006/chart" r:id="rId2"/>
          </a:graphicData>
        </a:graphic>
      </p:graphicFrame>
      <p:sp>
        <p:nvSpPr>
          <p:cNvPr id="9" name="Takeaway card"/>
          <p:cNvSpPr/>
          <p:nvPr/>
        </p:nvSpPr>
        <p:spPr>
          <a:xfrm>
            <a:off x="548640" y="5257800"/>
            <a:ext cx="11091672" cy="777240"/>
          </a:xfrm>
          <a:prstGeom prst="roundRect">
            <a:avLst>
              <a:gd name="adj" fmla="val 9412"/>
            </a:avLst>
          </a:prstGeom>
          <a:solidFill>
            <a:schemeClr val="bg2"/>
          </a:solidFill>
          <a:ln w="12700">
            <a:solidFill>
              <a:schemeClr val="bg2"/>
            </a:solidFill>
            <a:prstDash val="solid"/>
          </a:ln>
        </p:spPr>
      </p:sp>
      <p:sp>
        <p:nvSpPr>
          <p:cNvPr id="10" name="Text 5"/>
          <p:cNvSpPr txBox="1"/>
          <p:nvPr/>
        </p:nvSpPr>
        <p:spPr>
          <a:xfrm>
            <a:off x="822960" y="5257800"/>
            <a:ext cx="10543032" cy="777240"/>
          </a:xfrm>
          <a:prstGeom prst="rect">
            <a:avLst/>
          </a:prstGeom>
          <a:noFill/>
          <a:ln/>
        </p:spPr>
        <p:txBody>
          <a:bodyPr wrap="square" lIns="0" tIns="0" rIns="0" bIns="0" rtlCol="0" anchor="ctr"/>
          <a:lstStyle/>
          <a:p>
            <a:pPr indent="0" marL="0">
              <a:buNone/>
            </a:pPr>
            <a:r>
              <a:rPr lang="en-US" sz="1600" b="1" dirty="0">
                <a:solidFill>
                  <a:schemeClr val="tx1"/>
                </a:solidFill>
              </a:rPr>
              <a:t>No sign of change either way. </a:t>
            </a:r>
            <a:pPr indent="0" marL="0">
              <a:buNone/>
            </a:pPr>
            <a:r>
              <a:rPr lang="en-US" sz="1600" dirty="0">
                <a:solidFill>
                  <a:schemeClr val="tx1"/>
                </a:solidFill>
              </a:rPr>
              <a:t>About 8 to 9 written reviews a day, about 2.5 of them low-star.</a:t>
            </a:r>
            <a:endParaRPr lang="en-US" sz="1600" dirty="0"/>
          </a:p>
        </p:txBody>
      </p:sp>
      <p:sp>
        <p:nvSpPr>
          <p:cNvPr id="11" name="Text 6"/>
          <p:cNvSpPr txBox="1"/>
          <p:nvPr/>
        </p:nvSpPr>
        <p:spPr>
          <a:xfrm>
            <a:off x="548640" y="6108192"/>
            <a:ext cx="11091672" cy="274320"/>
          </a:xfrm>
          <a:prstGeom prst="rect">
            <a:avLst/>
          </a:prstGeom>
          <a:noFill/>
          <a:ln/>
        </p:spPr>
        <p:txBody>
          <a:bodyPr wrap="square" lIns="0" tIns="0" rIns="0" bIns="0" rtlCol="0" anchor="t"/>
          <a:lstStyle/>
          <a:p>
            <a:pPr indent="0" marL="0">
              <a:buNone/>
            </a:pPr>
            <a:r>
              <a:rPr lang="en-US" sz="1100" dirty="0">
                <a:solidFill>
                  <a:schemeClr val="accent4"/>
                </a:solidFill>
              </a:rPr>
              <a:t>* Partial months: June starts on the 14th (17 days) and October ends on the 9th (9 days). Assumes no gaps in collection.</a:t>
            </a:r>
            <a:endParaRPr lang="en-US" sz="11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RESULTS: BY HAND</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Five reviews I read by hand, for a feel of what people say</a:t>
            </a:r>
            <a:endParaRPr lang="en-US" sz="3200" dirty="0"/>
          </a:p>
        </p:txBody>
      </p:sp>
      <p:sp>
        <p:nvSpPr>
          <p:cNvPr id="5" name="Review card"/>
          <p:cNvSpPr/>
          <p:nvPr/>
        </p:nvSpPr>
        <p:spPr>
          <a:xfrm>
            <a:off x="548640" y="1783080"/>
            <a:ext cx="3593592" cy="2057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6" name="Image 0" descr="comment">    </p:cNvPr>
          <p:cNvPicPr>
            <a:picLocks noChangeAspect="1"/>
          </p:cNvPicPr>
          <p:nvPr/>
        </p:nvPicPr>
        <p:blipFill>
          <a:blip r:embed="rId1"/>
          <a:stretch>
            <a:fillRect/>
          </a:stretch>
        </p:blipFill>
        <p:spPr>
          <a:xfrm>
            <a:off x="822960" y="2011680"/>
            <a:ext cx="384048" cy="384048"/>
          </a:xfrm>
          <a:prstGeom prst="rect">
            <a:avLst/>
          </a:prstGeom>
        </p:spPr>
      </p:pic>
      <p:sp>
        <p:nvSpPr>
          <p:cNvPr id="7" name="Text 3"/>
          <p:cNvSpPr txBox="1"/>
          <p:nvPr/>
        </p:nvSpPr>
        <p:spPr>
          <a:xfrm>
            <a:off x="1325880" y="2039112"/>
            <a:ext cx="2651760" cy="365760"/>
          </a:xfrm>
          <a:prstGeom prst="rect">
            <a:avLst/>
          </a:prstGeom>
          <a:noFill/>
          <a:ln/>
        </p:spPr>
        <p:txBody>
          <a:bodyPr wrap="square" lIns="0" tIns="0" rIns="0" bIns="0" rtlCol="0" anchor="ctr"/>
          <a:lstStyle/>
          <a:p>
            <a:pPr indent="0" marL="0">
              <a:buNone/>
            </a:pPr>
            <a:r>
              <a:rPr lang="en-US" sz="1400" b="1" dirty="0">
                <a:solidFill>
                  <a:schemeClr val="accent2"/>
                </a:solidFill>
              </a:rPr>
              <a:t>R01  |  11 Jun 2026</a:t>
            </a:r>
            <a:endParaRPr lang="en-US" sz="1400" dirty="0"/>
          </a:p>
        </p:txBody>
      </p:sp>
      <p:sp>
        <p:nvSpPr>
          <p:cNvPr id="8" name="Text 4"/>
          <p:cNvSpPr txBox="1"/>
          <p:nvPr/>
        </p:nvSpPr>
        <p:spPr>
          <a:xfrm>
            <a:off x="822960" y="2560320"/>
            <a:ext cx="3108960" cy="1188720"/>
          </a:xfrm>
          <a:prstGeom prst="rect">
            <a:avLst/>
          </a:prstGeom>
          <a:noFill/>
          <a:ln/>
        </p:spPr>
        <p:txBody>
          <a:bodyPr wrap="square" lIns="0" tIns="0" rIns="0" bIns="0" rtlCol="0" anchor="t"/>
          <a:lstStyle/>
          <a:p>
            <a:pPr indent="0" marL="0">
              <a:buNone/>
            </a:pPr>
            <a:r>
              <a:rPr lang="en-US" sz="1500" dirty="0">
                <a:solidFill>
                  <a:schemeClr val="tx1"/>
                </a:solidFill>
              </a:rPr>
              <a:t>GPS unreliable, wrong ETA, missed pickups, late or missing alerts.</a:t>
            </a:r>
            <a:endParaRPr lang="en-US" sz="1500" dirty="0"/>
          </a:p>
        </p:txBody>
      </p:sp>
      <p:sp>
        <p:nvSpPr>
          <p:cNvPr id="9" name="Review card"/>
          <p:cNvSpPr/>
          <p:nvPr/>
        </p:nvSpPr>
        <p:spPr>
          <a:xfrm>
            <a:off x="4297680" y="1783080"/>
            <a:ext cx="3593592" cy="2057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10" name="Image 1" descr="comment">    </p:cNvPr>
          <p:cNvPicPr>
            <a:picLocks noChangeAspect="1"/>
          </p:cNvPicPr>
          <p:nvPr/>
        </p:nvPicPr>
        <p:blipFill>
          <a:blip r:embed="rId2"/>
          <a:stretch>
            <a:fillRect/>
          </a:stretch>
        </p:blipFill>
        <p:spPr>
          <a:xfrm>
            <a:off x="4572000" y="2011680"/>
            <a:ext cx="384048" cy="384048"/>
          </a:xfrm>
          <a:prstGeom prst="rect">
            <a:avLst/>
          </a:prstGeom>
        </p:spPr>
      </p:pic>
      <p:sp>
        <p:nvSpPr>
          <p:cNvPr id="11" name="Text 6"/>
          <p:cNvSpPr txBox="1"/>
          <p:nvPr/>
        </p:nvSpPr>
        <p:spPr>
          <a:xfrm>
            <a:off x="5074920" y="2039112"/>
            <a:ext cx="2651760" cy="365760"/>
          </a:xfrm>
          <a:prstGeom prst="rect">
            <a:avLst/>
          </a:prstGeom>
          <a:noFill/>
          <a:ln/>
        </p:spPr>
        <p:txBody>
          <a:bodyPr wrap="square" lIns="0" tIns="0" rIns="0" bIns="0" rtlCol="0" anchor="ctr"/>
          <a:lstStyle/>
          <a:p>
            <a:pPr indent="0" marL="0">
              <a:buNone/>
            </a:pPr>
            <a:r>
              <a:rPr lang="en-US" sz="1400" b="1" dirty="0">
                <a:solidFill>
                  <a:schemeClr val="accent2"/>
                </a:solidFill>
              </a:rPr>
              <a:t>R02  |  18 Jun 2026</a:t>
            </a:r>
            <a:endParaRPr lang="en-US" sz="1400" dirty="0"/>
          </a:p>
        </p:txBody>
      </p:sp>
      <p:sp>
        <p:nvSpPr>
          <p:cNvPr id="12" name="Text 7"/>
          <p:cNvSpPr txBox="1"/>
          <p:nvPr/>
        </p:nvSpPr>
        <p:spPr>
          <a:xfrm>
            <a:off x="4572000" y="2560320"/>
            <a:ext cx="3108960" cy="1188720"/>
          </a:xfrm>
          <a:prstGeom prst="rect">
            <a:avLst/>
          </a:prstGeom>
          <a:noFill/>
          <a:ln/>
        </p:spPr>
        <p:txBody>
          <a:bodyPr wrap="square" lIns="0" tIns="0" rIns="0" bIns="0" rtlCol="0" anchor="t"/>
          <a:lstStyle/>
          <a:p>
            <a:pPr indent="0" marL="0">
              <a:buNone/>
            </a:pPr>
            <a:r>
              <a:rPr lang="en-US" sz="1500" dirty="0">
                <a:solidFill>
                  <a:schemeClr val="tx1"/>
                </a:solidFill>
              </a:rPr>
              <a:t>Bookings for the wrong dates, a no-show despite a booking, worry about a salary deduction.</a:t>
            </a:r>
            <a:endParaRPr lang="en-US" sz="1500" dirty="0"/>
          </a:p>
        </p:txBody>
      </p:sp>
      <p:sp>
        <p:nvSpPr>
          <p:cNvPr id="13" name="Review card"/>
          <p:cNvSpPr/>
          <p:nvPr/>
        </p:nvSpPr>
        <p:spPr>
          <a:xfrm>
            <a:off x="8046720" y="1783080"/>
            <a:ext cx="3593592" cy="2057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14" name="Image 2" descr="comment">    </p:cNvPr>
          <p:cNvPicPr>
            <a:picLocks noChangeAspect="1"/>
          </p:cNvPicPr>
          <p:nvPr/>
        </p:nvPicPr>
        <p:blipFill>
          <a:blip r:embed="rId3"/>
          <a:stretch>
            <a:fillRect/>
          </a:stretch>
        </p:blipFill>
        <p:spPr>
          <a:xfrm>
            <a:off x="8321040" y="2011680"/>
            <a:ext cx="384048" cy="384048"/>
          </a:xfrm>
          <a:prstGeom prst="rect">
            <a:avLst/>
          </a:prstGeom>
        </p:spPr>
      </p:pic>
      <p:sp>
        <p:nvSpPr>
          <p:cNvPr id="15" name="Text 9"/>
          <p:cNvSpPr txBox="1"/>
          <p:nvPr/>
        </p:nvSpPr>
        <p:spPr>
          <a:xfrm>
            <a:off x="8823960" y="2039112"/>
            <a:ext cx="2651760" cy="365760"/>
          </a:xfrm>
          <a:prstGeom prst="rect">
            <a:avLst/>
          </a:prstGeom>
          <a:noFill/>
          <a:ln/>
        </p:spPr>
        <p:txBody>
          <a:bodyPr wrap="square" lIns="0" tIns="0" rIns="0" bIns="0" rtlCol="0" anchor="ctr"/>
          <a:lstStyle/>
          <a:p>
            <a:pPr indent="0" marL="0">
              <a:buNone/>
            </a:pPr>
            <a:r>
              <a:rPr lang="en-US" sz="1400" b="1" dirty="0">
                <a:solidFill>
                  <a:schemeClr val="accent2"/>
                </a:solidFill>
              </a:rPr>
              <a:t>R03  |  29 Jun 2026</a:t>
            </a:r>
            <a:endParaRPr lang="en-US" sz="1400" dirty="0"/>
          </a:p>
        </p:txBody>
      </p:sp>
      <p:sp>
        <p:nvSpPr>
          <p:cNvPr id="16" name="Text 10"/>
          <p:cNvSpPr txBox="1"/>
          <p:nvPr/>
        </p:nvSpPr>
        <p:spPr>
          <a:xfrm>
            <a:off x="8321040" y="2560320"/>
            <a:ext cx="3108960" cy="1188720"/>
          </a:xfrm>
          <a:prstGeom prst="rect">
            <a:avLst/>
          </a:prstGeom>
          <a:noFill/>
          <a:ln/>
        </p:spPr>
        <p:txBody>
          <a:bodyPr wrap="square" lIns="0" tIns="0" rIns="0" bIns="0" rtlCol="0" anchor="t"/>
          <a:lstStyle/>
          <a:p>
            <a:pPr indent="0" marL="0">
              <a:buNone/>
            </a:pPr>
            <a:r>
              <a:rPr lang="en-US" sz="1500" dirty="0">
                <a:solidFill>
                  <a:schemeClr val="tx1"/>
                </a:solidFill>
              </a:rPr>
              <a:t>Suggests a check-in reminder when the vehicle passes the pickup point.</a:t>
            </a:r>
            <a:endParaRPr lang="en-US" sz="1500" dirty="0"/>
          </a:p>
        </p:txBody>
      </p:sp>
      <p:sp>
        <p:nvSpPr>
          <p:cNvPr id="17" name="Review card"/>
          <p:cNvSpPr/>
          <p:nvPr/>
        </p:nvSpPr>
        <p:spPr>
          <a:xfrm>
            <a:off x="548640" y="4023360"/>
            <a:ext cx="3593592" cy="2057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18" name="Image 3" descr="comment">    </p:cNvPr>
          <p:cNvPicPr>
            <a:picLocks noChangeAspect="1"/>
          </p:cNvPicPr>
          <p:nvPr/>
        </p:nvPicPr>
        <p:blipFill>
          <a:blip r:embed="rId4"/>
          <a:stretch>
            <a:fillRect/>
          </a:stretch>
        </p:blipFill>
        <p:spPr>
          <a:xfrm>
            <a:off x="822960" y="4251960"/>
            <a:ext cx="384048" cy="384048"/>
          </a:xfrm>
          <a:prstGeom prst="rect">
            <a:avLst/>
          </a:prstGeom>
        </p:spPr>
      </p:pic>
      <p:sp>
        <p:nvSpPr>
          <p:cNvPr id="19" name="Text 12"/>
          <p:cNvSpPr txBox="1"/>
          <p:nvPr/>
        </p:nvSpPr>
        <p:spPr>
          <a:xfrm>
            <a:off x="1325880" y="4279392"/>
            <a:ext cx="2651760" cy="365760"/>
          </a:xfrm>
          <a:prstGeom prst="rect">
            <a:avLst/>
          </a:prstGeom>
          <a:noFill/>
          <a:ln/>
        </p:spPr>
        <p:txBody>
          <a:bodyPr wrap="square" lIns="0" tIns="0" rIns="0" bIns="0" rtlCol="0" anchor="ctr"/>
          <a:lstStyle/>
          <a:p>
            <a:pPr indent="0" marL="0">
              <a:buNone/>
            </a:pPr>
            <a:r>
              <a:rPr lang="en-US" sz="1400" b="1" dirty="0">
                <a:solidFill>
                  <a:schemeClr val="accent2"/>
                </a:solidFill>
              </a:rPr>
              <a:t>R04  |  1 Jul 2026</a:t>
            </a:r>
            <a:endParaRPr lang="en-US" sz="1400" dirty="0"/>
          </a:p>
        </p:txBody>
      </p:sp>
      <p:sp>
        <p:nvSpPr>
          <p:cNvPr id="20" name="Text 13"/>
          <p:cNvSpPr txBox="1"/>
          <p:nvPr/>
        </p:nvSpPr>
        <p:spPr>
          <a:xfrm>
            <a:off x="822960" y="4800600"/>
            <a:ext cx="3108960" cy="1188720"/>
          </a:xfrm>
          <a:prstGeom prst="rect">
            <a:avLst/>
          </a:prstGeom>
          <a:noFill/>
          <a:ln/>
        </p:spPr>
        <p:txBody>
          <a:bodyPr wrap="square" lIns="0" tIns="0" rIns="0" bIns="0" rtlCol="0" anchor="t"/>
          <a:lstStyle/>
          <a:p>
            <a:pPr indent="0" marL="0">
              <a:buNone/>
            </a:pPr>
            <a:r>
              <a:rPr lang="en-US" sz="1500" dirty="0">
                <a:solidFill>
                  <a:schemeClr val="tx1"/>
                </a:solidFill>
              </a:rPr>
              <a:t>Slow GPS, wrong pickup and drop times, vehicle not visible.</a:t>
            </a:r>
            <a:endParaRPr lang="en-US" sz="1500" dirty="0"/>
          </a:p>
        </p:txBody>
      </p:sp>
      <p:sp>
        <p:nvSpPr>
          <p:cNvPr id="21" name="Review card"/>
          <p:cNvSpPr/>
          <p:nvPr/>
        </p:nvSpPr>
        <p:spPr>
          <a:xfrm>
            <a:off x="4297680" y="4023360"/>
            <a:ext cx="3593592" cy="2057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pic>
        <p:nvPicPr>
          <p:cNvPr id="22" name="Image 4" descr="comment">    </p:cNvPr>
          <p:cNvPicPr>
            <a:picLocks noChangeAspect="1"/>
          </p:cNvPicPr>
          <p:nvPr/>
        </p:nvPicPr>
        <p:blipFill>
          <a:blip r:embed="rId5"/>
          <a:stretch>
            <a:fillRect/>
          </a:stretch>
        </p:blipFill>
        <p:spPr>
          <a:xfrm>
            <a:off x="4572000" y="4251960"/>
            <a:ext cx="384048" cy="384048"/>
          </a:xfrm>
          <a:prstGeom prst="rect">
            <a:avLst/>
          </a:prstGeom>
        </p:spPr>
      </p:pic>
      <p:sp>
        <p:nvSpPr>
          <p:cNvPr id="23" name="Text 15"/>
          <p:cNvSpPr txBox="1"/>
          <p:nvPr/>
        </p:nvSpPr>
        <p:spPr>
          <a:xfrm>
            <a:off x="5074920" y="4279392"/>
            <a:ext cx="2651760" cy="365760"/>
          </a:xfrm>
          <a:prstGeom prst="rect">
            <a:avLst/>
          </a:prstGeom>
          <a:noFill/>
          <a:ln/>
        </p:spPr>
        <p:txBody>
          <a:bodyPr wrap="square" lIns="0" tIns="0" rIns="0" bIns="0" rtlCol="0" anchor="ctr"/>
          <a:lstStyle/>
          <a:p>
            <a:pPr indent="0" marL="0">
              <a:buNone/>
            </a:pPr>
            <a:r>
              <a:rPr lang="en-US" sz="1400" b="1" dirty="0">
                <a:solidFill>
                  <a:schemeClr val="accent2"/>
                </a:solidFill>
              </a:rPr>
              <a:t>R05  |  7 Jul 2026</a:t>
            </a:r>
            <a:endParaRPr lang="en-US" sz="1400" dirty="0"/>
          </a:p>
        </p:txBody>
      </p:sp>
      <p:sp>
        <p:nvSpPr>
          <p:cNvPr id="24" name="Text 16"/>
          <p:cNvSpPr txBox="1"/>
          <p:nvPr/>
        </p:nvSpPr>
        <p:spPr>
          <a:xfrm>
            <a:off x="4572000" y="4800600"/>
            <a:ext cx="3108960" cy="1188720"/>
          </a:xfrm>
          <a:prstGeom prst="rect">
            <a:avLst/>
          </a:prstGeom>
          <a:noFill/>
          <a:ln/>
        </p:spPr>
        <p:txBody>
          <a:bodyPr wrap="square" lIns="0" tIns="0" rIns="0" bIns="0" rtlCol="0" anchor="t"/>
          <a:lstStyle/>
          <a:p>
            <a:pPr indent="0" marL="0">
              <a:buNone/>
            </a:pPr>
            <a:r>
              <a:rPr lang="en-US" sz="1500" dirty="0">
                <a:solidFill>
                  <a:schemeClr val="tx1"/>
                </a:solidFill>
              </a:rPr>
              <a:t>Booking went from one step to two. Now unsure a cab was booked.</a:t>
            </a:r>
            <a:endParaRPr lang="en-US" sz="1500" dirty="0"/>
          </a:p>
        </p:txBody>
      </p:sp>
      <p:sp>
        <p:nvSpPr>
          <p:cNvPr id="25" name="Note card"/>
          <p:cNvSpPr/>
          <p:nvPr/>
        </p:nvSpPr>
        <p:spPr>
          <a:xfrm>
            <a:off x="8046720" y="4023360"/>
            <a:ext cx="3593592" cy="2057400"/>
          </a:xfrm>
          <a:prstGeom prst="roundRect">
            <a:avLst>
              <a:gd name="adj" fmla="val 3556"/>
            </a:avLst>
          </a:prstGeom>
          <a:solidFill>
            <a:schemeClr val="tx2"/>
          </a:solidFill>
          <a:ln w="12700">
            <a:solidFill>
              <a:schemeClr val="tx2"/>
            </a:solidFill>
            <a:prstDash val="solid"/>
          </a:ln>
        </p:spPr>
      </p:sp>
      <p:sp>
        <p:nvSpPr>
          <p:cNvPr id="26" name="Text 18"/>
          <p:cNvSpPr txBox="1"/>
          <p:nvPr/>
        </p:nvSpPr>
        <p:spPr>
          <a:xfrm>
            <a:off x="8321040" y="4251960"/>
            <a:ext cx="3108960" cy="1645920"/>
          </a:xfrm>
          <a:prstGeom prst="rect">
            <a:avLst/>
          </a:prstGeom>
          <a:noFill/>
          <a:ln/>
        </p:spPr>
        <p:txBody>
          <a:bodyPr wrap="square" lIns="0" tIns="0" rIns="0" bIns="0" rtlCol="0" anchor="t"/>
          <a:lstStyle/>
          <a:p>
            <a:pPr indent="0" marL="0">
              <a:buNone/>
            </a:pPr>
            <a:r>
              <a:rPr lang="en-US" sz="1800" b="1" dirty="0">
                <a:solidFill>
                  <a:schemeClr val="bg1"/>
                </a:solidFill>
              </a:rPr>
              <a:t>Texture, not counts</a:t>
            </a:r>
            <a:endParaRPr lang="en-US" sz="1400" dirty="0"/>
          </a:p>
          <a:p>
            <a:pPr indent="0" marL="0">
              <a:buNone/>
            </a:pPr>
            <a:r>
              <a:rPr lang="en-US" sz="1500" dirty="0">
                <a:solidFill>
                  <a:schemeClr val="bg2"/>
                </a:solidFill>
              </a:rPr>
              <a:t>R01 was posted before the dataset window starts. I did not check whether the other four are also in the CSV.</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TWO SOURCES TOGETHER</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Both sources point the same way</a:t>
            </a:r>
            <a:endParaRPr lang="en-US" sz="3200" dirty="0"/>
          </a:p>
        </p:txBody>
      </p:sp>
      <p:graphicFrame>
        <p:nvGraphicFramePr>
          <p:cNvPr id="12" name="Triangulation table"/>
          <p:cNvGraphicFramePr>
            <a:graphicFrameLocks noGrp="1"/>
          </p:cNvGraphicFramePr>
          <p:nvPr>
            <p:extLst>
              <p:ext uri="{D42A27DB-BD31-4B8C-83A1-F6EECF244321}">
                <p14:modId xmlns:p14="http://schemas.microsoft.com/office/powerpoint/2010/main" val="1579011935"/>
              </p:ext>
            </p:extLst>
          </p:nvPr>
        </p:nvGraphicFramePr>
        <p:xfrm>
          <a:off x="548640" y="1783080"/>
          <a:ext cx="11091672" cy="914400"/>
        </p:xfrm>
        <a:graphic>
          <a:graphicData uri="http://schemas.openxmlformats.org/drawingml/2006/table">
            <a:tbl>
              <a:tblPr/>
              <a:tblGrid>
                <a:gridCol w="2651760"/>
                <a:gridCol w="2011680"/>
                <a:gridCol w="1737360"/>
                <a:gridCol w="4690872"/>
              </a:tblGrid>
              <a:tr h="566928">
                <a:tc>
                  <a:txBody>
                    <a:bodyPr/>
                    <a:lstStyle/>
                    <a:p>
                      <a:pPr indent="0" marL="0">
                        <a:buNone/>
                      </a:pPr>
                      <a:r>
                        <a:rPr lang="en-US" sz="1400" b="1" dirty="0">
                          <a:solidFill>
                            <a:schemeClr val="bg1"/>
                          </a:solidFill>
                        </a:rPr>
                        <a:t>Question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Collected data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Read by hand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My reading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566928">
                <a:tc>
                  <a:txBody>
                    <a:bodyPr/>
                    <a:lstStyle/>
                    <a:p>
                      <a:pPr indent="0" marL="0">
                        <a:buNone/>
                      </a:pPr>
                      <a:r>
                        <a:rPr lang="en-US" sz="1400" b="1" dirty="0">
                          <a:solidFill>
                            <a:schemeClr val="tx1"/>
                          </a:solidFill>
                        </a:rPr>
                        <a:t>Booking problems?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About 22%</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R02, R05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Both agree. First place to trace cases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Tracking and ETA?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About 13%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R01, R04</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Both agree. Measure location age and ETA error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Alerts?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About 10%</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R01, R03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Present. May overlap other themes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No-show and check-in?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About 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R02, R03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Rare, but costly. Audit the rules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tx1"/>
                          </a:solidFill>
                        </a:rPr>
                        <a:t>Crashes and sign-in?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About 17% and 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None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New signal. Run alongside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66928">
                <a:tc>
                  <a:txBody>
                    <a:bodyPr/>
                    <a:lstStyle/>
                    <a:p>
                      <a:pPr indent="0" marL="0">
                        <a:buNone/>
                      </a:pPr>
                      <a:r>
                        <a:rPr lang="en-US" sz="1400" b="1" dirty="0">
                          <a:solidFill>
                            <a:schemeClr val="tx1"/>
                          </a:solidFill>
                        </a:rPr>
                        <a:t>Driver and vehicle?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About 25%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Indirect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Mostly operational. Involve Ops early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LIMITS OF THE EVIDENCE</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What the data supports, and what it does not</a:t>
            </a:r>
            <a:endParaRPr lang="en-US" sz="3200" dirty="0"/>
          </a:p>
        </p:txBody>
      </p:sp>
      <p:sp>
        <p:nvSpPr>
          <p:cNvPr id="5" name="Claims card"/>
          <p:cNvSpPr/>
          <p:nvPr/>
        </p:nvSpPr>
        <p:spPr>
          <a:xfrm>
            <a:off x="548640" y="1783080"/>
            <a:ext cx="5422392" cy="4297680"/>
          </a:xfrm>
          <a:prstGeom prst="roundRect">
            <a:avLst>
              <a:gd name="adj" fmla="val 1702"/>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22960" y="2011680"/>
            <a:ext cx="502920" cy="502920"/>
          </a:xfrm>
          <a:prstGeom prst="ellipse">
            <a:avLst/>
          </a:prstGeom>
          <a:solidFill>
            <a:srgbClr val="1B7F79"/>
          </a:solidFill>
          <a:ln w="12700">
            <a:solidFill>
              <a:srgbClr val="1B7F79"/>
            </a:solidFill>
            <a:prstDash val="solid"/>
          </a:ln>
        </p:spPr>
      </p:sp>
      <p:pic>
        <p:nvPicPr>
          <p:cNvPr id="7" name="Image 0" descr="The data supports">    </p:cNvPr>
          <p:cNvPicPr>
            <a:picLocks noChangeAspect="1"/>
          </p:cNvPicPr>
          <p:nvPr/>
        </p:nvPicPr>
        <p:blipFill>
          <a:blip r:embed="rId1"/>
          <a:stretch>
            <a:fillRect/>
          </a:stretch>
        </p:blipFill>
        <p:spPr>
          <a:xfrm>
            <a:off x="941832" y="2130552"/>
            <a:ext cx="265176" cy="265176"/>
          </a:xfrm>
          <a:prstGeom prst="rect">
            <a:avLst/>
          </a:prstGeom>
        </p:spPr>
      </p:pic>
      <p:sp>
        <p:nvSpPr>
          <p:cNvPr id="8" name="Text 4"/>
          <p:cNvSpPr txBox="1"/>
          <p:nvPr/>
        </p:nvSpPr>
        <p:spPr>
          <a:xfrm>
            <a:off x="1508760" y="2011680"/>
            <a:ext cx="4114800" cy="502920"/>
          </a:xfrm>
          <a:prstGeom prst="rect">
            <a:avLst/>
          </a:prstGeom>
          <a:noFill/>
          <a:ln/>
        </p:spPr>
        <p:txBody>
          <a:bodyPr wrap="square" lIns="0" tIns="0" rIns="0" bIns="0" rtlCol="0" anchor="ctr"/>
          <a:lstStyle/>
          <a:p>
            <a:pPr indent="0" marL="0">
              <a:buNone/>
            </a:pPr>
            <a:r>
              <a:rPr lang="en-US" sz="2000" b="1" dirty="0">
                <a:solidFill>
                  <a:schemeClr val="tx2"/>
                </a:solidFill>
              </a:rPr>
              <a:t>The data supports</a:t>
            </a:r>
            <a:endParaRPr lang="en-US" sz="2000" dirty="0"/>
          </a:p>
        </p:txBody>
      </p:sp>
      <p:sp>
        <p:nvSpPr>
          <p:cNvPr id="9" name="Text 5"/>
          <p:cNvSpPr txBox="1"/>
          <p:nvPr/>
        </p:nvSpPr>
        <p:spPr>
          <a:xfrm>
            <a:off x="868680" y="2788920"/>
            <a:ext cx="4800600" cy="32004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Low-star reviews are 29.2% of this recent written sample, mostly one-star</a:t>
            </a:r>
            <a:endParaRPr lang="en-US" sz="1400" dirty="0"/>
          </a:p>
          <a:p>
            <a:pPr marL="342900" indent="-342900">
              <a:spcAft>
                <a:spcPts val="600"/>
              </a:spcAft>
              <a:buSzPct val="100000"/>
              <a:buChar char="•"/>
            </a:pPr>
            <a:r>
              <a:rPr lang="en-US" sz="1700" dirty="0">
                <a:solidFill>
                  <a:schemeClr val="tx1"/>
                </a:solidFill>
              </a:rPr>
              <a:t>Drivers and vehicles, booking, crashes and network, and GPS and ETA are the biggest named themes (approx.)</a:t>
            </a:r>
            <a:endParaRPr lang="en-US" sz="1400" dirty="0"/>
          </a:p>
          <a:p>
            <a:pPr marL="342900" indent="-342900">
              <a:spcAft>
                <a:spcPts val="600"/>
              </a:spcAft>
              <a:buSzPct val="100000"/>
              <a:buChar char="•"/>
            </a:pPr>
            <a:r>
              <a:rPr lang="en-US" sz="1700" dirty="0">
                <a:solidFill>
                  <a:schemeClr val="tx1"/>
                </a:solidFill>
              </a:rPr>
              <a:t>Written reviews arrive at a steady 8 to 9 a day in this window</a:t>
            </a:r>
            <a:endParaRPr lang="en-US" sz="1400" dirty="0"/>
          </a:p>
          <a:p>
            <a:pPr marL="342900" indent="-342900">
              <a:spcAft>
                <a:spcPts val="600"/>
              </a:spcAft>
              <a:buSzPct val="100000"/>
              <a:buChar char="•"/>
            </a:pPr>
            <a:r>
              <a:rPr lang="en-US" sz="1700" dirty="0">
                <a:solidFill>
                  <a:schemeClr val="tx1"/>
                </a:solidFill>
              </a:rPr>
              <a:t>The listing score and the sample average differ for plausible reasons</a:t>
            </a:r>
            <a:endParaRPr lang="en-US" sz="1400" dirty="0"/>
          </a:p>
        </p:txBody>
      </p:sp>
      <p:sp>
        <p:nvSpPr>
          <p:cNvPr id="10" name="Claims card"/>
          <p:cNvSpPr/>
          <p:nvPr/>
        </p:nvSpPr>
        <p:spPr>
          <a:xfrm>
            <a:off x="6217920" y="1783080"/>
            <a:ext cx="5422392" cy="4297680"/>
          </a:xfrm>
          <a:prstGeom prst="roundRect">
            <a:avLst>
              <a:gd name="adj" fmla="val 1702"/>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Icon circle"/>
          <p:cNvSpPr/>
          <p:nvPr/>
        </p:nvSpPr>
        <p:spPr>
          <a:xfrm>
            <a:off x="6492240" y="2011680"/>
            <a:ext cx="502920" cy="502920"/>
          </a:xfrm>
          <a:prstGeom prst="ellipse">
            <a:avLst/>
          </a:prstGeom>
          <a:solidFill>
            <a:srgbClr val="A23B2A"/>
          </a:solidFill>
          <a:ln w="12700">
            <a:solidFill>
              <a:srgbClr val="A23B2A"/>
            </a:solidFill>
            <a:prstDash val="solid"/>
          </a:ln>
        </p:spPr>
      </p:sp>
      <p:pic>
        <p:nvPicPr>
          <p:cNvPr id="12" name="Image 1" descr="The data does not support">    </p:cNvPr>
          <p:cNvPicPr>
            <a:picLocks noChangeAspect="1"/>
          </p:cNvPicPr>
          <p:nvPr/>
        </p:nvPicPr>
        <p:blipFill>
          <a:blip r:embed="rId2"/>
          <a:stretch>
            <a:fillRect/>
          </a:stretch>
        </p:blipFill>
        <p:spPr>
          <a:xfrm>
            <a:off x="6611112" y="2130552"/>
            <a:ext cx="265176" cy="265176"/>
          </a:xfrm>
          <a:prstGeom prst="rect">
            <a:avLst/>
          </a:prstGeom>
        </p:spPr>
      </p:pic>
      <p:sp>
        <p:nvSpPr>
          <p:cNvPr id="13" name="Text 8"/>
          <p:cNvSpPr txBox="1"/>
          <p:nvPr/>
        </p:nvSpPr>
        <p:spPr>
          <a:xfrm>
            <a:off x="7178040" y="2011680"/>
            <a:ext cx="4114800" cy="502920"/>
          </a:xfrm>
          <a:prstGeom prst="rect">
            <a:avLst/>
          </a:prstGeom>
          <a:noFill/>
          <a:ln/>
        </p:spPr>
        <p:txBody>
          <a:bodyPr wrap="square" lIns="0" tIns="0" rIns="0" bIns="0" rtlCol="0" anchor="ctr"/>
          <a:lstStyle/>
          <a:p>
            <a:pPr indent="0" marL="0">
              <a:buNone/>
            </a:pPr>
            <a:r>
              <a:rPr lang="en-US" sz="2000" b="1" dirty="0">
                <a:solidFill>
                  <a:schemeClr val="tx2"/>
                </a:solidFill>
              </a:rPr>
              <a:t>The data does not support</a:t>
            </a:r>
            <a:endParaRPr lang="en-US" sz="2000" dirty="0"/>
          </a:p>
        </p:txBody>
      </p:sp>
      <p:sp>
        <p:nvSpPr>
          <p:cNvPr id="14" name="Text 9"/>
          <p:cNvSpPr txBox="1"/>
          <p:nvPr/>
        </p:nvSpPr>
        <p:spPr>
          <a:xfrm>
            <a:off x="6537960" y="2788920"/>
            <a:ext cx="4800600" cy="320040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chemeClr val="tx1"/>
                </a:solidFill>
              </a:rPr>
              <a:t>That any theme caused the overall rating</a:t>
            </a:r>
            <a:endParaRPr lang="en-US" sz="1400" dirty="0"/>
          </a:p>
          <a:p>
            <a:pPr marL="342900" indent="-342900">
              <a:spcAft>
                <a:spcPts val="600"/>
              </a:spcAft>
              <a:buSzPct val="100000"/>
              <a:buChar char="•"/>
            </a:pPr>
            <a:r>
              <a:rPr lang="en-US" sz="1700" dirty="0">
                <a:solidFill>
                  <a:schemeClr val="tx1"/>
                </a:solidFill>
              </a:rPr>
              <a:t>How often trips fail, or which app versions or sites are affected</a:t>
            </a:r>
            <a:endParaRPr lang="en-US" sz="1400" dirty="0"/>
          </a:p>
          <a:p>
            <a:pPr marL="342900" indent="-342900">
              <a:spcAft>
                <a:spcPts val="600"/>
              </a:spcAft>
              <a:buSzPct val="100000"/>
              <a:buChar char="•"/>
            </a:pPr>
            <a:r>
              <a:rPr lang="en-US" sz="1700" dirty="0">
                <a:solidFill>
                  <a:schemeClr val="tx1"/>
                </a:solidFill>
              </a:rPr>
              <a:t>Any trend in sentiment: the window is 118 days and has no trip numbers</a:t>
            </a:r>
            <a:endParaRPr lang="en-US" sz="1400" dirty="0"/>
          </a:p>
          <a:p>
            <a:pPr marL="342900" indent="-342900">
              <a:spcAft>
                <a:spcPts val="600"/>
              </a:spcAft>
              <a:buSzPct val="100000"/>
              <a:buChar char="•"/>
            </a:pPr>
            <a:r>
              <a:rPr lang="en-US" sz="1700" dirty="0">
                <a:solidFill>
                  <a:schemeClr val="tx1"/>
                </a:solidFill>
              </a:rPr>
              <a:t>Whether a complaint is an app bug or an operations problem</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WHERE THE COMMUTE BREAKS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Each theme sits at a step of the commute journey</a:t>
            </a:r>
            <a:endParaRPr lang="en-US" sz="3200" dirty="0"/>
          </a:p>
        </p:txBody>
      </p:sp>
      <p:sp>
        <p:nvSpPr>
          <p:cNvPr id="5" name="Journey line"/>
          <p:cNvSpPr/>
          <p:nvPr/>
        </p:nvSpPr>
        <p:spPr>
          <a:xfrm>
            <a:off x="1577340" y="2240280"/>
            <a:ext cx="9034272" cy="0"/>
          </a:xfrm>
          <a:prstGeom prst="line">
            <a:avLst/>
          </a:prstGeom>
          <a:noFill/>
          <a:ln w="38100">
            <a:solidFill>
              <a:schemeClr val="accent6"/>
            </a:solidFill>
            <a:prstDash val="solid"/>
          </a:ln>
        </p:spPr>
      </p:sp>
      <p:sp>
        <p:nvSpPr>
          <p:cNvPr id="6" name="Icon circle"/>
          <p:cNvSpPr/>
          <p:nvPr/>
        </p:nvSpPr>
        <p:spPr>
          <a:xfrm>
            <a:off x="1211580" y="1874520"/>
            <a:ext cx="731520" cy="731520"/>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1401775" y="2064715"/>
            <a:ext cx="351130" cy="351130"/>
          </a:xfrm>
          <a:prstGeom prst="rect">
            <a:avLst/>
          </a:prstGeom>
        </p:spPr>
      </p:pic>
      <p:sp>
        <p:nvSpPr>
          <p:cNvPr id="8" name="Journey card"/>
          <p:cNvSpPr/>
          <p:nvPr/>
        </p:nvSpPr>
        <p:spPr>
          <a:xfrm>
            <a:off x="548640" y="2788920"/>
            <a:ext cx="2057400" cy="3200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9" name="Text 5"/>
          <p:cNvSpPr txBox="1"/>
          <p:nvPr/>
        </p:nvSpPr>
        <p:spPr>
          <a:xfrm>
            <a:off x="731520" y="2926080"/>
            <a:ext cx="1691640" cy="365760"/>
          </a:xfrm>
          <a:prstGeom prst="rect">
            <a:avLst/>
          </a:prstGeom>
          <a:noFill/>
          <a:ln/>
        </p:spPr>
        <p:txBody>
          <a:bodyPr wrap="square" lIns="0" tIns="0" rIns="0" bIns="0" rtlCol="0" anchor="t"/>
          <a:lstStyle/>
          <a:p>
            <a:pPr indent="0" marL="0">
              <a:buNone/>
            </a:pPr>
            <a:r>
              <a:rPr lang="en-US" sz="1600" b="1" dirty="0">
                <a:solidFill>
                  <a:schemeClr val="tx2"/>
                </a:solidFill>
              </a:rPr>
              <a:t>1  Book</a:t>
            </a:r>
            <a:endParaRPr lang="en-US" sz="1600" dirty="0"/>
          </a:p>
        </p:txBody>
      </p:sp>
      <p:sp>
        <p:nvSpPr>
          <p:cNvPr id="10" name="Text 6"/>
          <p:cNvSpPr txBox="1"/>
          <p:nvPr/>
        </p:nvSpPr>
        <p:spPr>
          <a:xfrm>
            <a:off x="731520" y="3383280"/>
            <a:ext cx="1691640" cy="1280160"/>
          </a:xfrm>
          <a:prstGeom prst="rect">
            <a:avLst/>
          </a:prstGeom>
          <a:noFill/>
          <a:ln/>
        </p:spPr>
        <p:txBody>
          <a:bodyPr wrap="square" lIns="0" tIns="0" rIns="0" bIns="0" rtlCol="0" anchor="t"/>
          <a:lstStyle/>
          <a:p>
            <a:pPr indent="0" marL="0">
              <a:buNone/>
            </a:pPr>
            <a:r>
              <a:rPr lang="en-US" sz="1400" dirty="0">
                <a:solidFill>
                  <a:schemeClr val="tx1"/>
                </a:solidFill>
              </a:rPr>
              <a:t>Right date, time and cab or shuttle, clearly confirmed</a:t>
            </a:r>
            <a:endParaRPr lang="en-US" sz="1400" dirty="0"/>
          </a:p>
        </p:txBody>
      </p:sp>
      <p:sp>
        <p:nvSpPr>
          <p:cNvPr id="11" name="Text 7"/>
          <p:cNvSpPr txBox="1"/>
          <p:nvPr/>
        </p:nvSpPr>
        <p:spPr>
          <a:xfrm>
            <a:off x="731520" y="4846320"/>
            <a:ext cx="1691640" cy="1005840"/>
          </a:xfrm>
          <a:prstGeom prst="rect">
            <a:avLst/>
          </a:prstGeom>
          <a:noFill/>
          <a:ln/>
        </p:spPr>
        <p:txBody>
          <a:bodyPr wrap="square" lIns="0" tIns="0" rIns="0" bIns="0" rtlCol="0" anchor="t"/>
          <a:lstStyle/>
          <a:p>
            <a:pPr indent="0" marL="0">
              <a:buNone/>
            </a:pPr>
            <a:r>
              <a:rPr lang="en-US" sz="1400" b="1" dirty="0">
                <a:solidFill>
                  <a:schemeClr val="accent2"/>
                </a:solidFill>
              </a:rPr>
              <a:t>Booking 22</a:t>
            </a:r>
            <a:endParaRPr lang="en-US" sz="1400" dirty="0"/>
          </a:p>
          <a:p>
            <a:pPr indent="0" marL="0">
              <a:buNone/>
            </a:pPr>
            <a:r>
              <a:rPr lang="en-US" sz="1400" b="1" dirty="0">
                <a:solidFill>
                  <a:schemeClr val="accent2"/>
                </a:solidFill>
              </a:rPr>
              <a:t>UX 12</a:t>
            </a:r>
            <a:endParaRPr lang="en-US" sz="1400" dirty="0"/>
          </a:p>
        </p:txBody>
      </p:sp>
      <p:sp>
        <p:nvSpPr>
          <p:cNvPr id="12" name="Icon circle"/>
          <p:cNvSpPr/>
          <p:nvPr/>
        </p:nvSpPr>
        <p:spPr>
          <a:xfrm>
            <a:off x="3470148" y="1874520"/>
            <a:ext cx="731520" cy="731520"/>
          </a:xfrm>
          <a:prstGeom prst="ellipse">
            <a:avLst/>
          </a:prstGeom>
          <a:solidFill>
            <a:schemeClr val="accent2"/>
          </a:solidFill>
          <a:ln w="12700">
            <a:solidFill>
              <a:schemeClr val="accent2"/>
            </a:solidFill>
            <a:prstDash val="solid"/>
          </a:ln>
        </p:spPr>
      </p:sp>
      <p:pic>
        <p:nvPicPr>
          <p:cNvPr id="13" name="Image 1" descr="icon">    </p:cNvPr>
          <p:cNvPicPr>
            <a:picLocks noChangeAspect="1"/>
          </p:cNvPicPr>
          <p:nvPr/>
        </p:nvPicPr>
        <p:blipFill>
          <a:blip r:embed="rId2"/>
          <a:stretch>
            <a:fillRect/>
          </a:stretch>
        </p:blipFill>
        <p:spPr>
          <a:xfrm>
            <a:off x="3660343" y="2064715"/>
            <a:ext cx="351130" cy="351130"/>
          </a:xfrm>
          <a:prstGeom prst="rect">
            <a:avLst/>
          </a:prstGeom>
        </p:spPr>
      </p:pic>
      <p:sp>
        <p:nvSpPr>
          <p:cNvPr id="14" name="Journey card"/>
          <p:cNvSpPr/>
          <p:nvPr/>
        </p:nvSpPr>
        <p:spPr>
          <a:xfrm>
            <a:off x="2807208" y="2788920"/>
            <a:ext cx="2057400" cy="3200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5" name="Text 10"/>
          <p:cNvSpPr txBox="1"/>
          <p:nvPr/>
        </p:nvSpPr>
        <p:spPr>
          <a:xfrm>
            <a:off x="2990088" y="2926080"/>
            <a:ext cx="1691640" cy="365760"/>
          </a:xfrm>
          <a:prstGeom prst="rect">
            <a:avLst/>
          </a:prstGeom>
          <a:noFill/>
          <a:ln/>
        </p:spPr>
        <p:txBody>
          <a:bodyPr wrap="square" lIns="0" tIns="0" rIns="0" bIns="0" rtlCol="0" anchor="t"/>
          <a:lstStyle/>
          <a:p>
            <a:pPr indent="0" marL="0">
              <a:buNone/>
            </a:pPr>
            <a:r>
              <a:rPr lang="en-US" sz="1600" b="1" dirty="0">
                <a:solidFill>
                  <a:schemeClr val="tx2"/>
                </a:solidFill>
              </a:rPr>
              <a:t>2  Get a vehicle</a:t>
            </a:r>
            <a:endParaRPr lang="en-US" sz="1600" dirty="0"/>
          </a:p>
        </p:txBody>
      </p:sp>
      <p:sp>
        <p:nvSpPr>
          <p:cNvPr id="16" name="Text 11"/>
          <p:cNvSpPr txBox="1"/>
          <p:nvPr/>
        </p:nvSpPr>
        <p:spPr>
          <a:xfrm>
            <a:off x="2990088" y="3383280"/>
            <a:ext cx="1691640" cy="1280160"/>
          </a:xfrm>
          <a:prstGeom prst="rect">
            <a:avLst/>
          </a:prstGeom>
          <a:noFill/>
          <a:ln/>
        </p:spPr>
        <p:txBody>
          <a:bodyPr wrap="square" lIns="0" tIns="0" rIns="0" bIns="0" rtlCol="0" anchor="t"/>
          <a:lstStyle/>
          <a:p>
            <a:pPr indent="0" marL="0">
              <a:buNone/>
            </a:pPr>
            <a:r>
              <a:rPr lang="en-US" sz="1400" dirty="0">
                <a:solidFill>
                  <a:schemeClr val="tx1"/>
                </a:solidFill>
              </a:rPr>
              <a:t>A vehicle, a pickup time and alerts on time</a:t>
            </a:r>
            <a:endParaRPr lang="en-US" sz="1400" dirty="0"/>
          </a:p>
        </p:txBody>
      </p:sp>
      <p:sp>
        <p:nvSpPr>
          <p:cNvPr id="17" name="Text 12"/>
          <p:cNvSpPr txBox="1"/>
          <p:nvPr/>
        </p:nvSpPr>
        <p:spPr>
          <a:xfrm>
            <a:off x="2990088" y="4846320"/>
            <a:ext cx="1691640" cy="1005840"/>
          </a:xfrm>
          <a:prstGeom prst="rect">
            <a:avLst/>
          </a:prstGeom>
          <a:noFill/>
          <a:ln/>
        </p:spPr>
        <p:txBody>
          <a:bodyPr wrap="square" lIns="0" tIns="0" rIns="0" bIns="0" rtlCol="0" anchor="t"/>
          <a:lstStyle/>
          <a:p>
            <a:pPr indent="0" marL="0">
              <a:buNone/>
            </a:pPr>
            <a:r>
              <a:rPr lang="en-US" sz="1400" b="1" dirty="0">
                <a:solidFill>
                  <a:schemeClr val="accent2"/>
                </a:solidFill>
              </a:rPr>
              <a:t>Drivers and vehicles 25</a:t>
            </a:r>
            <a:endParaRPr lang="en-US" sz="1400" dirty="0"/>
          </a:p>
          <a:p>
            <a:pPr indent="0" marL="0">
              <a:buNone/>
            </a:pPr>
            <a:r>
              <a:rPr lang="en-US" sz="1400" b="1" dirty="0">
                <a:solidFill>
                  <a:schemeClr val="accent2"/>
                </a:solidFill>
              </a:rPr>
              <a:t>Alerts 10</a:t>
            </a:r>
            <a:endParaRPr lang="en-US" sz="1400" dirty="0"/>
          </a:p>
        </p:txBody>
      </p:sp>
      <p:sp>
        <p:nvSpPr>
          <p:cNvPr id="18" name="Icon circle"/>
          <p:cNvSpPr/>
          <p:nvPr/>
        </p:nvSpPr>
        <p:spPr>
          <a:xfrm>
            <a:off x="5728716" y="1874520"/>
            <a:ext cx="731520" cy="731520"/>
          </a:xfrm>
          <a:prstGeom prst="ellipse">
            <a:avLst/>
          </a:prstGeom>
          <a:solidFill>
            <a:schemeClr val="accent2"/>
          </a:solidFill>
          <a:ln w="12700">
            <a:solidFill>
              <a:schemeClr val="accent2"/>
            </a:solidFill>
            <a:prstDash val="solid"/>
          </a:ln>
        </p:spPr>
      </p:sp>
      <p:pic>
        <p:nvPicPr>
          <p:cNvPr id="19" name="Image 2" descr="icon">    </p:cNvPr>
          <p:cNvPicPr>
            <a:picLocks noChangeAspect="1"/>
          </p:cNvPicPr>
          <p:nvPr/>
        </p:nvPicPr>
        <p:blipFill>
          <a:blip r:embed="rId3"/>
          <a:stretch>
            <a:fillRect/>
          </a:stretch>
        </p:blipFill>
        <p:spPr>
          <a:xfrm>
            <a:off x="5918911" y="2064715"/>
            <a:ext cx="351130" cy="351130"/>
          </a:xfrm>
          <a:prstGeom prst="rect">
            <a:avLst/>
          </a:prstGeom>
        </p:spPr>
      </p:pic>
      <p:sp>
        <p:nvSpPr>
          <p:cNvPr id="20" name="Journey card"/>
          <p:cNvSpPr/>
          <p:nvPr/>
        </p:nvSpPr>
        <p:spPr>
          <a:xfrm>
            <a:off x="5065776" y="2788920"/>
            <a:ext cx="2057400" cy="3200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1" name="Text 15"/>
          <p:cNvSpPr txBox="1"/>
          <p:nvPr/>
        </p:nvSpPr>
        <p:spPr>
          <a:xfrm>
            <a:off x="5248656" y="2926080"/>
            <a:ext cx="1691640" cy="365760"/>
          </a:xfrm>
          <a:prstGeom prst="rect">
            <a:avLst/>
          </a:prstGeom>
          <a:noFill/>
          <a:ln/>
        </p:spPr>
        <p:txBody>
          <a:bodyPr wrap="square" lIns="0" tIns="0" rIns="0" bIns="0" rtlCol="0" anchor="t"/>
          <a:lstStyle/>
          <a:p>
            <a:pPr indent="0" marL="0">
              <a:buNone/>
            </a:pPr>
            <a:r>
              <a:rPr lang="en-US" sz="1600" b="1" dirty="0">
                <a:solidFill>
                  <a:schemeClr val="tx2"/>
                </a:solidFill>
              </a:rPr>
              <a:t>3  Wait and board</a:t>
            </a:r>
            <a:endParaRPr lang="en-US" sz="1600" dirty="0"/>
          </a:p>
        </p:txBody>
      </p:sp>
      <p:sp>
        <p:nvSpPr>
          <p:cNvPr id="22" name="Text 16"/>
          <p:cNvSpPr txBox="1"/>
          <p:nvPr/>
        </p:nvSpPr>
        <p:spPr>
          <a:xfrm>
            <a:off x="5248656" y="3383280"/>
            <a:ext cx="1691640" cy="1280160"/>
          </a:xfrm>
          <a:prstGeom prst="rect">
            <a:avLst/>
          </a:prstGeom>
          <a:noFill/>
          <a:ln/>
        </p:spPr>
        <p:txBody>
          <a:bodyPr wrap="square" lIns="0" tIns="0" rIns="0" bIns="0" rtlCol="0" anchor="t"/>
          <a:lstStyle/>
          <a:p>
            <a:pPr indent="0" marL="0">
              <a:buNone/>
            </a:pPr>
            <a:r>
              <a:rPr lang="en-US" sz="1400" dirty="0">
                <a:solidFill>
                  <a:schemeClr val="tx1"/>
                </a:solidFill>
              </a:rPr>
              <a:t>Fresh location, trustworthy ETA, clear check-in status</a:t>
            </a:r>
            <a:endParaRPr lang="en-US" sz="1400" dirty="0"/>
          </a:p>
        </p:txBody>
      </p:sp>
      <p:sp>
        <p:nvSpPr>
          <p:cNvPr id="23" name="Text 17"/>
          <p:cNvSpPr txBox="1"/>
          <p:nvPr/>
        </p:nvSpPr>
        <p:spPr>
          <a:xfrm>
            <a:off x="5248656" y="4846320"/>
            <a:ext cx="1691640" cy="1005840"/>
          </a:xfrm>
          <a:prstGeom prst="rect">
            <a:avLst/>
          </a:prstGeom>
          <a:noFill/>
          <a:ln/>
        </p:spPr>
        <p:txBody>
          <a:bodyPr wrap="square" lIns="0" tIns="0" rIns="0" bIns="0" rtlCol="0" anchor="t"/>
          <a:lstStyle/>
          <a:p>
            <a:pPr indent="0" marL="0">
              <a:buNone/>
            </a:pPr>
            <a:r>
              <a:rPr lang="en-US" sz="1400" b="1" dirty="0">
                <a:solidFill>
                  <a:schemeClr val="accent2"/>
                </a:solidFill>
              </a:rPr>
              <a:t>GPS/ETA 13</a:t>
            </a:r>
            <a:endParaRPr lang="en-US" sz="1400" dirty="0"/>
          </a:p>
          <a:p>
            <a:pPr indent="0" marL="0">
              <a:buNone/>
            </a:pPr>
            <a:r>
              <a:rPr lang="en-US" sz="1400" b="1" dirty="0">
                <a:solidFill>
                  <a:schemeClr val="accent2"/>
                </a:solidFill>
              </a:rPr>
              <a:t>No-show 3</a:t>
            </a:r>
            <a:endParaRPr lang="en-US" sz="1400" dirty="0"/>
          </a:p>
        </p:txBody>
      </p:sp>
      <p:sp>
        <p:nvSpPr>
          <p:cNvPr id="24" name="Icon circle"/>
          <p:cNvSpPr/>
          <p:nvPr/>
        </p:nvSpPr>
        <p:spPr>
          <a:xfrm>
            <a:off x="7987284" y="1874520"/>
            <a:ext cx="731520" cy="731520"/>
          </a:xfrm>
          <a:prstGeom prst="ellipse">
            <a:avLst/>
          </a:prstGeom>
          <a:solidFill>
            <a:schemeClr val="accent2"/>
          </a:solidFill>
          <a:ln w="12700">
            <a:solidFill>
              <a:schemeClr val="accent2"/>
            </a:solidFill>
            <a:prstDash val="solid"/>
          </a:ln>
        </p:spPr>
      </p:sp>
      <p:pic>
        <p:nvPicPr>
          <p:cNvPr id="25" name="Image 3" descr="icon">    </p:cNvPr>
          <p:cNvPicPr>
            <a:picLocks noChangeAspect="1"/>
          </p:cNvPicPr>
          <p:nvPr/>
        </p:nvPicPr>
        <p:blipFill>
          <a:blip r:embed="rId4"/>
          <a:stretch>
            <a:fillRect/>
          </a:stretch>
        </p:blipFill>
        <p:spPr>
          <a:xfrm>
            <a:off x="8177479" y="2064715"/>
            <a:ext cx="351130" cy="351130"/>
          </a:xfrm>
          <a:prstGeom prst="rect">
            <a:avLst/>
          </a:prstGeom>
        </p:spPr>
      </p:pic>
      <p:sp>
        <p:nvSpPr>
          <p:cNvPr id="26" name="Journey card"/>
          <p:cNvSpPr/>
          <p:nvPr/>
        </p:nvSpPr>
        <p:spPr>
          <a:xfrm>
            <a:off x="7324344" y="2788920"/>
            <a:ext cx="2057400" cy="3200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7" name="Text 20"/>
          <p:cNvSpPr txBox="1"/>
          <p:nvPr/>
        </p:nvSpPr>
        <p:spPr>
          <a:xfrm>
            <a:off x="7507224" y="2926080"/>
            <a:ext cx="1691640" cy="365760"/>
          </a:xfrm>
          <a:prstGeom prst="rect">
            <a:avLst/>
          </a:prstGeom>
          <a:noFill/>
          <a:ln/>
        </p:spPr>
        <p:txBody>
          <a:bodyPr wrap="square" lIns="0" tIns="0" rIns="0" bIns="0" rtlCol="0" anchor="t"/>
          <a:lstStyle/>
          <a:p>
            <a:pPr indent="0" marL="0">
              <a:buNone/>
            </a:pPr>
            <a:r>
              <a:rPr lang="en-US" sz="1600" b="1" dirty="0">
                <a:solidFill>
                  <a:schemeClr val="tx2"/>
                </a:solidFill>
              </a:rPr>
              <a:t>4  Finish</a:t>
            </a:r>
            <a:endParaRPr lang="en-US" sz="1600" dirty="0"/>
          </a:p>
        </p:txBody>
      </p:sp>
      <p:sp>
        <p:nvSpPr>
          <p:cNvPr id="28" name="Text 21"/>
          <p:cNvSpPr txBox="1"/>
          <p:nvPr/>
        </p:nvSpPr>
        <p:spPr>
          <a:xfrm>
            <a:off x="7507224" y="3383280"/>
            <a:ext cx="1691640" cy="1280160"/>
          </a:xfrm>
          <a:prstGeom prst="rect">
            <a:avLst/>
          </a:prstGeom>
          <a:noFill/>
          <a:ln/>
        </p:spPr>
        <p:txBody>
          <a:bodyPr wrap="square" lIns="0" tIns="0" rIns="0" bIns="0" rtlCol="0" anchor="t"/>
          <a:lstStyle/>
          <a:p>
            <a:pPr indent="0" marL="0">
              <a:buNone/>
            </a:pPr>
            <a:r>
              <a:rPr lang="en-US" sz="1400" dirty="0">
                <a:solidFill>
                  <a:schemeClr val="tx1"/>
                </a:solidFill>
              </a:rPr>
              <a:t>A correct trip record and a way to raise problems</a:t>
            </a:r>
            <a:endParaRPr lang="en-US" sz="1400" dirty="0"/>
          </a:p>
        </p:txBody>
      </p:sp>
      <p:sp>
        <p:nvSpPr>
          <p:cNvPr id="29" name="Text 22"/>
          <p:cNvSpPr txBox="1"/>
          <p:nvPr/>
        </p:nvSpPr>
        <p:spPr>
          <a:xfrm>
            <a:off x="7507224" y="4846320"/>
            <a:ext cx="1691640" cy="1005840"/>
          </a:xfrm>
          <a:prstGeom prst="rect">
            <a:avLst/>
          </a:prstGeom>
          <a:noFill/>
          <a:ln/>
        </p:spPr>
        <p:txBody>
          <a:bodyPr wrap="square" lIns="0" tIns="0" rIns="0" bIns="0" rtlCol="0" anchor="t"/>
          <a:lstStyle/>
          <a:p>
            <a:pPr indent="0" marL="0">
              <a:buNone/>
            </a:pPr>
            <a:r>
              <a:rPr lang="en-US" sz="1400" b="1" dirty="0">
                <a:solidFill>
                  <a:schemeClr val="accent2"/>
                </a:solidFill>
              </a:rPr>
              <a:t>Support 5</a:t>
            </a:r>
            <a:endParaRPr lang="en-US" sz="1400" dirty="0"/>
          </a:p>
        </p:txBody>
      </p:sp>
      <p:sp>
        <p:nvSpPr>
          <p:cNvPr id="30" name="Icon circle"/>
          <p:cNvSpPr/>
          <p:nvPr/>
        </p:nvSpPr>
        <p:spPr>
          <a:xfrm>
            <a:off x="10245852" y="1874520"/>
            <a:ext cx="731520" cy="731520"/>
          </a:xfrm>
          <a:prstGeom prst="ellipse">
            <a:avLst/>
          </a:prstGeom>
          <a:solidFill>
            <a:schemeClr val="accent4"/>
          </a:solidFill>
          <a:ln w="12700">
            <a:solidFill>
              <a:schemeClr val="accent4"/>
            </a:solidFill>
            <a:prstDash val="solid"/>
          </a:ln>
        </p:spPr>
      </p:sp>
      <p:pic>
        <p:nvPicPr>
          <p:cNvPr id="31" name="Image 4" descr="icon">    </p:cNvPr>
          <p:cNvPicPr>
            <a:picLocks noChangeAspect="1"/>
          </p:cNvPicPr>
          <p:nvPr/>
        </p:nvPicPr>
        <p:blipFill>
          <a:blip r:embed="rId5"/>
          <a:stretch>
            <a:fillRect/>
          </a:stretch>
        </p:blipFill>
        <p:spPr>
          <a:xfrm>
            <a:off x="10436047" y="2064715"/>
            <a:ext cx="351130" cy="351130"/>
          </a:xfrm>
          <a:prstGeom prst="rect">
            <a:avLst/>
          </a:prstGeom>
        </p:spPr>
      </p:pic>
      <p:sp>
        <p:nvSpPr>
          <p:cNvPr id="32" name="Journey card"/>
          <p:cNvSpPr/>
          <p:nvPr/>
        </p:nvSpPr>
        <p:spPr>
          <a:xfrm>
            <a:off x="9582912" y="2788920"/>
            <a:ext cx="2057400" cy="3200400"/>
          </a:xfrm>
          <a:prstGeom prst="roundRect">
            <a:avLst>
              <a:gd name="adj" fmla="val 355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33" name="Text 25"/>
          <p:cNvSpPr txBox="1"/>
          <p:nvPr/>
        </p:nvSpPr>
        <p:spPr>
          <a:xfrm>
            <a:off x="9765792" y="2926080"/>
            <a:ext cx="1691640" cy="365760"/>
          </a:xfrm>
          <a:prstGeom prst="rect">
            <a:avLst/>
          </a:prstGeom>
          <a:noFill/>
          <a:ln/>
        </p:spPr>
        <p:txBody>
          <a:bodyPr wrap="square" lIns="0" tIns="0" rIns="0" bIns="0" rtlCol="0" anchor="t"/>
          <a:lstStyle/>
          <a:p>
            <a:pPr indent="0" marL="0">
              <a:buNone/>
            </a:pPr>
            <a:r>
              <a:rPr lang="en-US" sz="1600" b="1" dirty="0">
                <a:solidFill>
                  <a:schemeClr val="tx2"/>
                </a:solidFill>
              </a:rPr>
              <a:t>All the time</a:t>
            </a:r>
            <a:endParaRPr lang="en-US" sz="1600" dirty="0"/>
          </a:p>
        </p:txBody>
      </p:sp>
      <p:sp>
        <p:nvSpPr>
          <p:cNvPr id="34" name="Text 26"/>
          <p:cNvSpPr txBox="1"/>
          <p:nvPr/>
        </p:nvSpPr>
        <p:spPr>
          <a:xfrm>
            <a:off x="9765792" y="3383280"/>
            <a:ext cx="1691640" cy="1280160"/>
          </a:xfrm>
          <a:prstGeom prst="rect">
            <a:avLst/>
          </a:prstGeom>
          <a:noFill/>
          <a:ln/>
        </p:spPr>
        <p:txBody>
          <a:bodyPr wrap="square" lIns="0" tIns="0" rIns="0" bIns="0" rtlCol="0" anchor="t"/>
          <a:lstStyle/>
          <a:p>
            <a:pPr indent="0" marL="0">
              <a:buNone/>
            </a:pPr>
            <a:r>
              <a:rPr lang="en-US" sz="1400" dirty="0">
                <a:solidFill>
                  <a:schemeClr val="tx1"/>
                </a:solidFill>
              </a:rPr>
              <a:t>An app that opens and signs in</a:t>
            </a:r>
            <a:endParaRPr lang="en-US" sz="1400" dirty="0"/>
          </a:p>
        </p:txBody>
      </p:sp>
      <p:sp>
        <p:nvSpPr>
          <p:cNvPr id="35" name="Text 27"/>
          <p:cNvSpPr txBox="1"/>
          <p:nvPr/>
        </p:nvSpPr>
        <p:spPr>
          <a:xfrm>
            <a:off x="9765792" y="4846320"/>
            <a:ext cx="1691640" cy="1005840"/>
          </a:xfrm>
          <a:prstGeom prst="rect">
            <a:avLst/>
          </a:prstGeom>
          <a:noFill/>
          <a:ln/>
        </p:spPr>
        <p:txBody>
          <a:bodyPr wrap="square" lIns="0" tIns="0" rIns="0" bIns="0" rtlCol="0" anchor="t"/>
          <a:lstStyle/>
          <a:p>
            <a:pPr indent="0" marL="0">
              <a:buNone/>
            </a:pPr>
            <a:r>
              <a:rPr lang="en-US" sz="1400" b="1" dirty="0">
                <a:solidFill>
                  <a:schemeClr val="accent2"/>
                </a:solidFill>
              </a:rPr>
              <a:t>Crashes 17</a:t>
            </a:r>
            <a:endParaRPr lang="en-US" sz="1400" dirty="0"/>
          </a:p>
          <a:p>
            <a:pPr indent="0" marL="0">
              <a:buNone/>
            </a:pPr>
            <a:r>
              <a:rPr lang="en-US" sz="1400" b="1" dirty="0">
                <a:solidFill>
                  <a:schemeClr val="accent2"/>
                </a:solidFill>
              </a:rPr>
              <a:t>Login 5</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WHAT I THINK IS GOING ON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I see two things going on, and I cannot split them from reviews alone</a:t>
            </a:r>
            <a:endParaRPr lang="en-US" sz="3200" dirty="0"/>
          </a:p>
        </p:txBody>
      </p:sp>
      <p:sp>
        <p:nvSpPr>
          <p:cNvPr id="5" name="Idea card"/>
          <p:cNvSpPr/>
          <p:nvPr/>
        </p:nvSpPr>
        <p:spPr>
          <a:xfrm>
            <a:off x="548640" y="1783080"/>
            <a:ext cx="5422392" cy="2423160"/>
          </a:xfrm>
          <a:prstGeom prst="roundRect">
            <a:avLst>
              <a:gd name="adj" fmla="val 301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Number badge"/>
          <p:cNvSpPr/>
          <p:nvPr/>
        </p:nvSpPr>
        <p:spPr>
          <a:xfrm>
            <a:off x="822960" y="2011680"/>
            <a:ext cx="502920" cy="502920"/>
          </a:xfrm>
          <a:prstGeom prst="ellipse">
            <a:avLst/>
          </a:prstGeom>
          <a:solidFill>
            <a:schemeClr val="accent2"/>
          </a:solidFill>
          <a:ln w="12700">
            <a:solidFill>
              <a:schemeClr val="accent2"/>
            </a:solidFill>
            <a:prstDash val="solid"/>
          </a:ln>
        </p:spPr>
      </p:sp>
      <p:sp>
        <p:nvSpPr>
          <p:cNvPr id="7" name="Text 4"/>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Text 5"/>
          <p:cNvSpPr txBox="1"/>
          <p:nvPr/>
        </p:nvSpPr>
        <p:spPr>
          <a:xfrm>
            <a:off x="1463040" y="2011680"/>
            <a:ext cx="4297680" cy="502920"/>
          </a:xfrm>
          <a:prstGeom prst="rect">
            <a:avLst/>
          </a:prstGeom>
          <a:noFill/>
          <a:ln/>
        </p:spPr>
        <p:txBody>
          <a:bodyPr wrap="square" lIns="0" tIns="0" rIns="0" bIns="0" rtlCol="0" anchor="ctr"/>
          <a:lstStyle/>
          <a:p>
            <a:pPr indent="0" marL="0">
              <a:buNone/>
            </a:pPr>
            <a:r>
              <a:rPr lang="en-US" sz="2000" b="1" dirty="0">
                <a:solidFill>
                  <a:schemeClr val="tx2"/>
                </a:solidFill>
              </a:rPr>
              <a:t>The app and the trip disagree</a:t>
            </a:r>
            <a:endParaRPr lang="en-US" sz="2000" dirty="0"/>
          </a:p>
        </p:txBody>
      </p:sp>
      <p:sp>
        <p:nvSpPr>
          <p:cNvPr id="9" name="Text 6"/>
          <p:cNvSpPr txBox="1"/>
          <p:nvPr/>
        </p:nvSpPr>
        <p:spPr>
          <a:xfrm>
            <a:off x="822960" y="2743200"/>
            <a:ext cx="4846320" cy="1371600"/>
          </a:xfrm>
          <a:prstGeom prst="rect">
            <a:avLst/>
          </a:prstGeom>
          <a:noFill/>
          <a:ln/>
        </p:spPr>
        <p:txBody>
          <a:bodyPr wrap="square" lIns="0" tIns="0" rIns="0" bIns="0" rtlCol="0" anchor="t"/>
          <a:lstStyle/>
          <a:p>
            <a:pPr indent="0" marL="0">
              <a:buNone/>
            </a:pPr>
            <a:r>
              <a:rPr lang="en-US" sz="1700" dirty="0">
                <a:solidFill>
                  <a:schemeClr val="tx1"/>
                </a:solidFill>
              </a:rPr>
              <a:t>What was booked, where the vehicle is, when it will arrive, whether an alert came in time. I call this state correctness and journey visibility.</a:t>
            </a:r>
            <a:endParaRPr lang="en-US" sz="1700" dirty="0"/>
          </a:p>
        </p:txBody>
      </p:sp>
      <p:sp>
        <p:nvSpPr>
          <p:cNvPr id="10" name="Idea card"/>
          <p:cNvSpPr/>
          <p:nvPr/>
        </p:nvSpPr>
        <p:spPr>
          <a:xfrm>
            <a:off x="6217920" y="1783080"/>
            <a:ext cx="5422392" cy="2423160"/>
          </a:xfrm>
          <a:prstGeom prst="roundRect">
            <a:avLst>
              <a:gd name="adj" fmla="val 301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Number badge"/>
          <p:cNvSpPr/>
          <p:nvPr/>
        </p:nvSpPr>
        <p:spPr>
          <a:xfrm>
            <a:off x="6492240" y="2011680"/>
            <a:ext cx="502920" cy="502920"/>
          </a:xfrm>
          <a:prstGeom prst="ellipse">
            <a:avLst/>
          </a:prstGeom>
          <a:solidFill>
            <a:schemeClr val="accent2"/>
          </a:solidFill>
          <a:ln w="12700">
            <a:solidFill>
              <a:schemeClr val="accent2"/>
            </a:solidFill>
            <a:prstDash val="solid"/>
          </a:ln>
        </p:spPr>
      </p:sp>
      <p:sp>
        <p:nvSpPr>
          <p:cNvPr id="12" name="Text 9"/>
          <p:cNvSpPr txBox="1"/>
          <p:nvPr/>
        </p:nvSpPr>
        <p:spPr>
          <a:xfrm>
            <a:off x="6492240" y="2011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0"/>
          <p:cNvSpPr txBox="1"/>
          <p:nvPr/>
        </p:nvSpPr>
        <p:spPr>
          <a:xfrm>
            <a:off x="7132320" y="2011680"/>
            <a:ext cx="4297680" cy="502920"/>
          </a:xfrm>
          <a:prstGeom prst="rect">
            <a:avLst/>
          </a:prstGeom>
          <a:noFill/>
          <a:ln/>
        </p:spPr>
        <p:txBody>
          <a:bodyPr wrap="square" lIns="0" tIns="0" rIns="0" bIns="0" rtlCol="0" anchor="ctr"/>
          <a:lstStyle/>
          <a:p>
            <a:pPr indent="0" marL="0">
              <a:buNone/>
            </a:pPr>
            <a:r>
              <a:rPr lang="en-US" sz="2000" b="1" dirty="0">
                <a:solidFill>
                  <a:schemeClr val="tx2"/>
                </a:solidFill>
              </a:rPr>
              <a:t>Part of it is operational</a:t>
            </a:r>
            <a:endParaRPr lang="en-US" sz="2000" dirty="0"/>
          </a:p>
        </p:txBody>
      </p:sp>
      <p:sp>
        <p:nvSpPr>
          <p:cNvPr id="14" name="Text 11"/>
          <p:cNvSpPr txBox="1"/>
          <p:nvPr/>
        </p:nvSpPr>
        <p:spPr>
          <a:xfrm>
            <a:off x="6492240" y="2743200"/>
            <a:ext cx="4846320" cy="1371600"/>
          </a:xfrm>
          <a:prstGeom prst="rect">
            <a:avLst/>
          </a:prstGeom>
          <a:noFill/>
          <a:ln/>
        </p:spPr>
        <p:txBody>
          <a:bodyPr wrap="square" lIns="0" tIns="0" rIns="0" bIns="0" rtlCol="0" anchor="t"/>
          <a:lstStyle/>
          <a:p>
            <a:pPr indent="0" marL="0">
              <a:buNone/>
            </a:pPr>
            <a:r>
              <a:rPr lang="en-US" sz="1700" dirty="0">
                <a:solidFill>
                  <a:schemeClr val="tx1"/>
                </a:solidFill>
              </a:rPr>
              <a:t>The biggest named theme is drivers and vehicles. Late, missing or swapped vehicles are fixed by Operations, not by code.</a:t>
            </a:r>
            <a:endParaRPr lang="en-US" sz="1700" dirty="0"/>
          </a:p>
        </p:txBody>
      </p:sp>
      <p:sp>
        <p:nvSpPr>
          <p:cNvPr id="15" name="Counter card"/>
          <p:cNvSpPr/>
          <p:nvPr/>
        </p:nvSpPr>
        <p:spPr>
          <a:xfrm>
            <a:off x="548640" y="4434840"/>
            <a:ext cx="11091672" cy="1691640"/>
          </a:xfrm>
          <a:prstGeom prst="roundRect">
            <a:avLst>
              <a:gd name="adj" fmla="val 4324"/>
            </a:avLst>
          </a:prstGeom>
          <a:solidFill>
            <a:schemeClr val="bg2"/>
          </a:solidFill>
          <a:ln w="12700">
            <a:solidFill>
              <a:schemeClr val="bg2"/>
            </a:solidFill>
            <a:prstDash val="solid"/>
          </a:ln>
        </p:spPr>
      </p:sp>
      <p:sp>
        <p:nvSpPr>
          <p:cNvPr id="16" name="Text 13"/>
          <p:cNvSpPr txBox="1"/>
          <p:nvPr/>
        </p:nvSpPr>
        <p:spPr>
          <a:xfrm>
            <a:off x="822960" y="4544568"/>
            <a:ext cx="10543032" cy="1554480"/>
          </a:xfrm>
          <a:prstGeom prst="rect">
            <a:avLst/>
          </a:prstGeom>
          <a:noFill/>
          <a:ln/>
        </p:spPr>
        <p:txBody>
          <a:bodyPr wrap="square" lIns="0" tIns="0" rIns="0" bIns="0" rtlCol="0" anchor="t"/>
          <a:lstStyle/>
          <a:p>
            <a:pPr indent="0" marL="0">
              <a:buNone/>
            </a:pPr>
            <a:r>
              <a:rPr lang="en-US" sz="1600" b="1" dirty="0">
                <a:solidFill>
                  <a:schemeClr val="tx1"/>
                </a:solidFill>
              </a:rPr>
              <a:t>Other explanations to rule out</a:t>
            </a:r>
            <a:endParaRPr lang="en-US" sz="1400" dirty="0"/>
          </a:p>
          <a:p>
            <a:pPr marL="342900" indent="-342900">
              <a:spcAft>
                <a:spcPts val="600"/>
              </a:spcAft>
              <a:buSzPct val="100000"/>
              <a:buChar char="•"/>
            </a:pPr>
            <a:r>
              <a:rPr lang="en-US" sz="1400" dirty="0">
                <a:solidFill>
                  <a:schemeClr val="tx1"/>
                </a:solidFill>
              </a:rPr>
              <a:t>Weak GPS signal or poor network, not an app bug</a:t>
            </a:r>
            <a:endParaRPr lang="en-US" sz="1400" dirty="0"/>
          </a:p>
          <a:p>
            <a:pPr marL="342900" indent="-342900">
              <a:spcAft>
                <a:spcPts val="600"/>
              </a:spcAft>
              <a:buSzPct val="100000"/>
              <a:buChar char="•"/>
            </a:pPr>
            <a:r>
              <a:rPr lang="en-US" sz="1400" dirty="0">
                <a:solidFill>
                  <a:schemeClr val="tx1"/>
                </a:solidFill>
              </a:rPr>
              <a:t>A booking screen changed on purpose but explained badly</a:t>
            </a:r>
            <a:endParaRPr lang="en-US" sz="1400" dirty="0"/>
          </a:p>
          <a:p>
            <a:pPr marL="342900" indent="-342900">
              <a:spcAft>
                <a:spcPts val="600"/>
              </a:spcAft>
              <a:buSzPct val="100000"/>
              <a:buChar char="•"/>
            </a:pPr>
            <a:r>
              <a:rPr lang="en-US" sz="1400" dirty="0">
                <a:solidFill>
                  <a:schemeClr val="tx1"/>
                </a:solidFill>
              </a:rPr>
              <a:t>An alert sent by the server but never seen on the phone</a:t>
            </a:r>
            <a:endParaRPr lang="en-US" sz="1400" dirty="0"/>
          </a:p>
          <a:p>
            <a:pPr marL="342900" indent="-342900">
              <a:spcAft>
                <a:spcPts val="600"/>
              </a:spcAft>
              <a:buSzPct val="100000"/>
              <a:buChar char="•"/>
            </a:pPr>
            <a:r>
              <a:rPr lang="en-US" sz="1400" dirty="0">
                <a:solidFill>
                  <a:schemeClr val="tx1"/>
                </a:solidFill>
              </a:rPr>
              <a:t>A rule-based label that is simply wrong</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IDEAS TO TEST</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Seven ideas to test, ordered by consequence</a:t>
            </a:r>
            <a:endParaRPr lang="en-US" sz="3200" dirty="0"/>
          </a:p>
        </p:txBody>
      </p:sp>
      <p:graphicFrame>
        <p:nvGraphicFramePr>
          <p:cNvPr id="16" name="Hypotheses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731520"/>
                <a:gridCol w="5486400"/>
                <a:gridCol w="3749040"/>
                <a:gridCol w="1124712"/>
              </a:tblGrid>
              <a:tr h="548640">
                <a:tc>
                  <a:txBody>
                    <a:bodyPr/>
                    <a:lstStyle/>
                    <a:p>
                      <a:pPr indent="0" marL="0">
                        <a:buNone/>
                      </a:pP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Idea to test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What the data shows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Order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548640">
                <a:tc>
                  <a:txBody>
                    <a:bodyPr/>
                    <a:lstStyle/>
                    <a:p>
                      <a:pPr indent="0" marL="0">
                        <a:buNone/>
                      </a:pPr>
                      <a:r>
                        <a:rPr lang="en-US" sz="1400" b="1" dirty="0">
                          <a:solidFill>
                            <a:schemeClr val="tx1"/>
                          </a:solidFill>
                        </a:rPr>
                        <a:t>H1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was booked and what was saved can differ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Booking: about 22%</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bg1"/>
                          </a:solidFill>
                        </a:rPr>
                        <a:t>P0</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3"/>
                    </a:solidFill>
                  </a:tcPr>
                </a:tc>
              </a:tr>
              <a:tr h="548640">
                <a:tc>
                  <a:txBody>
                    <a:bodyPr/>
                    <a:lstStyle/>
                    <a:p>
                      <a:pPr indent="0" marL="0">
                        <a:buNone/>
                      </a:pPr>
                      <a:r>
                        <a:rPr lang="en-US" sz="1400" b="1" dirty="0">
                          <a:solidFill>
                            <a:schemeClr val="tx1"/>
                          </a:solidFill>
                        </a:rPr>
                        <a:t>H2</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No-show or check-in status is a surprise or wrong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About 3%, but costly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bg1"/>
                          </a:solidFill>
                        </a:rPr>
                        <a:t>P0</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3"/>
                    </a:solidFill>
                  </a:tcPr>
                </a:tc>
              </a:tr>
              <a:tr h="548640">
                <a:tc>
                  <a:txBody>
                    <a:bodyPr/>
                    <a:lstStyle/>
                    <a:p>
                      <a:pPr indent="0" marL="0">
                        <a:buNone/>
                      </a:pPr>
                      <a:r>
                        <a:rPr lang="en-US" sz="1400" b="1" dirty="0">
                          <a:solidFill>
                            <a:schemeClr val="tx1"/>
                          </a:solidFill>
                        </a:rPr>
                        <a:t>H3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Vehicle location and ETA are old or wrong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GPS/ETA: about 13%</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P1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1"/>
                    </a:solidFill>
                  </a:tcPr>
                </a:tc>
              </a:tr>
              <a:tr h="548640">
                <a:tc>
                  <a:txBody>
                    <a:bodyPr/>
                    <a:lstStyle/>
                    <a:p>
                      <a:pPr indent="0" marL="0">
                        <a:buNone/>
                      </a:pPr>
                      <a:r>
                        <a:rPr lang="en-US" sz="1400" b="1" dirty="0">
                          <a:solidFill>
                            <a:schemeClr val="tx1"/>
                          </a:solidFill>
                        </a:rPr>
                        <a:t>H4</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Important alerts are late or never seen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Alerts: about 10%</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rPr>
                        <a:t>P1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1"/>
                    </a:solidFill>
                  </a:tcPr>
                </a:tc>
              </a:tr>
              <a:tr h="548640">
                <a:tc>
                  <a:txBody>
                    <a:bodyPr/>
                    <a:lstStyle/>
                    <a:p>
                      <a:pPr indent="0" marL="0">
                        <a:buNone/>
                      </a:pPr>
                      <a:r>
                        <a:rPr lang="en-US" sz="1400" b="1" dirty="0">
                          <a:solidFill>
                            <a:schemeClr val="tx1"/>
                          </a:solidFill>
                        </a:rPr>
                        <a:t>H5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changed booking screen causes doubt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UX: about 12%</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bg1"/>
                          </a:solidFill>
                        </a:rPr>
                        <a:t>P2</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4"/>
                    </a:solidFill>
                  </a:tcPr>
                </a:tc>
              </a:tr>
              <a:tr h="548640">
                <a:tc>
                  <a:txBody>
                    <a:bodyPr/>
                    <a:lstStyle/>
                    <a:p>
                      <a:pPr indent="0" marL="0">
                        <a:buNone/>
                      </a:pPr>
                      <a:r>
                        <a:rPr lang="en-US" sz="1400" b="1" dirty="0">
                          <a:solidFill>
                            <a:schemeClr val="tx1"/>
                          </a:solidFill>
                        </a:rPr>
                        <a:t>H6</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Crashes, slow screens or sign-in block use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About 17%, login 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tx1"/>
                          </a:solidFill>
                        </a:rPr>
                        <a:t>P1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1"/>
                    </a:solidFill>
                  </a:tcPr>
                </a:tc>
              </a:tr>
              <a:tr h="548640">
                <a:tc>
                  <a:txBody>
                    <a:bodyPr/>
                    <a:lstStyle/>
                    <a:p>
                      <a:pPr indent="0" marL="0">
                        <a:buNone/>
                      </a:pPr>
                      <a:r>
                        <a:rPr lang="en-US" sz="1400" b="1" dirty="0">
                          <a:solidFill>
                            <a:schemeClr val="tx1"/>
                          </a:solidFill>
                        </a:rPr>
                        <a:t>H7</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Late, missing or changed vehicles drive complaints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Drivers and vehicles: about 25%</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tx1"/>
                          </a:solidFill>
                        </a:rPr>
                        <a:t>P1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accent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30-DAY PLAN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Five rules I would follow throughout</a:t>
            </a:r>
            <a:endParaRPr lang="en-US" sz="3200" dirty="0"/>
          </a:p>
        </p:txBody>
      </p:sp>
      <p:sp>
        <p:nvSpPr>
          <p:cNvPr id="5" name="Rule card"/>
          <p:cNvSpPr/>
          <p:nvPr/>
        </p:nvSpPr>
        <p:spPr>
          <a:xfrm>
            <a:off x="548640" y="178308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22960" y="2130552"/>
            <a:ext cx="594360" cy="594360"/>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977494" y="2285086"/>
            <a:ext cx="285293" cy="285293"/>
          </a:xfrm>
          <a:prstGeom prst="rect">
            <a:avLst/>
          </a:prstGeom>
        </p:spPr>
      </p:pic>
      <p:sp>
        <p:nvSpPr>
          <p:cNvPr id="8" name="Text 4"/>
          <p:cNvSpPr txBox="1"/>
          <p:nvPr/>
        </p:nvSpPr>
        <p:spPr>
          <a:xfrm>
            <a:off x="1645920" y="1965960"/>
            <a:ext cx="4050792" cy="411480"/>
          </a:xfrm>
          <a:prstGeom prst="rect">
            <a:avLst/>
          </a:prstGeom>
          <a:noFill/>
          <a:ln/>
        </p:spPr>
        <p:txBody>
          <a:bodyPr wrap="square" lIns="0" tIns="0" rIns="0" bIns="0" rtlCol="0" anchor="t"/>
          <a:lstStyle/>
          <a:p>
            <a:pPr indent="0" marL="0">
              <a:buNone/>
            </a:pPr>
            <a:r>
              <a:rPr lang="en-US" sz="1800" b="1" dirty="0">
                <a:solidFill>
                  <a:schemeClr val="tx2"/>
                </a:solidFill>
              </a:rPr>
              <a:t>Prove it before building it</a:t>
            </a:r>
            <a:endParaRPr lang="en-US" sz="1800" dirty="0"/>
          </a:p>
        </p:txBody>
      </p:sp>
      <p:sp>
        <p:nvSpPr>
          <p:cNvPr id="9" name="Text 5"/>
          <p:cNvSpPr txBox="1"/>
          <p:nvPr/>
        </p:nvSpPr>
        <p:spPr>
          <a:xfrm>
            <a:off x="1645920" y="2404872"/>
            <a:ext cx="4050792" cy="548640"/>
          </a:xfrm>
          <a:prstGeom prst="rect">
            <a:avLst/>
          </a:prstGeom>
          <a:noFill/>
          <a:ln/>
        </p:spPr>
        <p:txBody>
          <a:bodyPr wrap="square" lIns="0" tIns="0" rIns="0" bIns="0" rtlCol="0" anchor="t"/>
          <a:lstStyle/>
          <a:p>
            <a:pPr indent="0" marL="0">
              <a:buNone/>
            </a:pPr>
            <a:r>
              <a:rPr lang="en-US" sz="1400" dirty="0">
                <a:solidFill>
                  <a:schemeClr val="tx1"/>
                </a:solidFill>
              </a:rPr>
              <a:t>A review alone is not enough to ship a change.</a:t>
            </a:r>
            <a:endParaRPr lang="en-US" sz="1400" dirty="0"/>
          </a:p>
        </p:txBody>
      </p:sp>
      <p:sp>
        <p:nvSpPr>
          <p:cNvPr id="10" name="Rule card"/>
          <p:cNvSpPr/>
          <p:nvPr/>
        </p:nvSpPr>
        <p:spPr>
          <a:xfrm>
            <a:off x="6126480" y="178308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Icon circle"/>
          <p:cNvSpPr/>
          <p:nvPr/>
        </p:nvSpPr>
        <p:spPr>
          <a:xfrm>
            <a:off x="6400800" y="2130552"/>
            <a:ext cx="594360" cy="594360"/>
          </a:xfrm>
          <a:prstGeom prst="ellipse">
            <a:avLst/>
          </a:prstGeom>
          <a:solidFill>
            <a:schemeClr val="accent2"/>
          </a:solidFill>
          <a:ln w="12700">
            <a:solidFill>
              <a:schemeClr val="accent2"/>
            </a:solidFill>
            <a:prstDash val="solid"/>
          </a:ln>
        </p:spPr>
      </p:sp>
      <p:pic>
        <p:nvPicPr>
          <p:cNvPr id="12" name="Image 1" descr="icon">    </p:cNvPr>
          <p:cNvPicPr>
            <a:picLocks noChangeAspect="1"/>
          </p:cNvPicPr>
          <p:nvPr/>
        </p:nvPicPr>
        <p:blipFill>
          <a:blip r:embed="rId2"/>
          <a:stretch>
            <a:fillRect/>
          </a:stretch>
        </p:blipFill>
        <p:spPr>
          <a:xfrm>
            <a:off x="6555334" y="2285086"/>
            <a:ext cx="285293" cy="285293"/>
          </a:xfrm>
          <a:prstGeom prst="rect">
            <a:avLst/>
          </a:prstGeom>
        </p:spPr>
      </p:pic>
      <p:sp>
        <p:nvSpPr>
          <p:cNvPr id="13" name="Text 8"/>
          <p:cNvSpPr txBox="1"/>
          <p:nvPr/>
        </p:nvSpPr>
        <p:spPr>
          <a:xfrm>
            <a:off x="7223760" y="1965960"/>
            <a:ext cx="4050792" cy="411480"/>
          </a:xfrm>
          <a:prstGeom prst="rect">
            <a:avLst/>
          </a:prstGeom>
          <a:noFill/>
          <a:ln/>
        </p:spPr>
        <p:txBody>
          <a:bodyPr wrap="square" lIns="0" tIns="0" rIns="0" bIns="0" rtlCol="0" anchor="t"/>
          <a:lstStyle/>
          <a:p>
            <a:pPr indent="0" marL="0">
              <a:buNone/>
            </a:pPr>
            <a:r>
              <a:rPr lang="en-US" sz="1800" b="1" dirty="0">
                <a:solidFill>
                  <a:schemeClr val="tx2"/>
                </a:solidFill>
              </a:rPr>
              <a:t>Consequence before volume</a:t>
            </a:r>
            <a:endParaRPr lang="en-US" sz="1800" dirty="0"/>
          </a:p>
        </p:txBody>
      </p:sp>
      <p:sp>
        <p:nvSpPr>
          <p:cNvPr id="14" name="Text 9"/>
          <p:cNvSpPr txBox="1"/>
          <p:nvPr/>
        </p:nvSpPr>
        <p:spPr>
          <a:xfrm>
            <a:off x="7223760" y="2404872"/>
            <a:ext cx="4050792" cy="548640"/>
          </a:xfrm>
          <a:prstGeom prst="rect">
            <a:avLst/>
          </a:prstGeom>
          <a:noFill/>
          <a:ln/>
        </p:spPr>
        <p:txBody>
          <a:bodyPr wrap="square" lIns="0" tIns="0" rIns="0" bIns="0" rtlCol="0" anchor="t"/>
          <a:lstStyle/>
          <a:p>
            <a:pPr indent="0" marL="0">
              <a:buNone/>
            </a:pPr>
            <a:r>
              <a:rPr lang="en-US" sz="1400" dirty="0">
                <a:solidFill>
                  <a:schemeClr val="tx1"/>
                </a:solidFill>
              </a:rPr>
              <a:t>Money, safety and missed shifts come first, even if rarer.</a:t>
            </a:r>
            <a:endParaRPr lang="en-US" sz="1400" dirty="0"/>
          </a:p>
        </p:txBody>
      </p:sp>
      <p:sp>
        <p:nvSpPr>
          <p:cNvPr id="15" name="Rule card"/>
          <p:cNvSpPr/>
          <p:nvPr/>
        </p:nvSpPr>
        <p:spPr>
          <a:xfrm>
            <a:off x="548640" y="324612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6" name="Icon circle"/>
          <p:cNvSpPr/>
          <p:nvPr/>
        </p:nvSpPr>
        <p:spPr>
          <a:xfrm>
            <a:off x="822960" y="3593592"/>
            <a:ext cx="594360" cy="594360"/>
          </a:xfrm>
          <a:prstGeom prst="ellipse">
            <a:avLst/>
          </a:prstGeom>
          <a:solidFill>
            <a:schemeClr val="accent2"/>
          </a:solidFill>
          <a:ln w="12700">
            <a:solidFill>
              <a:schemeClr val="accent2"/>
            </a:solidFill>
            <a:prstDash val="solid"/>
          </a:ln>
        </p:spPr>
      </p:sp>
      <p:pic>
        <p:nvPicPr>
          <p:cNvPr id="17" name="Image 2" descr="icon">    </p:cNvPr>
          <p:cNvPicPr>
            <a:picLocks noChangeAspect="1"/>
          </p:cNvPicPr>
          <p:nvPr/>
        </p:nvPicPr>
        <p:blipFill>
          <a:blip r:embed="rId3"/>
          <a:stretch>
            <a:fillRect/>
          </a:stretch>
        </p:blipFill>
        <p:spPr>
          <a:xfrm>
            <a:off x="977494" y="3748126"/>
            <a:ext cx="285293" cy="285293"/>
          </a:xfrm>
          <a:prstGeom prst="rect">
            <a:avLst/>
          </a:prstGeom>
        </p:spPr>
      </p:pic>
      <p:sp>
        <p:nvSpPr>
          <p:cNvPr id="18" name="Text 12"/>
          <p:cNvSpPr txBox="1"/>
          <p:nvPr/>
        </p:nvSpPr>
        <p:spPr>
          <a:xfrm>
            <a:off x="1645920" y="3429000"/>
            <a:ext cx="4050792" cy="411480"/>
          </a:xfrm>
          <a:prstGeom prst="rect">
            <a:avLst/>
          </a:prstGeom>
          <a:noFill/>
          <a:ln/>
        </p:spPr>
        <p:txBody>
          <a:bodyPr wrap="square" lIns="0" tIns="0" rIns="0" bIns="0" rtlCol="0" anchor="t"/>
          <a:lstStyle/>
          <a:p>
            <a:pPr indent="0" marL="0">
              <a:buNone/>
            </a:pPr>
            <a:r>
              <a:rPr lang="en-US" sz="1800" b="1" dirty="0">
                <a:solidFill>
                  <a:schemeClr val="tx2"/>
                </a:solidFill>
              </a:rPr>
              <a:t>Small changes you can undo</a:t>
            </a:r>
            <a:endParaRPr lang="en-US" sz="1800" dirty="0"/>
          </a:p>
        </p:txBody>
      </p:sp>
      <p:sp>
        <p:nvSpPr>
          <p:cNvPr id="19" name="Text 13"/>
          <p:cNvSpPr txBox="1"/>
          <p:nvPr/>
        </p:nvSpPr>
        <p:spPr>
          <a:xfrm>
            <a:off x="1645920" y="3867912"/>
            <a:ext cx="4050792" cy="548640"/>
          </a:xfrm>
          <a:prstGeom prst="rect">
            <a:avLst/>
          </a:prstGeom>
          <a:noFill/>
          <a:ln/>
        </p:spPr>
        <p:txBody>
          <a:bodyPr wrap="square" lIns="0" tIns="0" rIns="0" bIns="0" rtlCol="0" anchor="t"/>
          <a:lstStyle/>
          <a:p>
            <a:pPr indent="0" marL="0">
              <a:buNone/>
            </a:pPr>
            <a:r>
              <a:rPr lang="en-US" sz="1400" dirty="0">
                <a:solidFill>
                  <a:schemeClr val="tx1"/>
                </a:solidFill>
              </a:rPr>
              <a:t>Give each change to a small group first.</a:t>
            </a:r>
            <a:endParaRPr lang="en-US" sz="1400" dirty="0"/>
          </a:p>
        </p:txBody>
      </p:sp>
      <p:sp>
        <p:nvSpPr>
          <p:cNvPr id="20" name="Rule card"/>
          <p:cNvSpPr/>
          <p:nvPr/>
        </p:nvSpPr>
        <p:spPr>
          <a:xfrm>
            <a:off x="6126480" y="324612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1" name="Icon circle"/>
          <p:cNvSpPr/>
          <p:nvPr/>
        </p:nvSpPr>
        <p:spPr>
          <a:xfrm>
            <a:off x="6400800" y="3593592"/>
            <a:ext cx="594360" cy="594360"/>
          </a:xfrm>
          <a:prstGeom prst="ellipse">
            <a:avLst/>
          </a:prstGeom>
          <a:solidFill>
            <a:schemeClr val="accent2"/>
          </a:solidFill>
          <a:ln w="12700">
            <a:solidFill>
              <a:schemeClr val="accent2"/>
            </a:solidFill>
            <a:prstDash val="solid"/>
          </a:ln>
        </p:spPr>
      </p:sp>
      <p:pic>
        <p:nvPicPr>
          <p:cNvPr id="22" name="Image 3" descr="icon">    </p:cNvPr>
          <p:cNvPicPr>
            <a:picLocks noChangeAspect="1"/>
          </p:cNvPicPr>
          <p:nvPr/>
        </p:nvPicPr>
        <p:blipFill>
          <a:blip r:embed="rId4"/>
          <a:stretch>
            <a:fillRect/>
          </a:stretch>
        </p:blipFill>
        <p:spPr>
          <a:xfrm>
            <a:off x="6555334" y="3748126"/>
            <a:ext cx="285293" cy="285293"/>
          </a:xfrm>
          <a:prstGeom prst="rect">
            <a:avLst/>
          </a:prstGeom>
        </p:spPr>
      </p:pic>
      <p:sp>
        <p:nvSpPr>
          <p:cNvPr id="23" name="Text 16"/>
          <p:cNvSpPr txBox="1"/>
          <p:nvPr/>
        </p:nvSpPr>
        <p:spPr>
          <a:xfrm>
            <a:off x="7223760" y="3429000"/>
            <a:ext cx="4050792" cy="411480"/>
          </a:xfrm>
          <a:prstGeom prst="rect">
            <a:avLst/>
          </a:prstGeom>
          <a:noFill/>
          <a:ln/>
        </p:spPr>
        <p:txBody>
          <a:bodyPr wrap="square" lIns="0" tIns="0" rIns="0" bIns="0" rtlCol="0" anchor="t"/>
          <a:lstStyle/>
          <a:p>
            <a:pPr indent="0" marL="0">
              <a:buNone/>
            </a:pPr>
            <a:r>
              <a:rPr lang="en-US" sz="1800" b="1" dirty="0">
                <a:solidFill>
                  <a:schemeClr val="tx2"/>
                </a:solidFill>
              </a:rPr>
              <a:t>Watch the early signs</a:t>
            </a:r>
            <a:endParaRPr lang="en-US" sz="1800" dirty="0"/>
          </a:p>
        </p:txBody>
      </p:sp>
      <p:sp>
        <p:nvSpPr>
          <p:cNvPr id="24" name="Text 17"/>
          <p:cNvSpPr txBox="1"/>
          <p:nvPr/>
        </p:nvSpPr>
        <p:spPr>
          <a:xfrm>
            <a:off x="7223760" y="3867912"/>
            <a:ext cx="4050792" cy="548640"/>
          </a:xfrm>
          <a:prstGeom prst="rect">
            <a:avLst/>
          </a:prstGeom>
          <a:noFill/>
          <a:ln/>
        </p:spPr>
        <p:txBody>
          <a:bodyPr wrap="square" lIns="0" tIns="0" rIns="0" bIns="0" rtlCol="0" anchor="t"/>
          <a:lstStyle/>
          <a:p>
            <a:pPr indent="0" marL="0">
              <a:buNone/>
            </a:pPr>
            <a:r>
              <a:rPr lang="en-US" sz="1400" dirty="0">
                <a:solidFill>
                  <a:schemeClr val="tx1"/>
                </a:solidFill>
              </a:rPr>
              <a:t>Correct bookings and fresh locations move before stars do.</a:t>
            </a:r>
            <a:endParaRPr lang="en-US" sz="1400" dirty="0"/>
          </a:p>
        </p:txBody>
      </p:sp>
      <p:sp>
        <p:nvSpPr>
          <p:cNvPr id="25" name="Rule card"/>
          <p:cNvSpPr/>
          <p:nvPr/>
        </p:nvSpPr>
        <p:spPr>
          <a:xfrm>
            <a:off x="548640" y="4709160"/>
            <a:ext cx="1109167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6" name="Icon circle"/>
          <p:cNvSpPr/>
          <p:nvPr/>
        </p:nvSpPr>
        <p:spPr>
          <a:xfrm>
            <a:off x="822960" y="5056632"/>
            <a:ext cx="594360" cy="594360"/>
          </a:xfrm>
          <a:prstGeom prst="ellipse">
            <a:avLst/>
          </a:prstGeom>
          <a:solidFill>
            <a:schemeClr val="accent2"/>
          </a:solidFill>
          <a:ln w="12700">
            <a:solidFill>
              <a:schemeClr val="accent2"/>
            </a:solidFill>
            <a:prstDash val="solid"/>
          </a:ln>
        </p:spPr>
      </p:sp>
      <p:pic>
        <p:nvPicPr>
          <p:cNvPr id="27" name="Image 4" descr="icon">    </p:cNvPr>
          <p:cNvPicPr>
            <a:picLocks noChangeAspect="1"/>
          </p:cNvPicPr>
          <p:nvPr/>
        </p:nvPicPr>
        <p:blipFill>
          <a:blip r:embed="rId5"/>
          <a:stretch>
            <a:fillRect/>
          </a:stretch>
        </p:blipFill>
        <p:spPr>
          <a:xfrm>
            <a:off x="977494" y="5211166"/>
            <a:ext cx="285293" cy="285293"/>
          </a:xfrm>
          <a:prstGeom prst="rect">
            <a:avLst/>
          </a:prstGeom>
        </p:spPr>
      </p:pic>
      <p:sp>
        <p:nvSpPr>
          <p:cNvPr id="28" name="Text 20"/>
          <p:cNvSpPr txBox="1"/>
          <p:nvPr/>
        </p:nvSpPr>
        <p:spPr>
          <a:xfrm>
            <a:off x="1645920" y="4892040"/>
            <a:ext cx="9720072" cy="411480"/>
          </a:xfrm>
          <a:prstGeom prst="rect">
            <a:avLst/>
          </a:prstGeom>
          <a:noFill/>
          <a:ln/>
        </p:spPr>
        <p:txBody>
          <a:bodyPr wrap="square" lIns="0" tIns="0" rIns="0" bIns="0" rtlCol="0" anchor="t"/>
          <a:lstStyle/>
          <a:p>
            <a:pPr indent="0" marL="0">
              <a:buNone/>
            </a:pPr>
            <a:r>
              <a:rPr lang="en-US" sz="1800" b="1" dirty="0">
                <a:solidFill>
                  <a:schemeClr val="tx2"/>
                </a:solidFill>
              </a:rPr>
              <a:t>Work with the people on the ground</a:t>
            </a:r>
            <a:endParaRPr lang="en-US" sz="1800" dirty="0"/>
          </a:p>
        </p:txBody>
      </p:sp>
      <p:sp>
        <p:nvSpPr>
          <p:cNvPr id="29" name="Text 21"/>
          <p:cNvSpPr txBox="1"/>
          <p:nvPr/>
        </p:nvSpPr>
        <p:spPr>
          <a:xfrm>
            <a:off x="1645920" y="5330952"/>
            <a:ext cx="9720072" cy="548640"/>
          </a:xfrm>
          <a:prstGeom prst="rect">
            <a:avLst/>
          </a:prstGeom>
          <a:noFill/>
          <a:ln/>
        </p:spPr>
        <p:txBody>
          <a:bodyPr wrap="square" lIns="0" tIns="0" rIns="0" bIns="0" rtlCol="0" anchor="t"/>
          <a:lstStyle/>
          <a:p>
            <a:pPr indent="0" marL="0">
              <a:buNone/>
            </a:pPr>
            <a:r>
              <a:rPr lang="en-US" sz="1400" dirty="0">
                <a:solidFill>
                  <a:schemeClr val="tx1"/>
                </a:solidFill>
              </a:rPr>
              <a:t>Operations, Support and drivers know what no dashboard shows.</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WHO DOES WHAT</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Six workstreams, each with one accountable owner</a:t>
            </a:r>
            <a:endParaRPr lang="en-US" sz="3200" dirty="0"/>
          </a:p>
        </p:txBody>
      </p:sp>
      <p:graphicFrame>
        <p:nvGraphicFramePr>
          <p:cNvPr id="18" name="Responsibility matrix"/>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3200400"/>
                <a:gridCol w="1188720"/>
                <a:gridCol w="1188720"/>
                <a:gridCol w="1188720"/>
                <a:gridCol w="1005840"/>
                <a:gridCol w="1828800"/>
                <a:gridCol w="1490472"/>
              </a:tblGrid>
              <a:tr h="530352">
                <a:tc>
                  <a:txBody>
                    <a:bodyPr/>
                    <a:lstStyle/>
                    <a:p>
                      <a:pPr indent="0" marL="0">
                        <a:buNone/>
                      </a:pPr>
                      <a:r>
                        <a:rPr lang="en-US" sz="1400" b="1" dirty="0">
                          <a:solidFill>
                            <a:schemeClr val="bg1"/>
                          </a:solidFill>
                        </a:rPr>
                        <a:t>Workstream</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Product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Mobile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Backend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QA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Ops / Support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FDE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530352">
                <a:tc>
                  <a:txBody>
                    <a:bodyPr/>
                    <a:lstStyle/>
                    <a:p>
                      <a:pPr indent="0" marL="0">
                        <a:buNone/>
                      </a:pPr>
                      <a:r>
                        <a:rPr lang="en-US" sz="1400" b="1" dirty="0">
                          <a:solidFill>
                            <a:schemeClr val="tx1"/>
                          </a:solidFill>
                        </a:rPr>
                        <a:t>1  Review analysis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rPr>
                        <a:t>A / 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30352">
                <a:tc>
                  <a:txBody>
                    <a:bodyPr/>
                    <a:lstStyle/>
                    <a:p>
                      <a:pPr indent="0" marL="0">
                        <a:buNone/>
                      </a:pPr>
                      <a:r>
                        <a:rPr lang="en-US" sz="1400" b="1" dirty="0">
                          <a:solidFill>
                            <a:schemeClr val="tx1"/>
                          </a:solidFill>
                        </a:rPr>
                        <a:t>2  Booking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3"/>
                          </a:solidFill>
                        </a:rPr>
                        <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30352">
                <a:tc>
                  <a:txBody>
                    <a:bodyPr/>
                    <a:lstStyle/>
                    <a:p>
                      <a:pPr indent="0" marL="0">
                        <a:buNone/>
                      </a:pPr>
                      <a:r>
                        <a:rPr lang="en-US" sz="1400" b="1" dirty="0">
                          <a:solidFill>
                            <a:schemeClr val="tx1"/>
                          </a:solidFill>
                        </a:rPr>
                        <a:t>3  No-show</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rPr>
                        <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30352">
                <a:tc>
                  <a:txBody>
                    <a:bodyPr/>
                    <a:lstStyle/>
                    <a:p>
                      <a:pPr indent="0" marL="0">
                        <a:buNone/>
                      </a:pPr>
                      <a:r>
                        <a:rPr lang="en-US" sz="1400" b="1" dirty="0">
                          <a:solidFill>
                            <a:schemeClr val="tx1"/>
                          </a:solidFill>
                        </a:rPr>
                        <a:t>4  Tracking and alerts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3"/>
                          </a:solidFill>
                        </a:rPr>
                        <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30352">
                <a:tc>
                  <a:txBody>
                    <a:bodyPr/>
                    <a:lstStyle/>
                    <a:p>
                      <a:pPr indent="0" marL="0">
                        <a:buNone/>
                      </a:pPr>
                      <a:r>
                        <a:rPr lang="en-US" sz="1400" b="1" dirty="0">
                          <a:solidFill>
                            <a:schemeClr val="tx1"/>
                          </a:solidFill>
                        </a:rPr>
                        <a:t>5  Operations link</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rPr>
                        <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30352">
                <a:tc>
                  <a:txBody>
                    <a:bodyPr/>
                    <a:lstStyle/>
                    <a:p>
                      <a:pPr indent="0" marL="0">
                        <a:buNone/>
                      </a:pPr>
                      <a:r>
                        <a:rPr lang="en-US" sz="1400" b="1" dirty="0">
                          <a:solidFill>
                            <a:schemeClr val="tx1"/>
                          </a:solidFill>
                        </a:rPr>
                        <a:t>6  Measuring and release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rPr>
                        <a:t>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C</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4"/>
                          </a:solidFill>
                        </a:rPr>
                        <a:t>I</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3"/>
                          </a:solidFill>
                        </a:rPr>
                        <a:t>A / 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548640" y="5806440"/>
            <a:ext cx="11091672" cy="320040"/>
          </a:xfrm>
          <a:prstGeom prst="rect">
            <a:avLst/>
          </a:prstGeom>
          <a:noFill/>
          <a:ln/>
        </p:spPr>
        <p:txBody>
          <a:bodyPr wrap="square" lIns="0" tIns="0" rIns="0" bIns="0" rtlCol="0" anchor="t"/>
          <a:lstStyle/>
          <a:p>
            <a:pPr indent="0" marL="0">
              <a:buNone/>
            </a:pPr>
            <a:r>
              <a:rPr lang="en-US" sz="1200" dirty="0">
                <a:solidFill>
                  <a:schemeClr val="accent4"/>
                </a:solidFill>
              </a:rPr>
              <a:t>A accountable   |   R does the work   |   C consulted   |   I informed. Names are filled in on day one.</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30-DAY PLAN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Six phases, each with a gate before we move on</a:t>
            </a:r>
            <a:endParaRPr lang="en-US" sz="3200" dirty="0"/>
          </a:p>
        </p:txBody>
      </p:sp>
      <p:sp>
        <p:nvSpPr>
          <p:cNvPr id="5" name="Timeline line"/>
          <p:cNvSpPr/>
          <p:nvPr/>
        </p:nvSpPr>
        <p:spPr>
          <a:xfrm>
            <a:off x="1408176" y="2148840"/>
            <a:ext cx="9372600" cy="0"/>
          </a:xfrm>
          <a:prstGeom prst="line">
            <a:avLst/>
          </a:prstGeom>
          <a:noFill/>
          <a:ln w="38100">
            <a:solidFill>
              <a:schemeClr val="accent6"/>
            </a:solidFill>
            <a:prstDash val="solid"/>
          </a:ln>
        </p:spPr>
      </p:sp>
      <p:sp>
        <p:nvSpPr>
          <p:cNvPr id="6" name="Number badge"/>
          <p:cNvSpPr/>
          <p:nvPr/>
        </p:nvSpPr>
        <p:spPr>
          <a:xfrm>
            <a:off x="1133856" y="1874520"/>
            <a:ext cx="548640" cy="548640"/>
          </a:xfrm>
          <a:prstGeom prst="ellipse">
            <a:avLst/>
          </a:prstGeom>
          <a:solidFill>
            <a:schemeClr val="accent2"/>
          </a:solidFill>
          <a:ln w="12700">
            <a:solidFill>
              <a:schemeClr val="accent2"/>
            </a:solidFill>
            <a:prstDash val="solid"/>
          </a:ln>
        </p:spPr>
      </p:sp>
      <p:sp>
        <p:nvSpPr>
          <p:cNvPr id="7" name="Text 4"/>
          <p:cNvSpPr txBox="1"/>
          <p:nvPr/>
        </p:nvSpPr>
        <p:spPr>
          <a:xfrm>
            <a:off x="113385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8" name="Phase card"/>
          <p:cNvSpPr/>
          <p:nvPr/>
        </p:nvSpPr>
        <p:spPr>
          <a:xfrm>
            <a:off x="54864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68580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0</a:t>
            </a:r>
            <a:endParaRPr lang="en-US" sz="1200" dirty="0"/>
          </a:p>
        </p:txBody>
      </p:sp>
      <p:sp>
        <p:nvSpPr>
          <p:cNvPr id="10" name="Text 7"/>
          <p:cNvSpPr txBox="1"/>
          <p:nvPr/>
        </p:nvSpPr>
        <p:spPr>
          <a:xfrm>
            <a:off x="68580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Days 1-2</a:t>
            </a:r>
            <a:endParaRPr lang="en-US" sz="1600" dirty="0"/>
          </a:p>
        </p:txBody>
      </p:sp>
      <p:sp>
        <p:nvSpPr>
          <p:cNvPr id="11" name="Text 8"/>
          <p:cNvSpPr txBox="1"/>
          <p:nvPr/>
        </p:nvSpPr>
        <p:spPr>
          <a:xfrm>
            <a:off x="68580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Align and fix the data</a:t>
            </a:r>
            <a:endParaRPr lang="en-US" sz="1400" dirty="0"/>
          </a:p>
        </p:txBody>
      </p:sp>
      <p:sp>
        <p:nvSpPr>
          <p:cNvPr id="12" name="Text 9"/>
          <p:cNvSpPr txBox="1"/>
          <p:nvPr/>
        </p:nvSpPr>
        <p:spPr>
          <a:xfrm>
            <a:off x="68580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Definitions signed off</a:t>
            </a:r>
            <a:endParaRPr lang="en-US" sz="1400" dirty="0"/>
          </a:p>
        </p:txBody>
      </p:sp>
      <p:sp>
        <p:nvSpPr>
          <p:cNvPr id="13" name="Number badge"/>
          <p:cNvSpPr/>
          <p:nvPr/>
        </p:nvSpPr>
        <p:spPr>
          <a:xfrm>
            <a:off x="3008376" y="1874520"/>
            <a:ext cx="548640" cy="548640"/>
          </a:xfrm>
          <a:prstGeom prst="ellipse">
            <a:avLst/>
          </a:prstGeom>
          <a:solidFill>
            <a:schemeClr val="accent2"/>
          </a:solidFill>
          <a:ln w="12700">
            <a:solidFill>
              <a:schemeClr val="accent2"/>
            </a:solidFill>
            <a:prstDash val="solid"/>
          </a:ln>
        </p:spPr>
      </p:sp>
      <p:sp>
        <p:nvSpPr>
          <p:cNvPr id="14" name="Text 11"/>
          <p:cNvSpPr txBox="1"/>
          <p:nvPr/>
        </p:nvSpPr>
        <p:spPr>
          <a:xfrm>
            <a:off x="300837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5" name="Phase card"/>
          <p:cNvSpPr/>
          <p:nvPr/>
        </p:nvSpPr>
        <p:spPr>
          <a:xfrm>
            <a:off x="242316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6" name="Text 13"/>
          <p:cNvSpPr txBox="1"/>
          <p:nvPr/>
        </p:nvSpPr>
        <p:spPr>
          <a:xfrm>
            <a:off x="256032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1</a:t>
            </a:r>
            <a:endParaRPr lang="en-US" sz="1200" dirty="0"/>
          </a:p>
        </p:txBody>
      </p:sp>
      <p:sp>
        <p:nvSpPr>
          <p:cNvPr id="17" name="Text 14"/>
          <p:cNvSpPr txBox="1"/>
          <p:nvPr/>
        </p:nvSpPr>
        <p:spPr>
          <a:xfrm>
            <a:off x="256032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Days 3-5</a:t>
            </a:r>
            <a:endParaRPr lang="en-US" sz="1600" dirty="0"/>
          </a:p>
        </p:txBody>
      </p:sp>
      <p:sp>
        <p:nvSpPr>
          <p:cNvPr id="18" name="Text 15"/>
          <p:cNvSpPr txBox="1"/>
          <p:nvPr/>
        </p:nvSpPr>
        <p:spPr>
          <a:xfrm>
            <a:off x="256032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Trace real cases</a:t>
            </a:r>
            <a:endParaRPr lang="en-US" sz="1400" dirty="0"/>
          </a:p>
        </p:txBody>
      </p:sp>
      <p:sp>
        <p:nvSpPr>
          <p:cNvPr id="19" name="Text 16"/>
          <p:cNvSpPr txBox="1"/>
          <p:nvPr/>
        </p:nvSpPr>
        <p:spPr>
          <a:xfrm>
            <a:off x="256032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One idea confirmed or rejected</a:t>
            </a:r>
            <a:endParaRPr lang="en-US" sz="1400" dirty="0"/>
          </a:p>
        </p:txBody>
      </p:sp>
      <p:sp>
        <p:nvSpPr>
          <p:cNvPr id="20" name="Number badge"/>
          <p:cNvSpPr/>
          <p:nvPr/>
        </p:nvSpPr>
        <p:spPr>
          <a:xfrm>
            <a:off x="4882896" y="1874520"/>
            <a:ext cx="548640" cy="548640"/>
          </a:xfrm>
          <a:prstGeom prst="ellipse">
            <a:avLst/>
          </a:prstGeom>
          <a:solidFill>
            <a:schemeClr val="accent2"/>
          </a:solidFill>
          <a:ln w="12700">
            <a:solidFill>
              <a:schemeClr val="accent2"/>
            </a:solidFill>
            <a:prstDash val="solid"/>
          </a:ln>
        </p:spPr>
      </p:sp>
      <p:sp>
        <p:nvSpPr>
          <p:cNvPr id="21" name="Text 18"/>
          <p:cNvSpPr txBox="1"/>
          <p:nvPr/>
        </p:nvSpPr>
        <p:spPr>
          <a:xfrm>
            <a:off x="488289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2" name="Phase card"/>
          <p:cNvSpPr/>
          <p:nvPr/>
        </p:nvSpPr>
        <p:spPr>
          <a:xfrm>
            <a:off x="429768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443484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2</a:t>
            </a:r>
            <a:endParaRPr lang="en-US" sz="1200" dirty="0"/>
          </a:p>
        </p:txBody>
      </p:sp>
      <p:sp>
        <p:nvSpPr>
          <p:cNvPr id="24" name="Text 21"/>
          <p:cNvSpPr txBox="1"/>
          <p:nvPr/>
        </p:nvSpPr>
        <p:spPr>
          <a:xfrm>
            <a:off x="443484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Days 6-7</a:t>
            </a:r>
            <a:endParaRPr lang="en-US" sz="1600" dirty="0"/>
          </a:p>
        </p:txBody>
      </p:sp>
      <p:sp>
        <p:nvSpPr>
          <p:cNvPr id="25" name="Text 22"/>
          <p:cNvSpPr txBox="1"/>
          <p:nvPr/>
        </p:nvSpPr>
        <p:spPr>
          <a:xfrm>
            <a:off x="443484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Decide</a:t>
            </a:r>
            <a:endParaRPr lang="en-US" sz="1400" dirty="0"/>
          </a:p>
        </p:txBody>
      </p:sp>
      <p:sp>
        <p:nvSpPr>
          <p:cNvPr id="26" name="Text 23"/>
          <p:cNvSpPr txBox="1"/>
          <p:nvPr/>
        </p:nvSpPr>
        <p:spPr>
          <a:xfrm>
            <a:off x="443484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Fix approved</a:t>
            </a:r>
            <a:endParaRPr lang="en-US" sz="1400" dirty="0"/>
          </a:p>
        </p:txBody>
      </p:sp>
      <p:sp>
        <p:nvSpPr>
          <p:cNvPr id="27" name="Number badge"/>
          <p:cNvSpPr/>
          <p:nvPr/>
        </p:nvSpPr>
        <p:spPr>
          <a:xfrm>
            <a:off x="6757416" y="1874520"/>
            <a:ext cx="548640" cy="548640"/>
          </a:xfrm>
          <a:prstGeom prst="ellipse">
            <a:avLst/>
          </a:prstGeom>
          <a:solidFill>
            <a:schemeClr val="accent2"/>
          </a:solidFill>
          <a:ln w="12700">
            <a:solidFill>
              <a:schemeClr val="accent2"/>
            </a:solidFill>
            <a:prstDash val="solid"/>
          </a:ln>
        </p:spPr>
      </p:sp>
      <p:sp>
        <p:nvSpPr>
          <p:cNvPr id="28" name="Text 25"/>
          <p:cNvSpPr txBox="1"/>
          <p:nvPr/>
        </p:nvSpPr>
        <p:spPr>
          <a:xfrm>
            <a:off x="675741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Phase card"/>
          <p:cNvSpPr/>
          <p:nvPr/>
        </p:nvSpPr>
        <p:spPr>
          <a:xfrm>
            <a:off x="617220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30" name="Text 27"/>
          <p:cNvSpPr txBox="1"/>
          <p:nvPr/>
        </p:nvSpPr>
        <p:spPr>
          <a:xfrm>
            <a:off x="630936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3</a:t>
            </a:r>
            <a:endParaRPr lang="en-US" sz="1200" dirty="0"/>
          </a:p>
        </p:txBody>
      </p:sp>
      <p:sp>
        <p:nvSpPr>
          <p:cNvPr id="31" name="Text 28"/>
          <p:cNvSpPr txBox="1"/>
          <p:nvPr/>
        </p:nvSpPr>
        <p:spPr>
          <a:xfrm>
            <a:off x="630936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Week 2</a:t>
            </a:r>
            <a:endParaRPr lang="en-US" sz="1600" dirty="0"/>
          </a:p>
        </p:txBody>
      </p:sp>
      <p:sp>
        <p:nvSpPr>
          <p:cNvPr id="32" name="Text 29"/>
          <p:cNvSpPr txBox="1"/>
          <p:nvPr/>
        </p:nvSpPr>
        <p:spPr>
          <a:xfrm>
            <a:off x="630936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Build</a:t>
            </a:r>
            <a:endParaRPr lang="en-US" sz="1400" dirty="0"/>
          </a:p>
        </p:txBody>
      </p:sp>
      <p:sp>
        <p:nvSpPr>
          <p:cNvPr id="33" name="Text 30"/>
          <p:cNvSpPr txBox="1"/>
          <p:nvPr/>
        </p:nvSpPr>
        <p:spPr>
          <a:xfrm>
            <a:off x="630936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Tests pass, dashboard live</a:t>
            </a:r>
            <a:endParaRPr lang="en-US" sz="1400" dirty="0"/>
          </a:p>
        </p:txBody>
      </p:sp>
      <p:sp>
        <p:nvSpPr>
          <p:cNvPr id="34" name="Number badge"/>
          <p:cNvSpPr/>
          <p:nvPr/>
        </p:nvSpPr>
        <p:spPr>
          <a:xfrm>
            <a:off x="8631936" y="1874520"/>
            <a:ext cx="548640" cy="548640"/>
          </a:xfrm>
          <a:prstGeom prst="ellipse">
            <a:avLst/>
          </a:prstGeom>
          <a:solidFill>
            <a:schemeClr val="accent2"/>
          </a:solidFill>
          <a:ln w="12700">
            <a:solidFill>
              <a:schemeClr val="accent2"/>
            </a:solidFill>
            <a:prstDash val="solid"/>
          </a:ln>
        </p:spPr>
      </p:sp>
      <p:sp>
        <p:nvSpPr>
          <p:cNvPr id="35" name="Text 32"/>
          <p:cNvSpPr txBox="1"/>
          <p:nvPr/>
        </p:nvSpPr>
        <p:spPr>
          <a:xfrm>
            <a:off x="863193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6" name="Phase card"/>
          <p:cNvSpPr/>
          <p:nvPr/>
        </p:nvSpPr>
        <p:spPr>
          <a:xfrm>
            <a:off x="804672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37" name="Text 34"/>
          <p:cNvSpPr txBox="1"/>
          <p:nvPr/>
        </p:nvSpPr>
        <p:spPr>
          <a:xfrm>
            <a:off x="818388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4</a:t>
            </a:r>
            <a:endParaRPr lang="en-US" sz="1200" dirty="0"/>
          </a:p>
        </p:txBody>
      </p:sp>
      <p:sp>
        <p:nvSpPr>
          <p:cNvPr id="38" name="Text 35"/>
          <p:cNvSpPr txBox="1"/>
          <p:nvPr/>
        </p:nvSpPr>
        <p:spPr>
          <a:xfrm>
            <a:off x="818388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Week 3</a:t>
            </a:r>
            <a:endParaRPr lang="en-US" sz="1600" dirty="0"/>
          </a:p>
        </p:txBody>
      </p:sp>
      <p:sp>
        <p:nvSpPr>
          <p:cNvPr id="39" name="Text 36"/>
          <p:cNvSpPr txBox="1"/>
          <p:nvPr/>
        </p:nvSpPr>
        <p:spPr>
          <a:xfrm>
            <a:off x="818388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Release</a:t>
            </a:r>
            <a:endParaRPr lang="en-US" sz="1400" dirty="0"/>
          </a:p>
        </p:txBody>
      </p:sp>
      <p:sp>
        <p:nvSpPr>
          <p:cNvPr id="40" name="Text 37"/>
          <p:cNvSpPr txBox="1"/>
          <p:nvPr/>
        </p:nvSpPr>
        <p:spPr>
          <a:xfrm>
            <a:off x="818388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Guardrails held</a:t>
            </a:r>
            <a:endParaRPr lang="en-US" sz="1400" dirty="0"/>
          </a:p>
        </p:txBody>
      </p:sp>
      <p:sp>
        <p:nvSpPr>
          <p:cNvPr id="41" name="Number badge"/>
          <p:cNvSpPr/>
          <p:nvPr/>
        </p:nvSpPr>
        <p:spPr>
          <a:xfrm>
            <a:off x="10506456" y="1874520"/>
            <a:ext cx="548640" cy="548640"/>
          </a:xfrm>
          <a:prstGeom prst="ellipse">
            <a:avLst/>
          </a:prstGeom>
          <a:solidFill>
            <a:schemeClr val="accent3"/>
          </a:solidFill>
          <a:ln w="12700">
            <a:solidFill>
              <a:schemeClr val="accent3"/>
            </a:solidFill>
            <a:prstDash val="solid"/>
          </a:ln>
        </p:spPr>
      </p:sp>
      <p:sp>
        <p:nvSpPr>
          <p:cNvPr id="42" name="Text 39"/>
          <p:cNvSpPr txBox="1"/>
          <p:nvPr/>
        </p:nvSpPr>
        <p:spPr>
          <a:xfrm>
            <a:off x="10506456" y="187452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43" name="Phase card"/>
          <p:cNvSpPr/>
          <p:nvPr/>
        </p:nvSpPr>
        <p:spPr>
          <a:xfrm>
            <a:off x="9921240" y="2651760"/>
            <a:ext cx="1719072" cy="3383280"/>
          </a:xfrm>
          <a:prstGeom prst="roundRect">
            <a:avLst>
              <a:gd name="adj" fmla="val 4255"/>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44" name="Text 41"/>
          <p:cNvSpPr txBox="1"/>
          <p:nvPr/>
        </p:nvSpPr>
        <p:spPr>
          <a:xfrm>
            <a:off x="10058400" y="2788920"/>
            <a:ext cx="1444752" cy="320040"/>
          </a:xfrm>
          <a:prstGeom prst="rect">
            <a:avLst/>
          </a:prstGeom>
          <a:noFill/>
          <a:ln/>
        </p:spPr>
        <p:txBody>
          <a:bodyPr wrap="square" lIns="0" tIns="0" rIns="0" bIns="0" rtlCol="0" anchor="t"/>
          <a:lstStyle/>
          <a:p>
            <a:pPr indent="0" marL="0">
              <a:buNone/>
            </a:pPr>
            <a:r>
              <a:rPr lang="en-US" sz="1200" b="1" spc="100" kern="0" dirty="0">
                <a:solidFill>
                  <a:schemeClr val="accent2"/>
                </a:solidFill>
              </a:rPr>
              <a:t>Phase 5</a:t>
            </a:r>
            <a:endParaRPr lang="en-US" sz="1200" dirty="0"/>
          </a:p>
        </p:txBody>
      </p:sp>
      <p:sp>
        <p:nvSpPr>
          <p:cNvPr id="45" name="Text 42"/>
          <p:cNvSpPr txBox="1"/>
          <p:nvPr/>
        </p:nvSpPr>
        <p:spPr>
          <a:xfrm>
            <a:off x="10058400" y="3108960"/>
            <a:ext cx="1444752" cy="365760"/>
          </a:xfrm>
          <a:prstGeom prst="rect">
            <a:avLst/>
          </a:prstGeom>
          <a:noFill/>
          <a:ln/>
        </p:spPr>
        <p:txBody>
          <a:bodyPr wrap="square" lIns="0" tIns="0" rIns="0" bIns="0" rtlCol="0" anchor="t"/>
          <a:lstStyle/>
          <a:p>
            <a:pPr indent="0" marL="0">
              <a:buNone/>
            </a:pPr>
            <a:r>
              <a:rPr lang="en-US" sz="1600" b="1" dirty="0">
                <a:solidFill>
                  <a:schemeClr val="tx2"/>
                </a:solidFill>
              </a:rPr>
              <a:t>Week 4</a:t>
            </a:r>
            <a:endParaRPr lang="en-US" sz="1600" dirty="0"/>
          </a:p>
        </p:txBody>
      </p:sp>
      <p:sp>
        <p:nvSpPr>
          <p:cNvPr id="46" name="Text 43"/>
          <p:cNvSpPr txBox="1"/>
          <p:nvPr/>
        </p:nvSpPr>
        <p:spPr>
          <a:xfrm>
            <a:off x="10058400" y="3566160"/>
            <a:ext cx="1444752" cy="914400"/>
          </a:xfrm>
          <a:prstGeom prst="rect">
            <a:avLst/>
          </a:prstGeom>
          <a:noFill/>
          <a:ln/>
        </p:spPr>
        <p:txBody>
          <a:bodyPr wrap="square" lIns="0" tIns="0" rIns="0" bIns="0" rtlCol="0" anchor="t"/>
          <a:lstStyle/>
          <a:p>
            <a:pPr indent="0" marL="0">
              <a:buNone/>
            </a:pPr>
            <a:r>
              <a:rPr lang="en-US" sz="1400" dirty="0">
                <a:solidFill>
                  <a:schemeClr val="tx1"/>
                </a:solidFill>
              </a:rPr>
              <a:t>Learn</a:t>
            </a:r>
            <a:endParaRPr lang="en-US" sz="1400" dirty="0"/>
          </a:p>
        </p:txBody>
      </p:sp>
      <p:sp>
        <p:nvSpPr>
          <p:cNvPr id="47" name="Text 44"/>
          <p:cNvSpPr txBox="1"/>
          <p:nvPr/>
        </p:nvSpPr>
        <p:spPr>
          <a:xfrm>
            <a:off x="10058400" y="4754880"/>
            <a:ext cx="1444752" cy="1188720"/>
          </a:xfrm>
          <a:prstGeom prst="rect">
            <a:avLst/>
          </a:prstGeom>
          <a:noFill/>
          <a:ln/>
        </p:spPr>
        <p:txBody>
          <a:bodyPr wrap="square" lIns="0" tIns="0" rIns="0" bIns="0" rtlCol="0" anchor="t"/>
          <a:lstStyle/>
          <a:p>
            <a:pPr indent="0" marL="0">
              <a:buNone/>
            </a:pPr>
            <a:r>
              <a:rPr lang="en-US" sz="1100" b="1" dirty="0">
                <a:solidFill>
                  <a:schemeClr val="accent4"/>
                </a:solidFill>
              </a:rPr>
              <a:t>Gate</a:t>
            </a:r>
            <a:endParaRPr lang="en-US" sz="1400" dirty="0"/>
          </a:p>
          <a:p>
            <a:pPr indent="0" marL="0">
              <a:buNone/>
            </a:pPr>
            <a:r>
              <a:rPr lang="en-US" sz="1400" b="1" dirty="0">
                <a:solidFill>
                  <a:schemeClr val="tx1"/>
                </a:solidFill>
              </a:rPr>
              <a:t>Readout delivered</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EXECUTION PLAN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Days 1 to 7: align, trace and decide</a:t>
            </a:r>
            <a:endParaRPr lang="en-US" sz="3200" dirty="0"/>
          </a:p>
        </p:txBody>
      </p:sp>
      <p:sp>
        <p:nvSpPr>
          <p:cNvPr id="5" name="Phase detail card"/>
          <p:cNvSpPr/>
          <p:nvPr/>
        </p:nvSpPr>
        <p:spPr>
          <a:xfrm>
            <a:off x="54864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82296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0  |  DAYS 1-2</a:t>
            </a:r>
            <a:endParaRPr lang="en-US" sz="1200" dirty="0"/>
          </a:p>
        </p:txBody>
      </p:sp>
      <p:sp>
        <p:nvSpPr>
          <p:cNvPr id="7" name="Text 4"/>
          <p:cNvSpPr txBox="1"/>
          <p:nvPr/>
        </p:nvSpPr>
        <p:spPr>
          <a:xfrm>
            <a:off x="82296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Align and fix the data</a:t>
            </a:r>
            <a:endParaRPr lang="en-US" sz="1900" dirty="0"/>
          </a:p>
        </p:txBody>
      </p:sp>
      <p:sp>
        <p:nvSpPr>
          <p:cNvPr id="8" name="Text 5"/>
          <p:cNvSpPr txBox="1"/>
          <p:nvPr/>
        </p:nvSpPr>
        <p:spPr>
          <a:xfrm>
            <a:off x="82296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Kick-off with Product, Support, Ops, Mobile, Backend</a:t>
            </a:r>
            <a:endParaRPr lang="en-US" sz="1400" dirty="0"/>
          </a:p>
          <a:p>
            <a:pPr marL="342900" indent="-342900">
              <a:spcAft>
                <a:spcPts val="600"/>
              </a:spcAft>
              <a:buSzPct val="100000"/>
              <a:buChar char="•"/>
            </a:pPr>
            <a:r>
              <a:rPr lang="en-US" sz="1400" dirty="0">
                <a:solidFill>
                  <a:schemeClr val="tx1"/>
                </a:solidFill>
              </a:rPr>
              <a:t>Agree what mismatch, stale location and wrong no-show mean</a:t>
            </a:r>
            <a:endParaRPr lang="en-US" sz="1400" dirty="0"/>
          </a:p>
          <a:p>
            <a:pPr marL="342900" indent="-342900">
              <a:spcAft>
                <a:spcPts val="600"/>
              </a:spcAft>
              <a:buSzPct val="100000"/>
              <a:buChar char="•"/>
            </a:pPr>
            <a:r>
              <a:rPr lang="en-US" sz="1400" dirty="0">
                <a:solidFill>
                  <a:schemeClr val="tx1"/>
                </a:solidFill>
              </a:rPr>
              <a:t>Record listing score and rating count, with date and time</a:t>
            </a:r>
            <a:endParaRPr lang="en-US" sz="1400" dirty="0"/>
          </a:p>
          <a:p>
            <a:pPr marL="342900" indent="-342900">
              <a:spcAft>
                <a:spcPts val="600"/>
              </a:spcAft>
              <a:buSzPct val="100000"/>
              <a:buChar char="•"/>
            </a:pPr>
            <a:r>
              <a:rPr lang="en-US" sz="1400" dirty="0">
                <a:solidFill>
                  <a:schemeClr val="tx1"/>
                </a:solidFill>
              </a:rPr>
              <a:t>Fix filter_score_with and re-run the pull</a:t>
            </a:r>
            <a:endParaRPr lang="en-US" sz="1400" dirty="0"/>
          </a:p>
          <a:p>
            <a:pPr marL="342900" indent="-342900">
              <a:spcAft>
                <a:spcPts val="600"/>
              </a:spcAft>
              <a:buSzPct val="100000"/>
              <a:buChar char="•"/>
            </a:pPr>
            <a:r>
              <a:rPr lang="en-US" sz="1400" dirty="0">
                <a:solidFill>
                  <a:schemeClr val="tx1"/>
                </a:solidFill>
              </a:rPr>
              <a:t>Hand-check 50 to 100 tags</a:t>
            </a:r>
            <a:endParaRPr lang="en-US" sz="1400" dirty="0"/>
          </a:p>
        </p:txBody>
      </p:sp>
      <p:sp>
        <p:nvSpPr>
          <p:cNvPr id="9" name="Gate card"/>
          <p:cNvSpPr/>
          <p:nvPr/>
        </p:nvSpPr>
        <p:spPr>
          <a:xfrm>
            <a:off x="731520" y="5349240"/>
            <a:ext cx="3227832" cy="685800"/>
          </a:xfrm>
          <a:prstGeom prst="roundRect">
            <a:avLst>
              <a:gd name="adj" fmla="val 10667"/>
            </a:avLst>
          </a:prstGeom>
          <a:solidFill>
            <a:schemeClr val="bg2"/>
          </a:solidFill>
          <a:ln w="12700">
            <a:solidFill>
              <a:schemeClr val="bg2"/>
            </a:solidFill>
            <a:prstDash val="solid"/>
          </a:ln>
        </p:spPr>
      </p:sp>
      <p:sp>
        <p:nvSpPr>
          <p:cNvPr id="10" name="Text 7"/>
          <p:cNvSpPr txBox="1"/>
          <p:nvPr/>
        </p:nvSpPr>
        <p:spPr>
          <a:xfrm>
            <a:off x="86868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Definitions signed off</a:t>
            </a:r>
            <a:endParaRPr lang="en-US" sz="1300" dirty="0"/>
          </a:p>
        </p:txBody>
      </p:sp>
      <p:sp>
        <p:nvSpPr>
          <p:cNvPr id="11" name="Phase detail card"/>
          <p:cNvSpPr/>
          <p:nvPr/>
        </p:nvSpPr>
        <p:spPr>
          <a:xfrm>
            <a:off x="429768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457200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1  |  DAYS 3-5</a:t>
            </a:r>
            <a:endParaRPr lang="en-US" sz="1200" dirty="0"/>
          </a:p>
        </p:txBody>
      </p:sp>
      <p:sp>
        <p:nvSpPr>
          <p:cNvPr id="13" name="Text 10"/>
          <p:cNvSpPr txBox="1"/>
          <p:nvPr/>
        </p:nvSpPr>
        <p:spPr>
          <a:xfrm>
            <a:off x="457200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Trace real cases</a:t>
            </a:r>
            <a:endParaRPr lang="en-US" sz="1900" dirty="0"/>
          </a:p>
        </p:txBody>
      </p:sp>
      <p:sp>
        <p:nvSpPr>
          <p:cNvPr id="14" name="Text 11"/>
          <p:cNvSpPr txBox="1"/>
          <p:nvPr/>
        </p:nvSpPr>
        <p:spPr>
          <a:xfrm>
            <a:off x="457200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Take a small set of real cases, identities removed</a:t>
            </a:r>
            <a:endParaRPr lang="en-US" sz="1400" dirty="0"/>
          </a:p>
          <a:p>
            <a:pPr marL="342900" indent="-342900">
              <a:spcAft>
                <a:spcPts val="600"/>
              </a:spcAft>
              <a:buSzPct val="100000"/>
              <a:buChar char="•"/>
            </a:pPr>
            <a:r>
              <a:rPr lang="en-US" sz="1400" dirty="0">
                <a:solidFill>
                  <a:schemeClr val="tx1"/>
                </a:solidFill>
              </a:rPr>
              <a:t>Follow each from tap to saved booking, vehicle update and alert</a:t>
            </a:r>
            <a:endParaRPr lang="en-US" sz="1400" dirty="0"/>
          </a:p>
          <a:p>
            <a:pPr marL="342900" indent="-342900">
              <a:spcAft>
                <a:spcPts val="600"/>
              </a:spcAft>
              <a:buSzPct val="100000"/>
              <a:buChar char="•"/>
            </a:pPr>
            <a:r>
              <a:rPr lang="en-US" sz="1400" dirty="0">
                <a:solidFill>
                  <a:schemeClr val="tx1"/>
                </a:solidFill>
              </a:rPr>
              <a:t>Start with booking and no-show disputes</a:t>
            </a:r>
            <a:endParaRPr lang="en-US" sz="1400" dirty="0"/>
          </a:p>
          <a:p>
            <a:pPr marL="342900" indent="-342900">
              <a:spcAft>
                <a:spcPts val="600"/>
              </a:spcAft>
              <a:buSzPct val="100000"/>
              <a:buChar char="•"/>
            </a:pPr>
            <a:r>
              <a:rPr lang="en-US" sz="1400" dirty="0">
                <a:solidFill>
                  <a:schemeClr val="tx1"/>
                </a:solidFill>
              </a:rPr>
              <a:t>Write first baseline queries</a:t>
            </a:r>
            <a:endParaRPr lang="en-US" sz="1400" dirty="0"/>
          </a:p>
        </p:txBody>
      </p:sp>
      <p:sp>
        <p:nvSpPr>
          <p:cNvPr id="15" name="Gate card"/>
          <p:cNvSpPr/>
          <p:nvPr/>
        </p:nvSpPr>
        <p:spPr>
          <a:xfrm>
            <a:off x="4480560" y="5349240"/>
            <a:ext cx="3227832" cy="685800"/>
          </a:xfrm>
          <a:prstGeom prst="roundRect">
            <a:avLst>
              <a:gd name="adj" fmla="val 10667"/>
            </a:avLst>
          </a:prstGeom>
          <a:solidFill>
            <a:schemeClr val="bg2"/>
          </a:solidFill>
          <a:ln w="12700">
            <a:solidFill>
              <a:schemeClr val="bg2"/>
            </a:solidFill>
            <a:prstDash val="solid"/>
          </a:ln>
        </p:spPr>
      </p:sp>
      <p:sp>
        <p:nvSpPr>
          <p:cNvPr id="16" name="Text 13"/>
          <p:cNvSpPr txBox="1"/>
          <p:nvPr/>
        </p:nvSpPr>
        <p:spPr>
          <a:xfrm>
            <a:off x="461772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One idea confirmed or rejected</a:t>
            </a:r>
            <a:endParaRPr lang="en-US" sz="1300" dirty="0"/>
          </a:p>
        </p:txBody>
      </p:sp>
      <p:sp>
        <p:nvSpPr>
          <p:cNvPr id="17" name="Phase detail card"/>
          <p:cNvSpPr/>
          <p:nvPr/>
        </p:nvSpPr>
        <p:spPr>
          <a:xfrm>
            <a:off x="804672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832104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2  |  DAYS 6-7</a:t>
            </a:r>
            <a:endParaRPr lang="en-US" sz="1200" dirty="0"/>
          </a:p>
        </p:txBody>
      </p:sp>
      <p:sp>
        <p:nvSpPr>
          <p:cNvPr id="19" name="Text 16"/>
          <p:cNvSpPr txBox="1"/>
          <p:nvPr/>
        </p:nvSpPr>
        <p:spPr>
          <a:xfrm>
            <a:off x="832104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Decide</a:t>
            </a:r>
            <a:endParaRPr lang="en-US" sz="1900" dirty="0"/>
          </a:p>
        </p:txBody>
      </p:sp>
      <p:sp>
        <p:nvSpPr>
          <p:cNvPr id="20" name="Text 17"/>
          <p:cNvSpPr txBox="1"/>
          <p:nvPr/>
        </p:nvSpPr>
        <p:spPr>
          <a:xfrm>
            <a:off x="832104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Review evidence with people closest to the work</a:t>
            </a:r>
            <a:endParaRPr lang="en-US" sz="1400" dirty="0"/>
          </a:p>
          <a:p>
            <a:pPr marL="342900" indent="-342900">
              <a:spcAft>
                <a:spcPts val="600"/>
              </a:spcAft>
              <a:buSzPct val="100000"/>
              <a:buChar char="•"/>
            </a:pPr>
            <a:r>
              <a:rPr lang="en-US" sz="1400" dirty="0">
                <a:solidFill>
                  <a:schemeClr val="tx1"/>
                </a:solidFill>
              </a:rPr>
              <a:t>Separate app bugs from network, phone, driver and ops causes</a:t>
            </a:r>
            <a:endParaRPr lang="en-US" sz="1400" dirty="0"/>
          </a:p>
          <a:p>
            <a:pPr marL="342900" indent="-342900">
              <a:spcAft>
                <a:spcPts val="600"/>
              </a:spcAft>
              <a:buSzPct val="100000"/>
              <a:buChar char="•"/>
            </a:pPr>
            <a:r>
              <a:rPr lang="en-US" sz="1400" dirty="0">
                <a:solidFill>
                  <a:schemeClr val="tx1"/>
                </a:solidFill>
              </a:rPr>
              <a:t>Pick the smallest fix with the biggest effect</a:t>
            </a:r>
            <a:endParaRPr lang="en-US" sz="1400" dirty="0"/>
          </a:p>
          <a:p>
            <a:pPr marL="342900" indent="-342900">
              <a:spcAft>
                <a:spcPts val="600"/>
              </a:spcAft>
              <a:buSzPct val="100000"/>
              <a:buChar char="•"/>
            </a:pPr>
            <a:r>
              <a:rPr lang="en-US" sz="1400" dirty="0">
                <a:solidFill>
                  <a:schemeClr val="tx1"/>
                </a:solidFill>
              </a:rPr>
              <a:t>Agree tests, watch list and rollback rule</a:t>
            </a:r>
            <a:endParaRPr lang="en-US" sz="1400" dirty="0"/>
          </a:p>
        </p:txBody>
      </p:sp>
      <p:sp>
        <p:nvSpPr>
          <p:cNvPr id="21" name="Gate card"/>
          <p:cNvSpPr/>
          <p:nvPr/>
        </p:nvSpPr>
        <p:spPr>
          <a:xfrm>
            <a:off x="8229600" y="5349240"/>
            <a:ext cx="3227832" cy="685800"/>
          </a:xfrm>
          <a:prstGeom prst="roundRect">
            <a:avLst>
              <a:gd name="adj" fmla="val 10667"/>
            </a:avLst>
          </a:prstGeom>
          <a:solidFill>
            <a:schemeClr val="bg2"/>
          </a:solidFill>
          <a:ln w="12700">
            <a:solidFill>
              <a:schemeClr val="bg2"/>
            </a:solidFill>
            <a:prstDash val="solid"/>
          </a:ln>
        </p:spPr>
      </p:sp>
      <p:sp>
        <p:nvSpPr>
          <p:cNvPr id="22" name="Text 19"/>
          <p:cNvSpPr txBox="1"/>
          <p:nvPr/>
        </p:nvSpPr>
        <p:spPr>
          <a:xfrm>
            <a:off x="836676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Product and Engineering approve</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EXECUTION PLAN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Weeks 2 to 4: build, release and learn</a:t>
            </a:r>
            <a:endParaRPr lang="en-US" sz="3200" dirty="0"/>
          </a:p>
        </p:txBody>
      </p:sp>
      <p:sp>
        <p:nvSpPr>
          <p:cNvPr id="5" name="Phase detail card"/>
          <p:cNvSpPr/>
          <p:nvPr/>
        </p:nvSpPr>
        <p:spPr>
          <a:xfrm>
            <a:off x="54864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82296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3  |  WEEK 2</a:t>
            </a:r>
            <a:endParaRPr lang="en-US" sz="1200" dirty="0"/>
          </a:p>
        </p:txBody>
      </p:sp>
      <p:sp>
        <p:nvSpPr>
          <p:cNvPr id="7" name="Text 4"/>
          <p:cNvSpPr txBox="1"/>
          <p:nvPr/>
        </p:nvSpPr>
        <p:spPr>
          <a:xfrm>
            <a:off x="82296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Build</a:t>
            </a:r>
            <a:endParaRPr lang="en-US" sz="1900" dirty="0"/>
          </a:p>
        </p:txBody>
      </p:sp>
      <p:sp>
        <p:nvSpPr>
          <p:cNvPr id="8" name="Text 5"/>
          <p:cNvSpPr txBox="1"/>
          <p:nvPr/>
        </p:nvSpPr>
        <p:spPr>
          <a:xfrm>
            <a:off x="82296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Build the fix behind a feature flag or staged release</a:t>
            </a:r>
            <a:endParaRPr lang="en-US" sz="1400" dirty="0"/>
          </a:p>
          <a:p>
            <a:pPr marL="342900" indent="-342900">
              <a:spcAft>
                <a:spcPts val="600"/>
              </a:spcAft>
              <a:buSzPct val="100000"/>
              <a:buChar char="•"/>
            </a:pPr>
            <a:r>
              <a:rPr lang="en-US" sz="1400" dirty="0">
                <a:solidFill>
                  <a:schemeClr val="tx1"/>
                </a:solidFill>
              </a:rPr>
              <a:t>Write tests for the exact failure we saw</a:t>
            </a:r>
            <a:endParaRPr lang="en-US" sz="1400" dirty="0"/>
          </a:p>
          <a:p>
            <a:pPr marL="342900" indent="-342900">
              <a:spcAft>
                <a:spcPts val="600"/>
              </a:spcAft>
              <a:buSzPct val="100000"/>
              <a:buChar char="•"/>
            </a:pPr>
            <a:r>
              <a:rPr lang="en-US" sz="1400" dirty="0">
                <a:solidFill>
                  <a:schemeClr val="tx1"/>
                </a:solidFill>
              </a:rPr>
              <a:t>Add tracking events</a:t>
            </a:r>
            <a:endParaRPr lang="en-US" sz="1400" dirty="0"/>
          </a:p>
          <a:p>
            <a:pPr marL="342900" indent="-342900">
              <a:spcAft>
                <a:spcPts val="600"/>
              </a:spcAft>
              <a:buSzPct val="100000"/>
              <a:buChar char="•"/>
            </a:pPr>
            <a:r>
              <a:rPr lang="en-US" sz="1400" dirty="0">
                <a:solidFill>
                  <a:schemeClr val="tx1"/>
                </a:solidFill>
              </a:rPr>
              <a:t>Set up the dashboard and support-contact comparison</a:t>
            </a:r>
            <a:endParaRPr lang="en-US" sz="1400" dirty="0"/>
          </a:p>
        </p:txBody>
      </p:sp>
      <p:sp>
        <p:nvSpPr>
          <p:cNvPr id="9" name="Gate card"/>
          <p:cNvSpPr/>
          <p:nvPr/>
        </p:nvSpPr>
        <p:spPr>
          <a:xfrm>
            <a:off x="731520" y="5349240"/>
            <a:ext cx="3227832" cy="685800"/>
          </a:xfrm>
          <a:prstGeom prst="roundRect">
            <a:avLst>
              <a:gd name="adj" fmla="val 10667"/>
            </a:avLst>
          </a:prstGeom>
          <a:solidFill>
            <a:schemeClr val="bg2"/>
          </a:solidFill>
          <a:ln w="12700">
            <a:solidFill>
              <a:schemeClr val="bg2"/>
            </a:solidFill>
            <a:prstDash val="solid"/>
          </a:ln>
        </p:spPr>
      </p:sp>
      <p:sp>
        <p:nvSpPr>
          <p:cNvPr id="10" name="Text 7"/>
          <p:cNvSpPr txBox="1"/>
          <p:nvPr/>
        </p:nvSpPr>
        <p:spPr>
          <a:xfrm>
            <a:off x="86868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Tests pass, dashboard live</a:t>
            </a:r>
            <a:endParaRPr lang="en-US" sz="1300" dirty="0"/>
          </a:p>
        </p:txBody>
      </p:sp>
      <p:sp>
        <p:nvSpPr>
          <p:cNvPr id="11" name="Phase detail card"/>
          <p:cNvSpPr/>
          <p:nvPr/>
        </p:nvSpPr>
        <p:spPr>
          <a:xfrm>
            <a:off x="429768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457200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4  |  WEEK 3</a:t>
            </a:r>
            <a:endParaRPr lang="en-US" sz="1200" dirty="0"/>
          </a:p>
        </p:txBody>
      </p:sp>
      <p:sp>
        <p:nvSpPr>
          <p:cNvPr id="13" name="Text 10"/>
          <p:cNvSpPr txBox="1"/>
          <p:nvPr/>
        </p:nvSpPr>
        <p:spPr>
          <a:xfrm>
            <a:off x="457200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Release</a:t>
            </a:r>
            <a:endParaRPr lang="en-US" sz="1900" dirty="0"/>
          </a:p>
        </p:txBody>
      </p:sp>
      <p:sp>
        <p:nvSpPr>
          <p:cNvPr id="14" name="Text 11"/>
          <p:cNvSpPr txBox="1"/>
          <p:nvPr/>
        </p:nvSpPr>
        <p:spPr>
          <a:xfrm>
            <a:off x="457200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Small group first</a:t>
            </a:r>
            <a:endParaRPr lang="en-US" sz="1400" dirty="0"/>
          </a:p>
          <a:p>
            <a:pPr marL="342900" indent="-342900">
              <a:spcAft>
                <a:spcPts val="600"/>
              </a:spcAft>
              <a:buSzPct val="100000"/>
              <a:buChar char="•"/>
            </a:pPr>
            <a:r>
              <a:rPr lang="en-US" sz="1400" dirty="0">
                <a:solidFill>
                  <a:schemeClr val="tx1"/>
                </a:solidFill>
              </a:rPr>
              <a:t>Check daily: bookings, no-show disputes, location age, alert delay, crashes, support contacts</a:t>
            </a:r>
            <a:endParaRPr lang="en-US" sz="1400" dirty="0"/>
          </a:p>
          <a:p>
            <a:pPr marL="342900" indent="-342900">
              <a:spcAft>
                <a:spcPts val="600"/>
              </a:spcAft>
              <a:buSzPct val="100000"/>
              <a:buChar char="•"/>
            </a:pPr>
            <a:r>
              <a:rPr lang="en-US" sz="1400" dirty="0">
                <a:solidFill>
                  <a:schemeClr val="tx1"/>
                </a:solidFill>
              </a:rPr>
              <a:t>Talk to Ops if numbers move unexpectedly</a:t>
            </a:r>
            <a:endParaRPr lang="en-US" sz="1400" dirty="0"/>
          </a:p>
          <a:p>
            <a:pPr marL="342900" indent="-342900">
              <a:spcAft>
                <a:spcPts val="600"/>
              </a:spcAft>
              <a:buSzPct val="100000"/>
              <a:buChar char="•"/>
            </a:pPr>
            <a:r>
              <a:rPr lang="en-US" sz="1400" dirty="0">
                <a:solidFill>
                  <a:schemeClr val="tx1"/>
                </a:solidFill>
              </a:rPr>
              <a:t>Write down the decision</a:t>
            </a:r>
            <a:endParaRPr lang="en-US" sz="1400" dirty="0"/>
          </a:p>
        </p:txBody>
      </p:sp>
      <p:sp>
        <p:nvSpPr>
          <p:cNvPr id="15" name="Gate card"/>
          <p:cNvSpPr/>
          <p:nvPr/>
        </p:nvSpPr>
        <p:spPr>
          <a:xfrm>
            <a:off x="4480560" y="5349240"/>
            <a:ext cx="3227832" cy="685800"/>
          </a:xfrm>
          <a:prstGeom prst="roundRect">
            <a:avLst>
              <a:gd name="adj" fmla="val 10667"/>
            </a:avLst>
          </a:prstGeom>
          <a:solidFill>
            <a:schemeClr val="bg2"/>
          </a:solidFill>
          <a:ln w="12700">
            <a:solidFill>
              <a:schemeClr val="bg2"/>
            </a:solidFill>
            <a:prstDash val="solid"/>
          </a:ln>
        </p:spPr>
      </p:sp>
      <p:sp>
        <p:nvSpPr>
          <p:cNvPr id="16" name="Text 13"/>
          <p:cNvSpPr txBox="1"/>
          <p:nvPr/>
        </p:nvSpPr>
        <p:spPr>
          <a:xfrm>
            <a:off x="461772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Guardrails held</a:t>
            </a:r>
            <a:endParaRPr lang="en-US" sz="1300" dirty="0"/>
          </a:p>
        </p:txBody>
      </p:sp>
      <p:sp>
        <p:nvSpPr>
          <p:cNvPr id="17" name="Phase detail card"/>
          <p:cNvSpPr/>
          <p:nvPr/>
        </p:nvSpPr>
        <p:spPr>
          <a:xfrm>
            <a:off x="8046720" y="1737360"/>
            <a:ext cx="3593592" cy="4434840"/>
          </a:xfrm>
          <a:prstGeom prst="roundRect">
            <a:avLst>
              <a:gd name="adj" fmla="val 2036"/>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8321040" y="1874520"/>
            <a:ext cx="310896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PHASE 5  |  WEEK 4</a:t>
            </a:r>
            <a:endParaRPr lang="en-US" sz="1200" dirty="0"/>
          </a:p>
        </p:txBody>
      </p:sp>
      <p:sp>
        <p:nvSpPr>
          <p:cNvPr id="19" name="Text 16"/>
          <p:cNvSpPr txBox="1"/>
          <p:nvPr/>
        </p:nvSpPr>
        <p:spPr>
          <a:xfrm>
            <a:off x="8321040" y="2148840"/>
            <a:ext cx="3108960" cy="411480"/>
          </a:xfrm>
          <a:prstGeom prst="rect">
            <a:avLst/>
          </a:prstGeom>
          <a:noFill/>
          <a:ln/>
        </p:spPr>
        <p:txBody>
          <a:bodyPr wrap="square" lIns="0" tIns="0" rIns="0" bIns="0" rtlCol="0" anchor="t"/>
          <a:lstStyle/>
          <a:p>
            <a:pPr indent="0" marL="0">
              <a:buNone/>
            </a:pPr>
            <a:r>
              <a:rPr lang="en-US" sz="1900" b="1" dirty="0">
                <a:solidFill>
                  <a:schemeClr val="tx2"/>
                </a:solidFill>
              </a:rPr>
              <a:t>Learn</a:t>
            </a:r>
            <a:endParaRPr lang="en-US" sz="1900" dirty="0"/>
          </a:p>
        </p:txBody>
      </p:sp>
      <p:sp>
        <p:nvSpPr>
          <p:cNvPr id="20" name="Text 17"/>
          <p:cNvSpPr txBox="1"/>
          <p:nvPr/>
        </p:nvSpPr>
        <p:spPr>
          <a:xfrm>
            <a:off x="8321040" y="2697480"/>
            <a:ext cx="3108960" cy="2651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Compare with the baseline</a:t>
            </a:r>
            <a:endParaRPr lang="en-US" sz="1400" dirty="0"/>
          </a:p>
          <a:p>
            <a:pPr marL="342900" indent="-342900">
              <a:spcAft>
                <a:spcPts val="600"/>
              </a:spcAft>
              <a:buSzPct val="100000"/>
              <a:buChar char="•"/>
            </a:pPr>
            <a:r>
              <a:rPr lang="en-US" sz="1400" dirty="0">
                <a:solidFill>
                  <a:schemeClr val="tx1"/>
                </a:solidFill>
              </a:rPr>
              <a:t>List other changes that could explain movement</a:t>
            </a:r>
            <a:endParaRPr lang="en-US" sz="1400" dirty="0"/>
          </a:p>
          <a:p>
            <a:pPr marL="342900" indent="-342900">
              <a:spcAft>
                <a:spcPts val="600"/>
              </a:spcAft>
              <a:buSzPct val="100000"/>
              <a:buChar char="•"/>
            </a:pPr>
            <a:r>
              <a:rPr lang="en-US" sz="1400" dirty="0">
                <a:solidFill>
                  <a:schemeClr val="tx1"/>
                </a:solidFill>
              </a:rPr>
              <a:t>Share what worked and what did not</a:t>
            </a:r>
            <a:endParaRPr lang="en-US" sz="1400" dirty="0"/>
          </a:p>
          <a:p>
            <a:pPr marL="342900" indent="-342900">
              <a:spcAft>
                <a:spcPts val="600"/>
              </a:spcAft>
              <a:buSzPct val="100000"/>
              <a:buChar char="•"/>
            </a:pPr>
            <a:r>
              <a:rPr lang="en-US" sz="1400" dirty="0">
                <a:solidFill>
                  <a:schemeClr val="tx1"/>
                </a:solidFill>
              </a:rPr>
              <a:t>Hand the weekly review to a permanent owner</a:t>
            </a:r>
            <a:endParaRPr lang="en-US" sz="1400" dirty="0"/>
          </a:p>
        </p:txBody>
      </p:sp>
      <p:sp>
        <p:nvSpPr>
          <p:cNvPr id="21" name="Gate card"/>
          <p:cNvSpPr/>
          <p:nvPr/>
        </p:nvSpPr>
        <p:spPr>
          <a:xfrm>
            <a:off x="8229600" y="5349240"/>
            <a:ext cx="3227832" cy="685800"/>
          </a:xfrm>
          <a:prstGeom prst="roundRect">
            <a:avLst>
              <a:gd name="adj" fmla="val 10667"/>
            </a:avLst>
          </a:prstGeom>
          <a:solidFill>
            <a:schemeClr val="bg2"/>
          </a:solidFill>
          <a:ln w="12700">
            <a:solidFill>
              <a:schemeClr val="bg2"/>
            </a:solidFill>
            <a:prstDash val="solid"/>
          </a:ln>
        </p:spPr>
      </p:sp>
      <p:sp>
        <p:nvSpPr>
          <p:cNvPr id="22" name="Text 19"/>
          <p:cNvSpPr txBox="1"/>
          <p:nvPr/>
        </p:nvSpPr>
        <p:spPr>
          <a:xfrm>
            <a:off x="8366760" y="5349240"/>
            <a:ext cx="2971800" cy="685800"/>
          </a:xfrm>
          <a:prstGeom prst="rect">
            <a:avLst/>
          </a:prstGeom>
          <a:noFill/>
          <a:ln/>
        </p:spPr>
        <p:txBody>
          <a:bodyPr wrap="square" lIns="0" tIns="0" rIns="0" bIns="0" rtlCol="0" anchor="ctr"/>
          <a:lstStyle/>
          <a:p>
            <a:pPr indent="0" marL="0">
              <a:buNone/>
            </a:pPr>
            <a:r>
              <a:rPr lang="en-US" sz="1300" b="1" dirty="0">
                <a:solidFill>
                  <a:schemeClr val="accent3"/>
                </a:solidFill>
              </a:rPr>
              <a:t>Gate: </a:t>
            </a:r>
            <a:pPr indent="0" marL="0">
              <a:buNone/>
            </a:pPr>
            <a:r>
              <a:rPr lang="en-US" sz="1300" dirty="0">
                <a:solidFill>
                  <a:schemeClr val="tx1"/>
                </a:solidFill>
              </a:rPr>
              <a:t>Readout delivered</a:t>
            </a:r>
            <a:endParaRPr lang="en-US" sz="13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INSTRUMENTATION</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What the app and backend need to record</a:t>
            </a:r>
            <a:endParaRPr lang="en-US" sz="3200" dirty="0"/>
          </a:p>
        </p:txBody>
      </p:sp>
      <p:graphicFrame>
        <p:nvGraphicFramePr>
          <p:cNvPr id="22" name="Event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554480"/>
                <a:gridCol w="5120640"/>
                <a:gridCol w="4416552"/>
              </a:tblGrid>
              <a:tr h="512064">
                <a:tc>
                  <a:txBody>
                    <a:bodyPr/>
                    <a:lstStyle/>
                    <a:p>
                      <a:pPr indent="0" marL="0">
                        <a:buNone/>
                      </a:pPr>
                      <a:r>
                        <a:rPr lang="en-US" sz="1400" b="1" dirty="0">
                          <a:solidFill>
                            <a:schemeClr val="bg1"/>
                          </a:solidFill>
                        </a:rPr>
                        <a:t>Step</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Events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we need them</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512064">
                <a:tc>
                  <a:txBody>
                    <a:bodyPr/>
                    <a:lstStyle/>
                    <a:p>
                      <a:pPr indent="0" marL="0">
                        <a:buNone/>
                      </a:pPr>
                      <a:r>
                        <a:rPr lang="en-US" sz="1400" b="1" dirty="0">
                          <a:solidFill>
                            <a:schemeClr val="tx1"/>
                          </a:solidFill>
                        </a:rPr>
                        <a:t>Book</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booking_submitted, booking_persisted, confirmation_shown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was chosen, what was saved, what was shown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Inform</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notification_triggered, provider_accepted, displayed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Where an alert is delayed: server, push service or phone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Wait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location_received, location_displayed, eta_computed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Age of the location and ETA error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Board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checkin_recorded, pickup_completed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Check-in status and pickup punctuality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Operations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vehicle_assigned, driver_cancelled, vehicle_swapped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often the vehicle or driver changes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Finish</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noshow_decided, noshow_disputed, noshow_resolved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Explain every no-show and count wrong ones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Any time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app_crash, otp_result, login_result, network_error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Baseline for crashes and sign-in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6108192"/>
            <a:ext cx="11091672" cy="274320"/>
          </a:xfrm>
          <a:prstGeom prst="rect">
            <a:avLst/>
          </a:prstGeom>
          <a:noFill/>
          <a:ln/>
        </p:spPr>
        <p:txBody>
          <a:bodyPr wrap="square" lIns="0" tIns="0" rIns="0" bIns="0" rtlCol="0" anchor="t"/>
          <a:lstStyle/>
          <a:p>
            <a:pPr indent="0" marL="0">
              <a:buNone/>
            </a:pPr>
            <a:r>
              <a:rPr lang="en-US" sz="1200" dirty="0">
                <a:solidFill>
                  <a:schemeClr val="accent4"/>
                </a:solidFill>
              </a:rPr>
              <a:t>Each event carries an anonymous trip ID, server time, app version and platform. No names or free text.</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SAFE RELEASE</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Release in four steps, never to everyone at once</a:t>
            </a:r>
            <a:endParaRPr lang="en-US" sz="3200" dirty="0"/>
          </a:p>
        </p:txBody>
      </p:sp>
      <p:sp>
        <p:nvSpPr>
          <p:cNvPr id="5" name="Release step"/>
          <p:cNvSpPr/>
          <p:nvPr/>
        </p:nvSpPr>
        <p:spPr>
          <a:xfrm>
            <a:off x="548640" y="2423160"/>
            <a:ext cx="2651760" cy="2423160"/>
          </a:xfrm>
          <a:prstGeom prst="roundRect">
            <a:avLst>
              <a:gd name="adj" fmla="val 30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Number badge"/>
          <p:cNvSpPr/>
          <p:nvPr/>
        </p:nvSpPr>
        <p:spPr>
          <a:xfrm>
            <a:off x="731520" y="2606040"/>
            <a:ext cx="457200" cy="457200"/>
          </a:xfrm>
          <a:prstGeom prst="ellipse">
            <a:avLst/>
          </a:prstGeom>
          <a:solidFill>
            <a:schemeClr val="accent2"/>
          </a:solidFill>
          <a:ln w="12700">
            <a:solidFill>
              <a:schemeClr val="accent2"/>
            </a:solidFill>
            <a:prstDash val="solid"/>
          </a:ln>
        </p:spPr>
      </p:sp>
      <p:sp>
        <p:nvSpPr>
          <p:cNvPr id="7" name="Text 4"/>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8" name="Text 5"/>
          <p:cNvSpPr txBox="1"/>
          <p:nvPr/>
        </p:nvSpPr>
        <p:spPr>
          <a:xfrm>
            <a:off x="1325880" y="260604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Inside the team</a:t>
            </a:r>
            <a:endParaRPr lang="en-US" sz="1600" dirty="0"/>
          </a:p>
        </p:txBody>
      </p:sp>
      <p:sp>
        <p:nvSpPr>
          <p:cNvPr id="9" name="Text 6"/>
          <p:cNvSpPr txBox="1"/>
          <p:nvPr/>
        </p:nvSpPr>
        <p:spPr>
          <a:xfrm>
            <a:off x="731520" y="3200400"/>
            <a:ext cx="2286000" cy="777240"/>
          </a:xfrm>
          <a:prstGeom prst="rect">
            <a:avLst/>
          </a:prstGeom>
          <a:noFill/>
          <a:ln/>
        </p:spPr>
        <p:txBody>
          <a:bodyPr wrap="square" lIns="0" tIns="0" rIns="0" bIns="0" rtlCol="0" anchor="t"/>
          <a:lstStyle/>
          <a:p>
            <a:pPr indent="0" marL="0">
              <a:buNone/>
            </a:pPr>
            <a:r>
              <a:rPr lang="en-US" sz="1400" dirty="0">
                <a:solidFill>
                  <a:schemeClr val="tx1"/>
                </a:solidFill>
              </a:rPr>
              <a:t>Testers and QA, with made-up trips</a:t>
            </a:r>
            <a:endParaRPr lang="en-US" sz="1400" dirty="0"/>
          </a:p>
        </p:txBody>
      </p:sp>
      <p:sp>
        <p:nvSpPr>
          <p:cNvPr id="10" name="Text 7"/>
          <p:cNvSpPr txBox="1"/>
          <p:nvPr/>
        </p:nvSpPr>
        <p:spPr>
          <a:xfrm>
            <a:off x="731520" y="4023360"/>
            <a:ext cx="2286000" cy="1188720"/>
          </a:xfrm>
          <a:prstGeom prst="rect">
            <a:avLst/>
          </a:prstGeom>
          <a:noFill/>
          <a:ln/>
        </p:spPr>
        <p:txBody>
          <a:bodyPr wrap="square" lIns="0" tIns="0" rIns="0" bIns="0" rtlCol="0" anchor="t"/>
          <a:lstStyle/>
          <a:p>
            <a:pPr indent="0" marL="0">
              <a:buNone/>
            </a:pPr>
            <a:r>
              <a:rPr lang="en-US" sz="1300" b="1" dirty="0">
                <a:solidFill>
                  <a:schemeClr val="accent3"/>
                </a:solidFill>
              </a:rPr>
              <a:t>Roll back: any serious mismatch</a:t>
            </a:r>
            <a:endParaRPr lang="en-US" sz="1300" dirty="0"/>
          </a:p>
        </p:txBody>
      </p:sp>
      <p:sp>
        <p:nvSpPr>
          <p:cNvPr id="11" name="Release step"/>
          <p:cNvSpPr/>
          <p:nvPr/>
        </p:nvSpPr>
        <p:spPr>
          <a:xfrm>
            <a:off x="3355848" y="2194560"/>
            <a:ext cx="2651760" cy="265176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Number badge"/>
          <p:cNvSpPr/>
          <p:nvPr/>
        </p:nvSpPr>
        <p:spPr>
          <a:xfrm>
            <a:off x="3538728" y="2377440"/>
            <a:ext cx="457200" cy="457200"/>
          </a:xfrm>
          <a:prstGeom prst="ellipse">
            <a:avLst/>
          </a:prstGeom>
          <a:solidFill>
            <a:schemeClr val="accent2"/>
          </a:solidFill>
          <a:ln w="12700">
            <a:solidFill>
              <a:schemeClr val="accent2"/>
            </a:solidFill>
            <a:prstDash val="solid"/>
          </a:ln>
        </p:spPr>
      </p:sp>
      <p:sp>
        <p:nvSpPr>
          <p:cNvPr id="13" name="Text 10"/>
          <p:cNvSpPr txBox="1"/>
          <p:nvPr/>
        </p:nvSpPr>
        <p:spPr>
          <a:xfrm>
            <a:off x="3538728"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4" name="Text 11"/>
          <p:cNvSpPr txBox="1"/>
          <p:nvPr/>
        </p:nvSpPr>
        <p:spPr>
          <a:xfrm>
            <a:off x="4133088" y="237744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Small group</a:t>
            </a:r>
            <a:endParaRPr lang="en-US" sz="1600" dirty="0"/>
          </a:p>
        </p:txBody>
      </p:sp>
      <p:sp>
        <p:nvSpPr>
          <p:cNvPr id="15" name="Text 12"/>
          <p:cNvSpPr txBox="1"/>
          <p:nvPr/>
        </p:nvSpPr>
        <p:spPr>
          <a:xfrm>
            <a:off x="3538728" y="2971800"/>
            <a:ext cx="2286000" cy="777240"/>
          </a:xfrm>
          <a:prstGeom prst="rect">
            <a:avLst/>
          </a:prstGeom>
          <a:noFill/>
          <a:ln/>
        </p:spPr>
        <p:txBody>
          <a:bodyPr wrap="square" lIns="0" tIns="0" rIns="0" bIns="0" rtlCol="0" anchor="t"/>
          <a:lstStyle/>
          <a:p>
            <a:pPr indent="0" marL="0">
              <a:buNone/>
            </a:pPr>
            <a:r>
              <a:rPr lang="en-US" sz="1400" dirty="0">
                <a:solidFill>
                  <a:schemeClr val="tx1"/>
                </a:solidFill>
              </a:rPr>
              <a:t>One site or shift group, agreed with Ops</a:t>
            </a:r>
            <a:endParaRPr lang="en-US" sz="1400" dirty="0"/>
          </a:p>
        </p:txBody>
      </p:sp>
      <p:sp>
        <p:nvSpPr>
          <p:cNvPr id="16" name="Text 13"/>
          <p:cNvSpPr txBox="1"/>
          <p:nvPr/>
        </p:nvSpPr>
        <p:spPr>
          <a:xfrm>
            <a:off x="3538728" y="3794760"/>
            <a:ext cx="2286000" cy="1188720"/>
          </a:xfrm>
          <a:prstGeom prst="rect">
            <a:avLst/>
          </a:prstGeom>
          <a:noFill/>
          <a:ln/>
        </p:spPr>
        <p:txBody>
          <a:bodyPr wrap="square" lIns="0" tIns="0" rIns="0" bIns="0" rtlCol="0" anchor="t"/>
          <a:lstStyle/>
          <a:p>
            <a:pPr indent="0" marL="0">
              <a:buNone/>
            </a:pPr>
            <a:r>
              <a:rPr lang="en-US" sz="1300" b="1" dirty="0">
                <a:solidFill>
                  <a:schemeClr val="accent3"/>
                </a:solidFill>
              </a:rPr>
              <a:t>Roll back: a guardrail broken, or Ops raises a safety concern</a:t>
            </a:r>
            <a:endParaRPr lang="en-US" sz="1300" dirty="0"/>
          </a:p>
        </p:txBody>
      </p:sp>
      <p:sp>
        <p:nvSpPr>
          <p:cNvPr id="17" name="Release step"/>
          <p:cNvSpPr/>
          <p:nvPr/>
        </p:nvSpPr>
        <p:spPr>
          <a:xfrm>
            <a:off x="6163056" y="1965960"/>
            <a:ext cx="2651760" cy="2880360"/>
          </a:xfrm>
          <a:prstGeom prst="roundRect">
            <a:avLst>
              <a:gd name="adj" fmla="val 275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Number badge"/>
          <p:cNvSpPr/>
          <p:nvPr/>
        </p:nvSpPr>
        <p:spPr>
          <a:xfrm>
            <a:off x="6345936" y="2148840"/>
            <a:ext cx="457200" cy="457200"/>
          </a:xfrm>
          <a:prstGeom prst="ellipse">
            <a:avLst/>
          </a:prstGeom>
          <a:solidFill>
            <a:schemeClr val="accent2"/>
          </a:solidFill>
          <a:ln w="12700">
            <a:solidFill>
              <a:schemeClr val="accent2"/>
            </a:solidFill>
            <a:prstDash val="solid"/>
          </a:ln>
        </p:spPr>
      </p:sp>
      <p:sp>
        <p:nvSpPr>
          <p:cNvPr id="19" name="Text 16"/>
          <p:cNvSpPr txBox="1"/>
          <p:nvPr/>
        </p:nvSpPr>
        <p:spPr>
          <a:xfrm>
            <a:off x="6345936" y="2148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7"/>
          <p:cNvSpPr txBox="1"/>
          <p:nvPr/>
        </p:nvSpPr>
        <p:spPr>
          <a:xfrm>
            <a:off x="6940296" y="214884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Bigger group</a:t>
            </a:r>
            <a:endParaRPr lang="en-US" sz="1600" dirty="0"/>
          </a:p>
        </p:txBody>
      </p:sp>
      <p:sp>
        <p:nvSpPr>
          <p:cNvPr id="21" name="Text 18"/>
          <p:cNvSpPr txBox="1"/>
          <p:nvPr/>
        </p:nvSpPr>
        <p:spPr>
          <a:xfrm>
            <a:off x="6345936" y="2743200"/>
            <a:ext cx="2286000" cy="777240"/>
          </a:xfrm>
          <a:prstGeom prst="rect">
            <a:avLst/>
          </a:prstGeom>
          <a:noFill/>
          <a:ln/>
        </p:spPr>
        <p:txBody>
          <a:bodyPr wrap="square" lIns="0" tIns="0" rIns="0" bIns="0" rtlCol="0" anchor="t"/>
          <a:lstStyle/>
          <a:p>
            <a:pPr indent="0" marL="0">
              <a:buNone/>
            </a:pPr>
            <a:r>
              <a:rPr lang="en-US" sz="1400" dirty="0">
                <a:solidFill>
                  <a:schemeClr val="tx1"/>
                </a:solidFill>
              </a:rPr>
              <a:t>Several sites, compared with a group without the change</a:t>
            </a:r>
            <a:endParaRPr lang="en-US" sz="1400" dirty="0"/>
          </a:p>
        </p:txBody>
      </p:sp>
      <p:sp>
        <p:nvSpPr>
          <p:cNvPr id="22" name="Text 19"/>
          <p:cNvSpPr txBox="1"/>
          <p:nvPr/>
        </p:nvSpPr>
        <p:spPr>
          <a:xfrm>
            <a:off x="6345936" y="3566160"/>
            <a:ext cx="2286000" cy="1188720"/>
          </a:xfrm>
          <a:prstGeom prst="rect">
            <a:avLst/>
          </a:prstGeom>
          <a:noFill/>
          <a:ln/>
        </p:spPr>
        <p:txBody>
          <a:bodyPr wrap="square" lIns="0" tIns="0" rIns="0" bIns="0" rtlCol="0" anchor="t"/>
          <a:lstStyle/>
          <a:p>
            <a:pPr indent="0" marL="0">
              <a:buNone/>
            </a:pPr>
            <a:r>
              <a:rPr lang="en-US" sz="1300" b="1" dirty="0">
                <a:solidFill>
                  <a:schemeClr val="accent3"/>
                </a:solidFill>
              </a:rPr>
              <a:t>Roll back: worse than the comparison group by more than the agreed limit</a:t>
            </a:r>
            <a:endParaRPr lang="en-US" sz="1300" dirty="0"/>
          </a:p>
        </p:txBody>
      </p:sp>
      <p:sp>
        <p:nvSpPr>
          <p:cNvPr id="23" name="Release step"/>
          <p:cNvSpPr/>
          <p:nvPr/>
        </p:nvSpPr>
        <p:spPr>
          <a:xfrm>
            <a:off x="8970264" y="1737360"/>
            <a:ext cx="2651760" cy="3108960"/>
          </a:xfrm>
          <a:prstGeom prst="roundRect">
            <a:avLst>
              <a:gd name="adj" fmla="val 2759"/>
            </a:avLst>
          </a:prstGeom>
          <a:solidFill>
            <a:schemeClr val="accent2"/>
          </a:solidFill>
          <a:ln w="12700">
            <a:solidFill>
              <a:schemeClr val="accent2"/>
            </a:solidFill>
            <a:prstDash val="solid"/>
          </a:ln>
          <a:effectLst>
            <a:outerShdw sx="100000" sy="100000" kx="0" ky="0" algn="bl" rotWithShape="0" blurRad="76200" dist="25400" dir="5400000">
              <a:srgbClr val="000000">
                <a:alpha val="12000"/>
              </a:srgbClr>
            </a:outerShdw>
          </a:effectLst>
        </p:spPr>
      </p:sp>
      <p:sp>
        <p:nvSpPr>
          <p:cNvPr id="24" name="Number badge"/>
          <p:cNvSpPr/>
          <p:nvPr/>
        </p:nvSpPr>
        <p:spPr>
          <a:xfrm>
            <a:off x="9153144" y="1920240"/>
            <a:ext cx="457200" cy="457200"/>
          </a:xfrm>
          <a:prstGeom prst="ellipse">
            <a:avLst/>
          </a:prstGeom>
          <a:solidFill>
            <a:schemeClr val="accent1"/>
          </a:solidFill>
          <a:ln w="12700">
            <a:solidFill>
              <a:schemeClr val="accent1"/>
            </a:solidFill>
            <a:prstDash val="solid"/>
          </a:ln>
        </p:spPr>
      </p:sp>
      <p:sp>
        <p:nvSpPr>
          <p:cNvPr id="25" name="Text 22"/>
          <p:cNvSpPr txBox="1"/>
          <p:nvPr/>
        </p:nvSpPr>
        <p:spPr>
          <a:xfrm>
            <a:off x="9153144" y="19202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3"/>
          <p:cNvSpPr txBox="1"/>
          <p:nvPr/>
        </p:nvSpPr>
        <p:spPr>
          <a:xfrm>
            <a:off x="9747504" y="1920240"/>
            <a:ext cx="1783080" cy="457200"/>
          </a:xfrm>
          <a:prstGeom prst="rect">
            <a:avLst/>
          </a:prstGeom>
          <a:noFill/>
          <a:ln/>
        </p:spPr>
        <p:txBody>
          <a:bodyPr wrap="square" lIns="0" tIns="0" rIns="0" bIns="0" rtlCol="0" anchor="ctr"/>
          <a:lstStyle/>
          <a:p>
            <a:pPr indent="0" marL="0">
              <a:buNone/>
            </a:pPr>
            <a:r>
              <a:rPr lang="en-US" sz="1600" b="1" dirty="0">
                <a:solidFill>
                  <a:schemeClr val="bg1"/>
                </a:solidFill>
              </a:rPr>
              <a:t>Everyone</a:t>
            </a:r>
            <a:endParaRPr lang="en-US" sz="1600" dirty="0"/>
          </a:p>
        </p:txBody>
      </p:sp>
      <p:sp>
        <p:nvSpPr>
          <p:cNvPr id="27" name="Text 24"/>
          <p:cNvSpPr txBox="1"/>
          <p:nvPr/>
        </p:nvSpPr>
        <p:spPr>
          <a:xfrm>
            <a:off x="9153144" y="2514600"/>
            <a:ext cx="2286000" cy="777240"/>
          </a:xfrm>
          <a:prstGeom prst="rect">
            <a:avLst/>
          </a:prstGeom>
          <a:noFill/>
          <a:ln/>
        </p:spPr>
        <p:txBody>
          <a:bodyPr wrap="square" lIns="0" tIns="0" rIns="0" bIns="0" rtlCol="0" anchor="t"/>
          <a:lstStyle/>
          <a:p>
            <a:pPr indent="0" marL="0">
              <a:buNone/>
            </a:pPr>
            <a:r>
              <a:rPr lang="en-US" sz="1400" dirty="0">
                <a:solidFill>
                  <a:schemeClr val="bg1"/>
                </a:solidFill>
              </a:rPr>
              <a:t>All users, after a stable full week</a:t>
            </a:r>
            <a:endParaRPr lang="en-US" sz="1400" dirty="0"/>
          </a:p>
        </p:txBody>
      </p:sp>
      <p:sp>
        <p:nvSpPr>
          <p:cNvPr id="28" name="Text 25"/>
          <p:cNvSpPr txBox="1"/>
          <p:nvPr/>
        </p:nvSpPr>
        <p:spPr>
          <a:xfrm>
            <a:off x="9153144" y="3337560"/>
            <a:ext cx="2286000" cy="1188720"/>
          </a:xfrm>
          <a:prstGeom prst="rect">
            <a:avLst/>
          </a:prstGeom>
          <a:noFill/>
          <a:ln/>
        </p:spPr>
        <p:txBody>
          <a:bodyPr wrap="square" lIns="0" tIns="0" rIns="0" bIns="0" rtlCol="0" anchor="t"/>
          <a:lstStyle/>
          <a:p>
            <a:pPr indent="0" marL="0">
              <a:buNone/>
            </a:pPr>
            <a:r>
              <a:rPr lang="en-US" sz="1300" b="1" dirty="0">
                <a:solidFill>
                  <a:schemeClr val="bg1"/>
                </a:solidFill>
              </a:rPr>
              <a:t>Roll back: any serious mismatch. Already approved</a:t>
            </a:r>
            <a:endParaRPr lang="en-US" sz="1300" dirty="0"/>
          </a:p>
        </p:txBody>
      </p:sp>
      <p:sp>
        <p:nvSpPr>
          <p:cNvPr id="29" name="Guardrail card"/>
          <p:cNvSpPr/>
          <p:nvPr/>
        </p:nvSpPr>
        <p:spPr>
          <a:xfrm>
            <a:off x="548640" y="5120640"/>
            <a:ext cx="11091672" cy="1143000"/>
          </a:xfrm>
          <a:prstGeom prst="roundRect">
            <a:avLst>
              <a:gd name="adj" fmla="val 6400"/>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30" name="Icon circle"/>
          <p:cNvSpPr/>
          <p:nvPr/>
        </p:nvSpPr>
        <p:spPr>
          <a:xfrm>
            <a:off x="822960" y="5394960"/>
            <a:ext cx="594360" cy="594360"/>
          </a:xfrm>
          <a:prstGeom prst="ellipse">
            <a:avLst/>
          </a:prstGeom>
          <a:solidFill>
            <a:schemeClr val="accent3"/>
          </a:solidFill>
          <a:ln w="12700">
            <a:solidFill>
              <a:schemeClr val="accent3"/>
            </a:solidFill>
            <a:prstDash val="solid"/>
          </a:ln>
        </p:spPr>
      </p:sp>
      <p:pic>
        <p:nvPicPr>
          <p:cNvPr id="31" name="Image 0" descr="icon">    </p:cNvPr>
          <p:cNvPicPr>
            <a:picLocks noChangeAspect="1"/>
          </p:cNvPicPr>
          <p:nvPr/>
        </p:nvPicPr>
        <p:blipFill>
          <a:blip r:embed="rId1"/>
          <a:stretch>
            <a:fillRect/>
          </a:stretch>
        </p:blipFill>
        <p:spPr>
          <a:xfrm>
            <a:off x="977494" y="5549494"/>
            <a:ext cx="285293" cy="285293"/>
          </a:xfrm>
          <a:prstGeom prst="rect">
            <a:avLst/>
          </a:prstGeom>
        </p:spPr>
      </p:pic>
      <p:sp>
        <p:nvSpPr>
          <p:cNvPr id="32" name="Text 28"/>
          <p:cNvSpPr txBox="1"/>
          <p:nvPr/>
        </p:nvSpPr>
        <p:spPr>
          <a:xfrm>
            <a:off x="1645920" y="5212080"/>
            <a:ext cx="9720072" cy="1005840"/>
          </a:xfrm>
          <a:prstGeom prst="rect">
            <a:avLst/>
          </a:prstGeom>
          <a:noFill/>
          <a:ln/>
        </p:spPr>
        <p:txBody>
          <a:bodyPr wrap="square" lIns="0" tIns="0" rIns="0" bIns="0" rtlCol="0" anchor="t"/>
          <a:lstStyle/>
          <a:p>
            <a:pPr indent="0" marL="0">
              <a:buNone/>
            </a:pPr>
            <a:r>
              <a:rPr lang="en-US" sz="1600" b="1" dirty="0">
                <a:solidFill>
                  <a:schemeClr val="tx1"/>
                </a:solidFill>
              </a:rPr>
              <a:t>Must not get worse at any stage</a:t>
            </a:r>
            <a:endParaRPr lang="en-US" sz="1400" dirty="0"/>
          </a:p>
          <a:p>
            <a:pPr indent="0" marL="0">
              <a:buNone/>
            </a:pPr>
            <a:r>
              <a:rPr lang="en-US" sz="1400" dirty="0">
                <a:solidFill>
                  <a:schemeClr val="tx1"/>
                </a:solidFill>
              </a:rPr>
              <a:t>Booking mismatch, crash-free sessions, support contacts per 1,000 trips, no-show disputes, alert delay. Thresholds come from the baseline, not from guesses.</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MEASUREMENT</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Measure the early signs, because stars move last</a:t>
            </a:r>
            <a:endParaRPr lang="en-US" sz="3200" dirty="0"/>
          </a:p>
        </p:txBody>
      </p:sp>
      <p:graphicFrame>
        <p:nvGraphicFramePr>
          <p:cNvPr id="24" name="Measures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3566160"/>
                <a:gridCol w="6035040"/>
                <a:gridCol w="1490472"/>
              </a:tblGrid>
              <a:tr h="457200">
                <a:tc>
                  <a:txBody>
                    <a:bodyPr/>
                    <a:lstStyle/>
                    <a:p>
                      <a:pPr indent="0" marL="0">
                        <a:buNone/>
                      </a:pPr>
                      <a:r>
                        <a:rPr lang="en-US" sz="1400" b="1" dirty="0">
                          <a:solidFill>
                            <a:schemeClr val="bg1"/>
                          </a:solidFill>
                        </a:rPr>
                        <a:t>Measure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Plain meaning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How often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1"/>
                          </a:solidFill>
                        </a:rPr>
                        <a:t>Booking mismatch rate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Saved date, time or type differs from what the user chose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Old-location rate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Share of locations older than an agreed limit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ETA error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Gap between predicted and real arrival</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Alert delay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Time from trigger to the last step we can measure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Pickup punctuality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Scheduled versus actual pickup time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Vehicle or driver change rate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Trips where either changed after assignment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Daily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1"/>
                          </a:solidFill>
                        </a:rPr>
                        <a:t>Wrong no-show rate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No-shows found wrong after review</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Weekly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1"/>
                          </a:solidFill>
                        </a:rPr>
                        <a:t>Low-star share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New 1-2 star reviews divided by all new reviews, read with trip volume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Weekly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548640" y="6035040"/>
            <a:ext cx="11091672" cy="274320"/>
          </a:xfrm>
          <a:prstGeom prst="rect">
            <a:avLst/>
          </a:prstGeom>
          <a:noFill/>
          <a:ln/>
        </p:spPr>
        <p:txBody>
          <a:bodyPr wrap="square" lIns="0" tIns="0" rIns="0" bIns="0" rtlCol="0" anchor="t"/>
          <a:lstStyle/>
          <a:p>
            <a:pPr indent="0" marL="0">
              <a:buNone/>
            </a:pPr>
            <a:r>
              <a:rPr lang="en-US" sz="1200" dirty="0">
                <a:solidFill>
                  <a:schemeClr val="accent4"/>
                </a:solidFill>
              </a:rPr>
              <a:t>Targets are set only after a baseline exists.</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JUDGING RESULTS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How I would judge results and keep everyone in step</a:t>
            </a:r>
            <a:endParaRPr lang="en-US" sz="3200" dirty="0"/>
          </a:p>
        </p:txBody>
      </p:sp>
      <p:sp>
        <p:nvSpPr>
          <p:cNvPr id="5" name="Judging card"/>
          <p:cNvSpPr/>
          <p:nvPr/>
        </p:nvSpPr>
        <p:spPr>
          <a:xfrm>
            <a:off x="548640" y="1783080"/>
            <a:ext cx="5422392" cy="4343400"/>
          </a:xfrm>
          <a:prstGeom prst="roundRect">
            <a:avLst>
              <a:gd name="adj" fmla="val 168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22960" y="1965960"/>
            <a:ext cx="548640" cy="548640"/>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965606" y="2108606"/>
            <a:ext cx="263347" cy="263347"/>
          </a:xfrm>
          <a:prstGeom prst="rect">
            <a:avLst/>
          </a:prstGeom>
        </p:spPr>
      </p:pic>
      <p:sp>
        <p:nvSpPr>
          <p:cNvPr id="8" name="Text 4"/>
          <p:cNvSpPr txBox="1"/>
          <p:nvPr/>
        </p:nvSpPr>
        <p:spPr>
          <a:xfrm>
            <a:off x="1554480" y="1965960"/>
            <a:ext cx="4114800" cy="548640"/>
          </a:xfrm>
          <a:prstGeom prst="rect">
            <a:avLst/>
          </a:prstGeom>
          <a:noFill/>
          <a:ln/>
        </p:spPr>
        <p:txBody>
          <a:bodyPr wrap="square" lIns="0" tIns="0" rIns="0" bIns="0" rtlCol="0" anchor="ctr"/>
          <a:lstStyle/>
          <a:p>
            <a:pPr indent="0" marL="0">
              <a:buNone/>
            </a:pPr>
            <a:r>
              <a:rPr lang="en-US" sz="1900" b="1" dirty="0">
                <a:solidFill>
                  <a:schemeClr val="tx2"/>
                </a:solidFill>
              </a:rPr>
              <a:t>Judging results</a:t>
            </a:r>
            <a:endParaRPr lang="en-US" sz="1900" dirty="0"/>
          </a:p>
        </p:txBody>
      </p:sp>
      <p:sp>
        <p:nvSpPr>
          <p:cNvPr id="9" name="Text 5"/>
          <p:cNvSpPr txBox="1"/>
          <p:nvPr/>
        </p:nvSpPr>
        <p:spPr>
          <a:xfrm>
            <a:off x="822960" y="2743200"/>
            <a:ext cx="4892040" cy="3291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Baseline first, ideally several weeks</a:t>
            </a:r>
            <a:endParaRPr lang="en-US" sz="1400" dirty="0"/>
          </a:p>
          <a:p>
            <a:pPr marL="342900" indent="-342900">
              <a:spcAft>
                <a:spcPts val="600"/>
              </a:spcAft>
              <a:buSzPct val="100000"/>
              <a:buChar char="•"/>
            </a:pPr>
            <a:r>
              <a:rPr lang="en-US" sz="1600" dirty="0">
                <a:solidFill>
                  <a:schemeClr val="tx1"/>
                </a:solidFill>
              </a:rPr>
              <a:t>Compare like with like: same weekdays, and a group without the change</a:t>
            </a:r>
            <a:endParaRPr lang="en-US" sz="1400" dirty="0"/>
          </a:p>
          <a:p>
            <a:pPr marL="342900" indent="-342900">
              <a:spcAft>
                <a:spcPts val="600"/>
              </a:spcAft>
              <a:buSzPct val="100000"/>
              <a:buChar char="•"/>
            </a:pPr>
            <a:r>
              <a:rPr lang="en-US" sz="1600" dirty="0">
                <a:solidFill>
                  <a:schemeClr val="tx1"/>
                </a:solidFill>
              </a:rPr>
              <a:t>Write down other things that could move the numbers</a:t>
            </a:r>
            <a:endParaRPr lang="en-US" sz="1400" dirty="0"/>
          </a:p>
          <a:p>
            <a:pPr marL="342900" indent="-342900">
              <a:spcAft>
                <a:spcPts val="600"/>
              </a:spcAft>
              <a:buSzPct val="100000"/>
              <a:buChar char="•"/>
            </a:pPr>
            <a:r>
              <a:rPr lang="en-US" sz="1600" dirty="0">
                <a:solidFill>
                  <a:schemeClr val="tx1"/>
                </a:solidFill>
              </a:rPr>
              <a:t>Say so when a group is small</a:t>
            </a:r>
            <a:endParaRPr lang="en-US" sz="1400" dirty="0"/>
          </a:p>
          <a:p>
            <a:pPr marL="342900" indent="-342900">
              <a:spcAft>
                <a:spcPts val="600"/>
              </a:spcAft>
              <a:buSzPct val="100000"/>
              <a:buChar char="•"/>
            </a:pPr>
            <a:r>
              <a:rPr lang="en-US" sz="1600" dirty="0">
                <a:solidFill>
                  <a:schemeClr val="tx1"/>
                </a:solidFill>
              </a:rPr>
              <a:t>Never chase the star count: no hiding negative feedback, no interrupting people</a:t>
            </a:r>
            <a:endParaRPr lang="en-US" sz="1400" dirty="0"/>
          </a:p>
        </p:txBody>
      </p:sp>
      <p:sp>
        <p:nvSpPr>
          <p:cNvPr id="10" name="Meetings card"/>
          <p:cNvSpPr/>
          <p:nvPr/>
        </p:nvSpPr>
        <p:spPr>
          <a:xfrm>
            <a:off x="6217920" y="1783080"/>
            <a:ext cx="5422392" cy="4343400"/>
          </a:xfrm>
          <a:prstGeom prst="roundRect">
            <a:avLst>
              <a:gd name="adj" fmla="val 168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Icon circle"/>
          <p:cNvSpPr/>
          <p:nvPr/>
        </p:nvSpPr>
        <p:spPr>
          <a:xfrm>
            <a:off x="6492240" y="1965960"/>
            <a:ext cx="548640" cy="548640"/>
          </a:xfrm>
          <a:prstGeom prst="ellipse">
            <a:avLst/>
          </a:prstGeom>
          <a:solidFill>
            <a:schemeClr val="accent2"/>
          </a:solidFill>
          <a:ln w="12700">
            <a:solidFill>
              <a:schemeClr val="accent2"/>
            </a:solidFill>
            <a:prstDash val="solid"/>
          </a:ln>
        </p:spPr>
      </p:sp>
      <p:pic>
        <p:nvPicPr>
          <p:cNvPr id="12" name="Image 1" descr="icon">    </p:cNvPr>
          <p:cNvPicPr>
            <a:picLocks noChangeAspect="1"/>
          </p:cNvPicPr>
          <p:nvPr/>
        </p:nvPicPr>
        <p:blipFill>
          <a:blip r:embed="rId2"/>
          <a:stretch>
            <a:fillRect/>
          </a:stretch>
        </p:blipFill>
        <p:spPr>
          <a:xfrm>
            <a:off x="6634886" y="2108606"/>
            <a:ext cx="263347" cy="263347"/>
          </a:xfrm>
          <a:prstGeom prst="rect">
            <a:avLst/>
          </a:prstGeom>
        </p:spPr>
      </p:pic>
      <p:sp>
        <p:nvSpPr>
          <p:cNvPr id="13" name="Text 8"/>
          <p:cNvSpPr txBox="1"/>
          <p:nvPr/>
        </p:nvSpPr>
        <p:spPr>
          <a:xfrm>
            <a:off x="7223760" y="1965960"/>
            <a:ext cx="4114800" cy="548640"/>
          </a:xfrm>
          <a:prstGeom prst="rect">
            <a:avLst/>
          </a:prstGeom>
          <a:noFill/>
          <a:ln/>
        </p:spPr>
        <p:txBody>
          <a:bodyPr wrap="square" lIns="0" tIns="0" rIns="0" bIns="0" rtlCol="0" anchor="ctr"/>
          <a:lstStyle/>
          <a:p>
            <a:pPr indent="0" marL="0">
              <a:buNone/>
            </a:pPr>
            <a:r>
              <a:rPr lang="en-US" sz="1900" b="1" dirty="0">
                <a:solidFill>
                  <a:schemeClr val="tx2"/>
                </a:solidFill>
              </a:rPr>
              <a:t>Staying in step</a:t>
            </a:r>
            <a:endParaRPr lang="en-US" sz="1900" dirty="0"/>
          </a:p>
        </p:txBody>
      </p:sp>
      <p:sp>
        <p:nvSpPr>
          <p:cNvPr id="14" name="Text 9"/>
          <p:cNvSpPr txBox="1"/>
          <p:nvPr/>
        </p:nvSpPr>
        <p:spPr>
          <a:xfrm>
            <a:off x="6492240" y="2743200"/>
            <a:ext cx="4892040" cy="3291840"/>
          </a:xfrm>
          <a:prstGeom prst="rect">
            <a:avLst/>
          </a:prstGeom>
          <a:noFill/>
          <a:ln/>
        </p:spPr>
        <p:txBody>
          <a:bodyPr wrap="square" lIns="0" tIns="0" rIns="0" bIns="0" rtlCol="0" anchor="t"/>
          <a:lstStyle/>
          <a:p>
            <a:pPr indent="0" marL="0">
              <a:buNone/>
            </a:pPr>
            <a:r>
              <a:rPr lang="en-US" sz="1600" b="1" dirty="0">
                <a:solidFill>
                  <a:schemeClr val="tx1"/>
                </a:solidFill>
              </a:rPr>
              <a:t>Weekly, 15 minutes</a:t>
            </a:r>
            <a:endParaRPr lang="en-US" sz="1600" dirty="0"/>
          </a:p>
          <a:p>
            <a:pPr indent="0" marL="0">
              <a:spcAft>
                <a:spcPts val="800"/>
              </a:spcAft>
              <a:buNone/>
            </a:pPr>
            <a:r>
              <a:rPr lang="en-US" sz="1600" dirty="0">
                <a:solidFill>
                  <a:schemeClr val="tx1"/>
                </a:solidFill>
              </a:rPr>
              <a:t>What did we learn? What changed for employees? What are we unsure about? Who owns the next action?</a:t>
            </a:r>
            <a:endParaRPr lang="en-US" sz="1600" dirty="0"/>
          </a:p>
          <a:p>
            <a:pPr indent="0" marL="0">
              <a:buNone/>
            </a:pPr>
            <a:r>
              <a:rPr lang="en-US" sz="1600" b="1" dirty="0">
                <a:solidFill>
                  <a:schemeClr val="tx1"/>
                </a:solidFill>
              </a:rPr>
              <a:t>Evidence review, days 5 and 7</a:t>
            </a:r>
            <a:endParaRPr lang="en-US" sz="1600" dirty="0"/>
          </a:p>
          <a:p>
            <a:pPr indent="0" marL="0">
              <a:spcAft>
                <a:spcPts val="800"/>
              </a:spcAft>
              <a:buNone/>
            </a:pPr>
            <a:r>
              <a:rPr lang="en-US" sz="1600" dirty="0">
                <a:solidFill>
                  <a:schemeClr val="tx1"/>
                </a:solidFill>
              </a:rPr>
              <a:t>Confirm or drop ideas, choose fixes</a:t>
            </a:r>
            <a:endParaRPr lang="en-US" sz="1600" dirty="0"/>
          </a:p>
          <a:p>
            <a:pPr indent="0" marL="0">
              <a:buNone/>
            </a:pPr>
            <a:r>
              <a:rPr lang="en-US" sz="1600" b="1" dirty="0">
                <a:solidFill>
                  <a:schemeClr val="tx1"/>
                </a:solidFill>
              </a:rPr>
              <a:t>Each release, and day 30</a:t>
            </a:r>
            <a:endParaRPr lang="en-US" sz="1600" dirty="0"/>
          </a:p>
          <a:p>
            <a:pPr indent="0" marL="0">
              <a:buNone/>
            </a:pPr>
            <a:r>
              <a:rPr lang="en-US" sz="1600" dirty="0">
                <a:solidFill>
                  <a:schemeClr val="tx1"/>
                </a:solidFill>
              </a:rPr>
              <a:t>Expand, adjust or roll back. Leadership readout. Every decision goes in a short log.</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REPEATABLE ROUTINE</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A weekly routine for “how are our ratings?”</a:t>
            </a:r>
            <a:endParaRPr lang="en-US" sz="3200" dirty="0"/>
          </a:p>
        </p:txBody>
      </p:sp>
      <p:sp>
        <p:nvSpPr>
          <p:cNvPr id="5" name="Routine card"/>
          <p:cNvSpPr/>
          <p:nvPr/>
        </p:nvSpPr>
        <p:spPr>
          <a:xfrm>
            <a:off x="548640" y="1783080"/>
            <a:ext cx="2651760" cy="3063240"/>
          </a:xfrm>
          <a:prstGeom prst="roundRect">
            <a:avLst>
              <a:gd name="adj" fmla="val 275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777240" y="2011680"/>
            <a:ext cx="566928" cy="566928"/>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924641" y="2159081"/>
            <a:ext cx="272125" cy="272125"/>
          </a:xfrm>
          <a:prstGeom prst="rect">
            <a:avLst/>
          </a:prstGeom>
        </p:spPr>
      </p:pic>
      <p:sp>
        <p:nvSpPr>
          <p:cNvPr id="8" name="Text 4"/>
          <p:cNvSpPr txBox="1"/>
          <p:nvPr/>
        </p:nvSpPr>
        <p:spPr>
          <a:xfrm>
            <a:off x="777240" y="27432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Monday</a:t>
            </a:r>
            <a:endParaRPr lang="en-US" sz="1800" dirty="0"/>
          </a:p>
        </p:txBody>
      </p:sp>
      <p:sp>
        <p:nvSpPr>
          <p:cNvPr id="9" name="Text 5"/>
          <p:cNvSpPr txBox="1"/>
          <p:nvPr/>
        </p:nvSpPr>
        <p:spPr>
          <a:xfrm>
            <a:off x="777240" y="3200400"/>
            <a:ext cx="2194560" cy="1600200"/>
          </a:xfrm>
          <a:prstGeom prst="rect">
            <a:avLst/>
          </a:prstGeom>
          <a:noFill/>
          <a:ln/>
        </p:spPr>
        <p:txBody>
          <a:bodyPr wrap="square" lIns="0" tIns="0" rIns="0" bIns="0" rtlCol="0" anchor="t"/>
          <a:lstStyle/>
          <a:p>
            <a:pPr indent="0" marL="0">
              <a:buNone/>
            </a:pPr>
            <a:r>
              <a:rPr lang="en-US" sz="1400" dirty="0">
                <a:solidFill>
                  <a:schemeClr val="tx1"/>
                </a:solidFill>
              </a:rPr>
              <a:t>Record the listing score and rating count with date and time. Refresh and tag new reviews. Compare the last four weeks.</a:t>
            </a:r>
            <a:endParaRPr lang="en-US" sz="1400" dirty="0"/>
          </a:p>
        </p:txBody>
      </p:sp>
      <p:sp>
        <p:nvSpPr>
          <p:cNvPr id="10" name="Routine card"/>
          <p:cNvSpPr/>
          <p:nvPr/>
        </p:nvSpPr>
        <p:spPr>
          <a:xfrm>
            <a:off x="3355848" y="1783080"/>
            <a:ext cx="2651760" cy="3063240"/>
          </a:xfrm>
          <a:prstGeom prst="roundRect">
            <a:avLst>
              <a:gd name="adj" fmla="val 275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Icon circle"/>
          <p:cNvSpPr/>
          <p:nvPr/>
        </p:nvSpPr>
        <p:spPr>
          <a:xfrm>
            <a:off x="3584448" y="2011680"/>
            <a:ext cx="566928" cy="566928"/>
          </a:xfrm>
          <a:prstGeom prst="ellipse">
            <a:avLst/>
          </a:prstGeom>
          <a:solidFill>
            <a:schemeClr val="accent2"/>
          </a:solidFill>
          <a:ln w="12700">
            <a:solidFill>
              <a:schemeClr val="accent2"/>
            </a:solidFill>
            <a:prstDash val="solid"/>
          </a:ln>
        </p:spPr>
      </p:sp>
      <p:pic>
        <p:nvPicPr>
          <p:cNvPr id="12" name="Image 1" descr="icon">    </p:cNvPr>
          <p:cNvPicPr>
            <a:picLocks noChangeAspect="1"/>
          </p:cNvPicPr>
          <p:nvPr/>
        </p:nvPicPr>
        <p:blipFill>
          <a:blip r:embed="rId2"/>
          <a:stretch>
            <a:fillRect/>
          </a:stretch>
        </p:blipFill>
        <p:spPr>
          <a:xfrm>
            <a:off x="3731849" y="2159081"/>
            <a:ext cx="272125" cy="272125"/>
          </a:xfrm>
          <a:prstGeom prst="rect">
            <a:avLst/>
          </a:prstGeom>
        </p:spPr>
      </p:pic>
      <p:sp>
        <p:nvSpPr>
          <p:cNvPr id="13" name="Text 8"/>
          <p:cNvSpPr txBox="1"/>
          <p:nvPr/>
        </p:nvSpPr>
        <p:spPr>
          <a:xfrm>
            <a:off x="3584448" y="27432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Tuesday</a:t>
            </a:r>
            <a:endParaRPr lang="en-US" sz="1800" dirty="0"/>
          </a:p>
        </p:txBody>
      </p:sp>
      <p:sp>
        <p:nvSpPr>
          <p:cNvPr id="14" name="Text 9"/>
          <p:cNvSpPr txBox="1"/>
          <p:nvPr/>
        </p:nvSpPr>
        <p:spPr>
          <a:xfrm>
            <a:off x="3584448" y="3200400"/>
            <a:ext cx="2194560" cy="1600200"/>
          </a:xfrm>
          <a:prstGeom prst="rect">
            <a:avLst/>
          </a:prstGeom>
          <a:noFill/>
          <a:ln/>
        </p:spPr>
        <p:txBody>
          <a:bodyPr wrap="square" lIns="0" tIns="0" rIns="0" bIns="0" rtlCol="0" anchor="t"/>
          <a:lstStyle/>
          <a:p>
            <a:pPr indent="0" marL="0">
              <a:buNone/>
            </a:pPr>
            <a:r>
              <a:rPr lang="en-US" sz="1400" dirty="0">
                <a:solidFill>
                  <a:schemeClr val="tx1"/>
                </a:solidFill>
              </a:rPr>
              <a:t>Look at top themes next to incidents. Give each an owner, due date and next test.</a:t>
            </a:r>
            <a:endParaRPr lang="en-US" sz="1400" dirty="0"/>
          </a:p>
        </p:txBody>
      </p:sp>
      <p:sp>
        <p:nvSpPr>
          <p:cNvPr id="15" name="Routine card"/>
          <p:cNvSpPr/>
          <p:nvPr/>
        </p:nvSpPr>
        <p:spPr>
          <a:xfrm>
            <a:off x="6163056" y="1783080"/>
            <a:ext cx="2651760" cy="3063240"/>
          </a:xfrm>
          <a:prstGeom prst="roundRect">
            <a:avLst>
              <a:gd name="adj" fmla="val 275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6" name="Icon circle"/>
          <p:cNvSpPr/>
          <p:nvPr/>
        </p:nvSpPr>
        <p:spPr>
          <a:xfrm>
            <a:off x="6391656" y="2011680"/>
            <a:ext cx="566928" cy="566928"/>
          </a:xfrm>
          <a:prstGeom prst="ellipse">
            <a:avLst/>
          </a:prstGeom>
          <a:solidFill>
            <a:schemeClr val="accent2"/>
          </a:solidFill>
          <a:ln w="12700">
            <a:solidFill>
              <a:schemeClr val="accent2"/>
            </a:solidFill>
            <a:prstDash val="solid"/>
          </a:ln>
        </p:spPr>
      </p:sp>
      <p:pic>
        <p:nvPicPr>
          <p:cNvPr id="17" name="Image 2" descr="icon">    </p:cNvPr>
          <p:cNvPicPr>
            <a:picLocks noChangeAspect="1"/>
          </p:cNvPicPr>
          <p:nvPr/>
        </p:nvPicPr>
        <p:blipFill>
          <a:blip r:embed="rId3"/>
          <a:stretch>
            <a:fillRect/>
          </a:stretch>
        </p:blipFill>
        <p:spPr>
          <a:xfrm>
            <a:off x="6539057" y="2159081"/>
            <a:ext cx="272125" cy="272125"/>
          </a:xfrm>
          <a:prstGeom prst="rect">
            <a:avLst/>
          </a:prstGeom>
        </p:spPr>
      </p:pic>
      <p:sp>
        <p:nvSpPr>
          <p:cNvPr id="18" name="Text 12"/>
          <p:cNvSpPr txBox="1"/>
          <p:nvPr/>
        </p:nvSpPr>
        <p:spPr>
          <a:xfrm>
            <a:off x="6391656" y="27432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Each release</a:t>
            </a:r>
            <a:endParaRPr lang="en-US" sz="1800" dirty="0"/>
          </a:p>
        </p:txBody>
      </p:sp>
      <p:sp>
        <p:nvSpPr>
          <p:cNvPr id="19" name="Text 13"/>
          <p:cNvSpPr txBox="1"/>
          <p:nvPr/>
        </p:nvSpPr>
        <p:spPr>
          <a:xfrm>
            <a:off x="6391656" y="3200400"/>
            <a:ext cx="2194560" cy="1600200"/>
          </a:xfrm>
          <a:prstGeom prst="rect">
            <a:avLst/>
          </a:prstGeom>
          <a:noFill/>
          <a:ln/>
        </p:spPr>
        <p:txBody>
          <a:bodyPr wrap="square" lIns="0" tIns="0" rIns="0" bIns="0" rtlCol="0" anchor="t"/>
          <a:lstStyle/>
          <a:p>
            <a:pPr indent="0" marL="0">
              <a:buNone/>
            </a:pPr>
            <a:r>
              <a:rPr lang="en-US" sz="1400" dirty="0">
                <a:solidFill>
                  <a:schemeClr val="tx1"/>
                </a:solidFill>
              </a:rPr>
              <a:t>Note the date and version. Compare early-sign numbers and review themes. Watch guardrails.</a:t>
            </a:r>
            <a:endParaRPr lang="en-US" sz="1400" dirty="0"/>
          </a:p>
        </p:txBody>
      </p:sp>
      <p:sp>
        <p:nvSpPr>
          <p:cNvPr id="20" name="Routine card"/>
          <p:cNvSpPr/>
          <p:nvPr/>
        </p:nvSpPr>
        <p:spPr>
          <a:xfrm>
            <a:off x="8970264" y="1783080"/>
            <a:ext cx="2651760" cy="3063240"/>
          </a:xfrm>
          <a:prstGeom prst="roundRect">
            <a:avLst>
              <a:gd name="adj" fmla="val 2759"/>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1" name="Icon circle"/>
          <p:cNvSpPr/>
          <p:nvPr/>
        </p:nvSpPr>
        <p:spPr>
          <a:xfrm>
            <a:off x="9198864" y="2011680"/>
            <a:ext cx="566928" cy="566928"/>
          </a:xfrm>
          <a:prstGeom prst="ellipse">
            <a:avLst/>
          </a:prstGeom>
          <a:solidFill>
            <a:schemeClr val="accent2"/>
          </a:solidFill>
          <a:ln w="12700">
            <a:solidFill>
              <a:schemeClr val="accent2"/>
            </a:solidFill>
            <a:prstDash val="solid"/>
          </a:ln>
        </p:spPr>
      </p:sp>
      <p:pic>
        <p:nvPicPr>
          <p:cNvPr id="22" name="Image 3" descr="icon">    </p:cNvPr>
          <p:cNvPicPr>
            <a:picLocks noChangeAspect="1"/>
          </p:cNvPicPr>
          <p:nvPr/>
        </p:nvPicPr>
        <p:blipFill>
          <a:blip r:embed="rId4"/>
          <a:stretch>
            <a:fillRect/>
          </a:stretch>
        </p:blipFill>
        <p:spPr>
          <a:xfrm>
            <a:off x="9346265" y="2159081"/>
            <a:ext cx="272125" cy="272125"/>
          </a:xfrm>
          <a:prstGeom prst="rect">
            <a:avLst/>
          </a:prstGeom>
        </p:spPr>
      </p:pic>
      <p:sp>
        <p:nvSpPr>
          <p:cNvPr id="23" name="Text 16"/>
          <p:cNvSpPr txBox="1"/>
          <p:nvPr/>
        </p:nvSpPr>
        <p:spPr>
          <a:xfrm>
            <a:off x="9198864" y="2743200"/>
            <a:ext cx="2194560" cy="365760"/>
          </a:xfrm>
          <a:prstGeom prst="rect">
            <a:avLst/>
          </a:prstGeom>
          <a:noFill/>
          <a:ln/>
        </p:spPr>
        <p:txBody>
          <a:bodyPr wrap="square" lIns="0" tIns="0" rIns="0" bIns="0" rtlCol="0" anchor="t"/>
          <a:lstStyle/>
          <a:p>
            <a:pPr indent="0" marL="0">
              <a:buNone/>
            </a:pPr>
            <a:r>
              <a:rPr lang="en-US" sz="1800" b="1" dirty="0">
                <a:solidFill>
                  <a:schemeClr val="tx2"/>
                </a:solidFill>
              </a:rPr>
              <a:t>Monthly</a:t>
            </a:r>
            <a:endParaRPr lang="en-US" sz="1800" dirty="0"/>
          </a:p>
        </p:txBody>
      </p:sp>
      <p:sp>
        <p:nvSpPr>
          <p:cNvPr id="24" name="Text 17"/>
          <p:cNvSpPr txBox="1"/>
          <p:nvPr/>
        </p:nvSpPr>
        <p:spPr>
          <a:xfrm>
            <a:off x="9198864" y="3200400"/>
            <a:ext cx="2194560" cy="1600200"/>
          </a:xfrm>
          <a:prstGeom prst="rect">
            <a:avLst/>
          </a:prstGeom>
          <a:noFill/>
          <a:ln/>
        </p:spPr>
        <p:txBody>
          <a:bodyPr wrap="square" lIns="0" tIns="0" rIns="0" bIns="0" rtlCol="0" anchor="t"/>
          <a:lstStyle/>
          <a:p>
            <a:pPr indent="0" marL="0">
              <a:buNone/>
            </a:pPr>
            <a:r>
              <a:rPr lang="en-US" sz="1400" dirty="0">
                <a:solidFill>
                  <a:schemeClr val="tx1"/>
                </a:solidFill>
              </a:rPr>
              <a:t>Sum up what improved, what did not, open risks and ideas for next quarter.</a:t>
            </a:r>
            <a:endParaRPr lang="en-US" sz="1400" dirty="0"/>
          </a:p>
        </p:txBody>
      </p:sp>
      <p:sp>
        <p:nvSpPr>
          <p:cNvPr id="25" name="Handling card"/>
          <p:cNvSpPr/>
          <p:nvPr/>
        </p:nvSpPr>
        <p:spPr>
          <a:xfrm>
            <a:off x="548640" y="5074920"/>
            <a:ext cx="11091672" cy="1051560"/>
          </a:xfrm>
          <a:prstGeom prst="roundRect">
            <a:avLst>
              <a:gd name="adj" fmla="val 6957"/>
            </a:avLst>
          </a:prstGeom>
          <a:solidFill>
            <a:schemeClr val="bg2"/>
          </a:solidFill>
          <a:ln w="12700">
            <a:solidFill>
              <a:schemeClr val="bg2"/>
            </a:solidFill>
            <a:prstDash val="solid"/>
          </a:ln>
        </p:spPr>
      </p:sp>
      <p:sp>
        <p:nvSpPr>
          <p:cNvPr id="26" name="Icon circle"/>
          <p:cNvSpPr/>
          <p:nvPr/>
        </p:nvSpPr>
        <p:spPr>
          <a:xfrm>
            <a:off x="822960" y="5303520"/>
            <a:ext cx="594360" cy="594360"/>
          </a:xfrm>
          <a:prstGeom prst="ellipse">
            <a:avLst/>
          </a:prstGeom>
          <a:solidFill>
            <a:schemeClr val="accent4"/>
          </a:solidFill>
          <a:ln w="12700">
            <a:solidFill>
              <a:schemeClr val="accent4"/>
            </a:solidFill>
            <a:prstDash val="solid"/>
          </a:ln>
        </p:spPr>
      </p:sp>
      <p:pic>
        <p:nvPicPr>
          <p:cNvPr id="27" name="Image 4" descr="icon">    </p:cNvPr>
          <p:cNvPicPr>
            <a:picLocks noChangeAspect="1"/>
          </p:cNvPicPr>
          <p:nvPr/>
        </p:nvPicPr>
        <p:blipFill>
          <a:blip r:embed="rId5"/>
          <a:stretch>
            <a:fillRect/>
          </a:stretch>
        </p:blipFill>
        <p:spPr>
          <a:xfrm>
            <a:off x="977494" y="5458054"/>
            <a:ext cx="285293" cy="285293"/>
          </a:xfrm>
          <a:prstGeom prst="rect">
            <a:avLst/>
          </a:prstGeom>
        </p:spPr>
      </p:pic>
      <p:sp>
        <p:nvSpPr>
          <p:cNvPr id="28" name="Text 20"/>
          <p:cNvSpPr txBox="1"/>
          <p:nvPr/>
        </p:nvSpPr>
        <p:spPr>
          <a:xfrm>
            <a:off x="1645920" y="5074920"/>
            <a:ext cx="9720072" cy="1051560"/>
          </a:xfrm>
          <a:prstGeom prst="rect">
            <a:avLst/>
          </a:prstGeom>
          <a:noFill/>
          <a:ln/>
        </p:spPr>
        <p:txBody>
          <a:bodyPr wrap="square" lIns="0" tIns="0" rIns="0" bIns="0" rtlCol="0" anchor="ctr"/>
          <a:lstStyle/>
          <a:p>
            <a:pPr indent="0" marL="0">
              <a:buNone/>
            </a:pPr>
            <a:r>
              <a:rPr lang="en-US" sz="1400" b="1" dirty="0">
                <a:solidFill>
                  <a:schemeClr val="tx1"/>
                </a:solidFill>
              </a:rPr>
              <a:t>Handling the data carefully. </a:t>
            </a:r>
            <a:pPr indent="0" marL="0">
              <a:buNone/>
            </a:pPr>
            <a:r>
              <a:rPr lang="en-US" sz="1400" dirty="0">
                <a:solidFill>
                  <a:schemeClr val="tx1"/>
                </a:solidFill>
              </a:rPr>
              <a:t>Use public reviews within Google Play's terms, prefer an approved export to scraping, never send sensitive text to outside AI tools, and keep a trail of every label.</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RISKS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Risks, and what I would do about them</a:t>
            </a:r>
            <a:endParaRPr lang="en-US" sz="3200" dirty="0"/>
          </a:p>
        </p:txBody>
      </p:sp>
      <p:graphicFrame>
        <p:nvGraphicFramePr>
          <p:cNvPr id="27" name="Ri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3566160"/>
                <a:gridCol w="5852160"/>
                <a:gridCol w="1673352"/>
              </a:tblGrid>
              <a:tr h="512064">
                <a:tc>
                  <a:txBody>
                    <a:bodyPr/>
                    <a:lstStyle/>
                    <a:p>
                      <a:pPr indent="0" marL="0">
                        <a:buNone/>
                      </a:pPr>
                      <a:r>
                        <a:rPr lang="en-US" sz="1400" b="1" dirty="0">
                          <a:solidFill>
                            <a:schemeClr val="bg1"/>
                          </a:solidFill>
                        </a:rPr>
                        <a:t>Risk</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What I would do</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Owner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tx2"/>
                    </a:solidFill>
                  </a:tcPr>
                </a:tc>
              </a:tr>
              <a:tr h="512064">
                <a:tc>
                  <a:txBody>
                    <a:bodyPr/>
                    <a:lstStyle/>
                    <a:p>
                      <a:pPr indent="0" marL="0">
                        <a:buNone/>
                      </a:pPr>
                      <a:r>
                        <a:rPr lang="en-US" sz="1400" b="1" dirty="0">
                          <a:solidFill>
                            <a:schemeClr val="tx1"/>
                          </a:solidFill>
                        </a:rPr>
                        <a:t>Internal data comes late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Start with public data and made-up traces. Ask for limited-access exports on day 1</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Keyword labels are wrong</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Hand-check a sample every week and track the error rate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A fix touches safety or pay flows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Small groups, agreed rollback, Ops and Security sign-off</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Eng owner</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Other releases blur the comparison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Mark releases on the timeline, use a comparison group</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The scraper breaks again</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Version the notebook, test after updates, use an approved export if possible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FDE</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r h="512064">
                <a:tc>
                  <a:txBody>
                    <a:bodyPr/>
                    <a:lstStyle/>
                    <a:p>
                      <a:pPr indent="0" marL="0">
                        <a:buNone/>
                      </a:pPr>
                      <a:r>
                        <a:rPr lang="en-US" sz="1400" b="1" dirty="0">
                          <a:solidFill>
                            <a:schemeClr val="tx1"/>
                          </a:solidFill>
                        </a:rPr>
                        <a:t>Privacy of review or trip data</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Hide identities, keep only what is needed, no sensitive text to outside AI tools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FDE, Security</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2"/>
                    </a:solidFill>
                  </a:tcPr>
                </a:tc>
              </a:tr>
              <a:tr h="512064">
                <a:tc>
                  <a:txBody>
                    <a:bodyPr/>
                    <a:lstStyle/>
                    <a:p>
                      <a:pPr indent="0" marL="0">
                        <a:buNone/>
                      </a:pPr>
                      <a:r>
                        <a:rPr lang="en-US" sz="1400" b="1" dirty="0">
                          <a:solidFill>
                            <a:schemeClr val="tx1"/>
                          </a:solidFill>
                        </a:rPr>
                        <a:t>Teams feel blamed</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Present findings as ideas to test and credit the teams who fix things</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FDE, Product</a:t>
                      </a:r>
                      <a:endParaRPr lang="en-US" sz="1400" dirty="0"/>
                    </a:p>
                  </a:txBody>
                  <a:tcPr marL="91440" marR="91440" marT="36576" marB="36576" anchor="ctr">
                    <a:lnL w="6350" cap="flat" cmpd="sng" algn="ctr">
                      <a:solidFill>
                        <a:srgbClr val="D9DEE2"/>
                      </a:solidFill>
                      <a:prstDash val="solid"/>
                      <a:round/>
                      <a:headEnd type="none" w="med" len="med"/>
                      <a:tailEnd type="none" w="med" len="med"/>
                    </a:lnL>
                    <a:lnR w="6350" cap="flat" cmpd="sng" algn="ctr">
                      <a:solidFill>
                        <a:srgbClr val="D9DEE2"/>
                      </a:solidFill>
                      <a:prstDash val="solid"/>
                      <a:round/>
                      <a:headEnd type="none" w="med" len="med"/>
                      <a:tailEnd type="none" w="med" len="med"/>
                    </a:lnR>
                    <a:lnT w="6350" cap="flat" cmpd="sng" algn="ctr">
                      <a:solidFill>
                        <a:srgbClr val="D9DEE2"/>
                      </a:solidFill>
                      <a:prstDash val="solid"/>
                      <a:round/>
                      <a:headEnd type="none" w="med" len="med"/>
                      <a:tailEnd type="none" w="med" len="med"/>
                    </a:lnT>
                    <a:lnB w="6350" cap="flat" cmpd="sng" algn="ctr">
                      <a:solidFill>
                        <a:srgbClr val="D9DEE2"/>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SUCCESS</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What done looks like after 30 days</a:t>
            </a:r>
            <a:endParaRPr lang="en-US" sz="3200" dirty="0"/>
          </a:p>
        </p:txBody>
      </p:sp>
      <p:sp>
        <p:nvSpPr>
          <p:cNvPr id="5" name="Done card"/>
          <p:cNvSpPr/>
          <p:nvPr/>
        </p:nvSpPr>
        <p:spPr>
          <a:xfrm>
            <a:off x="548640" y="178308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22960" y="2130552"/>
            <a:ext cx="594360" cy="594360"/>
          </a:xfrm>
          <a:prstGeom prst="ellipse">
            <a:avLst/>
          </a:prstGeom>
          <a:solidFill>
            <a:schemeClr val="accent2"/>
          </a:solidFill>
          <a:ln w="12700">
            <a:solidFill>
              <a:schemeClr val="accent2"/>
            </a:solidFill>
            <a:prstDash val="solid"/>
          </a:ln>
        </p:spPr>
      </p:sp>
      <p:pic>
        <p:nvPicPr>
          <p:cNvPr id="7" name="Image 0" descr="icon">    </p:cNvPr>
          <p:cNvPicPr>
            <a:picLocks noChangeAspect="1"/>
          </p:cNvPicPr>
          <p:nvPr/>
        </p:nvPicPr>
        <p:blipFill>
          <a:blip r:embed="rId1"/>
          <a:stretch>
            <a:fillRect/>
          </a:stretch>
        </p:blipFill>
        <p:spPr>
          <a:xfrm>
            <a:off x="977494" y="2285086"/>
            <a:ext cx="285293" cy="285293"/>
          </a:xfrm>
          <a:prstGeom prst="rect">
            <a:avLst/>
          </a:prstGeom>
        </p:spPr>
      </p:pic>
      <p:sp>
        <p:nvSpPr>
          <p:cNvPr id="8" name="Text 4"/>
          <p:cNvSpPr txBox="1"/>
          <p:nvPr/>
        </p:nvSpPr>
        <p:spPr>
          <a:xfrm>
            <a:off x="1645920" y="1920240"/>
            <a:ext cx="4114800" cy="1005840"/>
          </a:xfrm>
          <a:prstGeom prst="rect">
            <a:avLst/>
          </a:prstGeom>
          <a:noFill/>
          <a:ln/>
        </p:spPr>
        <p:txBody>
          <a:bodyPr wrap="square" lIns="0" tIns="0" rIns="0" bIns="0" rtlCol="0" anchor="ctr"/>
          <a:lstStyle/>
          <a:p>
            <a:pPr indent="0" marL="0">
              <a:buNone/>
            </a:pPr>
            <a:r>
              <a:rPr lang="en-US" sz="1500" dirty="0">
                <a:solidFill>
                  <a:schemeClr val="tx1"/>
                </a:solidFill>
              </a:rPr>
              <a:t>Shared definitions, and review labels that a person has checked</a:t>
            </a:r>
            <a:endParaRPr lang="en-US" sz="1500" dirty="0"/>
          </a:p>
        </p:txBody>
      </p:sp>
      <p:sp>
        <p:nvSpPr>
          <p:cNvPr id="9" name="Done card"/>
          <p:cNvSpPr/>
          <p:nvPr/>
        </p:nvSpPr>
        <p:spPr>
          <a:xfrm>
            <a:off x="6126480" y="178308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0" name="Icon circle"/>
          <p:cNvSpPr/>
          <p:nvPr/>
        </p:nvSpPr>
        <p:spPr>
          <a:xfrm>
            <a:off x="6400800" y="2130552"/>
            <a:ext cx="594360" cy="594360"/>
          </a:xfrm>
          <a:prstGeom prst="ellipse">
            <a:avLst/>
          </a:prstGeom>
          <a:solidFill>
            <a:schemeClr val="accent2"/>
          </a:solidFill>
          <a:ln w="12700">
            <a:solidFill>
              <a:schemeClr val="accent2"/>
            </a:solidFill>
            <a:prstDash val="solid"/>
          </a:ln>
        </p:spPr>
      </p:sp>
      <p:pic>
        <p:nvPicPr>
          <p:cNvPr id="11" name="Image 1" descr="icon">    </p:cNvPr>
          <p:cNvPicPr>
            <a:picLocks noChangeAspect="1"/>
          </p:cNvPicPr>
          <p:nvPr/>
        </p:nvPicPr>
        <p:blipFill>
          <a:blip r:embed="rId2"/>
          <a:stretch>
            <a:fillRect/>
          </a:stretch>
        </p:blipFill>
        <p:spPr>
          <a:xfrm>
            <a:off x="6555334" y="2285086"/>
            <a:ext cx="285293" cy="285293"/>
          </a:xfrm>
          <a:prstGeom prst="rect">
            <a:avLst/>
          </a:prstGeom>
        </p:spPr>
      </p:pic>
      <p:sp>
        <p:nvSpPr>
          <p:cNvPr id="12" name="Text 7"/>
          <p:cNvSpPr txBox="1"/>
          <p:nvPr/>
        </p:nvSpPr>
        <p:spPr>
          <a:xfrm>
            <a:off x="7223760" y="1920240"/>
            <a:ext cx="4114800" cy="1005840"/>
          </a:xfrm>
          <a:prstGeom prst="rect">
            <a:avLst/>
          </a:prstGeom>
          <a:noFill/>
          <a:ln/>
        </p:spPr>
        <p:txBody>
          <a:bodyPr wrap="square" lIns="0" tIns="0" rIns="0" bIns="0" rtlCol="0" anchor="ctr"/>
          <a:lstStyle/>
          <a:p>
            <a:pPr indent="0" marL="0">
              <a:buNone/>
            </a:pPr>
            <a:r>
              <a:rPr lang="en-US" sz="1500" dirty="0">
                <a:solidFill>
                  <a:schemeClr val="tx1"/>
                </a:solidFill>
              </a:rPr>
              <a:t>At least one booking or no-show problem followed end to end and confirmed or ruled out</a:t>
            </a:r>
            <a:endParaRPr lang="en-US" sz="1500" dirty="0"/>
          </a:p>
        </p:txBody>
      </p:sp>
      <p:sp>
        <p:nvSpPr>
          <p:cNvPr id="13" name="Done card"/>
          <p:cNvSpPr/>
          <p:nvPr/>
        </p:nvSpPr>
        <p:spPr>
          <a:xfrm>
            <a:off x="548640" y="324612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4" name="Icon circle"/>
          <p:cNvSpPr/>
          <p:nvPr/>
        </p:nvSpPr>
        <p:spPr>
          <a:xfrm>
            <a:off x="822960" y="3593592"/>
            <a:ext cx="594360" cy="594360"/>
          </a:xfrm>
          <a:prstGeom prst="ellipse">
            <a:avLst/>
          </a:prstGeom>
          <a:solidFill>
            <a:schemeClr val="accent2"/>
          </a:solidFill>
          <a:ln w="12700">
            <a:solidFill>
              <a:schemeClr val="accent2"/>
            </a:solidFill>
            <a:prstDash val="solid"/>
          </a:ln>
        </p:spPr>
      </p:sp>
      <p:pic>
        <p:nvPicPr>
          <p:cNvPr id="15" name="Image 2" descr="icon">    </p:cNvPr>
          <p:cNvPicPr>
            <a:picLocks noChangeAspect="1"/>
          </p:cNvPicPr>
          <p:nvPr/>
        </p:nvPicPr>
        <p:blipFill>
          <a:blip r:embed="rId3"/>
          <a:stretch>
            <a:fillRect/>
          </a:stretch>
        </p:blipFill>
        <p:spPr>
          <a:xfrm>
            <a:off x="977494" y="3748126"/>
            <a:ext cx="285293" cy="285293"/>
          </a:xfrm>
          <a:prstGeom prst="rect">
            <a:avLst/>
          </a:prstGeom>
        </p:spPr>
      </p:pic>
      <p:sp>
        <p:nvSpPr>
          <p:cNvPr id="16" name="Text 10"/>
          <p:cNvSpPr txBox="1"/>
          <p:nvPr/>
        </p:nvSpPr>
        <p:spPr>
          <a:xfrm>
            <a:off x="1645920" y="3383280"/>
            <a:ext cx="4114800" cy="1005840"/>
          </a:xfrm>
          <a:prstGeom prst="rect">
            <a:avLst/>
          </a:prstGeom>
          <a:noFill/>
          <a:ln/>
        </p:spPr>
        <p:txBody>
          <a:bodyPr wrap="square" lIns="0" tIns="0" rIns="0" bIns="0" rtlCol="0" anchor="ctr"/>
          <a:lstStyle/>
          <a:p>
            <a:pPr indent="0" marL="0">
              <a:buNone/>
            </a:pPr>
            <a:r>
              <a:rPr lang="en-US" sz="1500" dirty="0">
                <a:solidFill>
                  <a:schemeClr val="tx1"/>
                </a:solidFill>
              </a:rPr>
              <a:t>A baseline for each early-sign measure, with missing data listed honestly</a:t>
            </a:r>
            <a:endParaRPr lang="en-US" sz="1500" dirty="0"/>
          </a:p>
        </p:txBody>
      </p:sp>
      <p:sp>
        <p:nvSpPr>
          <p:cNvPr id="17" name="Done card"/>
          <p:cNvSpPr/>
          <p:nvPr/>
        </p:nvSpPr>
        <p:spPr>
          <a:xfrm>
            <a:off x="6126480" y="324612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8" name="Icon circle"/>
          <p:cNvSpPr/>
          <p:nvPr/>
        </p:nvSpPr>
        <p:spPr>
          <a:xfrm>
            <a:off x="6400800" y="3593592"/>
            <a:ext cx="594360" cy="594360"/>
          </a:xfrm>
          <a:prstGeom prst="ellipse">
            <a:avLst/>
          </a:prstGeom>
          <a:solidFill>
            <a:schemeClr val="accent2"/>
          </a:solidFill>
          <a:ln w="12700">
            <a:solidFill>
              <a:schemeClr val="accent2"/>
            </a:solidFill>
            <a:prstDash val="solid"/>
          </a:ln>
        </p:spPr>
      </p:sp>
      <p:pic>
        <p:nvPicPr>
          <p:cNvPr id="19" name="Image 3" descr="icon">    </p:cNvPr>
          <p:cNvPicPr>
            <a:picLocks noChangeAspect="1"/>
          </p:cNvPicPr>
          <p:nvPr/>
        </p:nvPicPr>
        <p:blipFill>
          <a:blip r:embed="rId4"/>
          <a:stretch>
            <a:fillRect/>
          </a:stretch>
        </p:blipFill>
        <p:spPr>
          <a:xfrm>
            <a:off x="6555334" y="3748126"/>
            <a:ext cx="285293" cy="285293"/>
          </a:xfrm>
          <a:prstGeom prst="rect">
            <a:avLst/>
          </a:prstGeom>
        </p:spPr>
      </p:pic>
      <p:sp>
        <p:nvSpPr>
          <p:cNvPr id="20" name="Text 13"/>
          <p:cNvSpPr txBox="1"/>
          <p:nvPr/>
        </p:nvSpPr>
        <p:spPr>
          <a:xfrm>
            <a:off x="7223760" y="3383280"/>
            <a:ext cx="4114800" cy="1005840"/>
          </a:xfrm>
          <a:prstGeom prst="rect">
            <a:avLst/>
          </a:prstGeom>
          <a:noFill/>
          <a:ln/>
        </p:spPr>
        <p:txBody>
          <a:bodyPr wrap="square" lIns="0" tIns="0" rIns="0" bIns="0" rtlCol="0" anchor="ctr"/>
          <a:lstStyle/>
          <a:p>
            <a:pPr indent="0" marL="0">
              <a:buNone/>
            </a:pPr>
            <a:r>
              <a:rPr lang="en-US" sz="1500" dirty="0">
                <a:solidFill>
                  <a:schemeClr val="tx1"/>
                </a:solidFill>
              </a:rPr>
              <a:t>One or two fixes released step by step, each with a written decision</a:t>
            </a:r>
            <a:endParaRPr lang="en-US" sz="1500" dirty="0"/>
          </a:p>
        </p:txBody>
      </p:sp>
      <p:sp>
        <p:nvSpPr>
          <p:cNvPr id="21" name="Done card"/>
          <p:cNvSpPr/>
          <p:nvPr/>
        </p:nvSpPr>
        <p:spPr>
          <a:xfrm>
            <a:off x="548640" y="470916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2" name="Icon circle"/>
          <p:cNvSpPr/>
          <p:nvPr/>
        </p:nvSpPr>
        <p:spPr>
          <a:xfrm>
            <a:off x="822960" y="5056632"/>
            <a:ext cx="594360" cy="594360"/>
          </a:xfrm>
          <a:prstGeom prst="ellipse">
            <a:avLst/>
          </a:prstGeom>
          <a:solidFill>
            <a:schemeClr val="accent2"/>
          </a:solidFill>
          <a:ln w="12700">
            <a:solidFill>
              <a:schemeClr val="accent2"/>
            </a:solidFill>
            <a:prstDash val="solid"/>
          </a:ln>
        </p:spPr>
      </p:sp>
      <p:pic>
        <p:nvPicPr>
          <p:cNvPr id="23" name="Image 4" descr="icon">    </p:cNvPr>
          <p:cNvPicPr>
            <a:picLocks noChangeAspect="1"/>
          </p:cNvPicPr>
          <p:nvPr/>
        </p:nvPicPr>
        <p:blipFill>
          <a:blip r:embed="rId5"/>
          <a:stretch>
            <a:fillRect/>
          </a:stretch>
        </p:blipFill>
        <p:spPr>
          <a:xfrm>
            <a:off x="977494" y="5211166"/>
            <a:ext cx="285293" cy="285293"/>
          </a:xfrm>
          <a:prstGeom prst="rect">
            <a:avLst/>
          </a:prstGeom>
        </p:spPr>
      </p:pic>
      <p:sp>
        <p:nvSpPr>
          <p:cNvPr id="24" name="Text 16"/>
          <p:cNvSpPr txBox="1"/>
          <p:nvPr/>
        </p:nvSpPr>
        <p:spPr>
          <a:xfrm>
            <a:off x="1645920" y="4846320"/>
            <a:ext cx="4114800" cy="1005840"/>
          </a:xfrm>
          <a:prstGeom prst="rect">
            <a:avLst/>
          </a:prstGeom>
          <a:noFill/>
          <a:ln/>
        </p:spPr>
        <p:txBody>
          <a:bodyPr wrap="square" lIns="0" tIns="0" rIns="0" bIns="0" rtlCol="0" anchor="ctr"/>
          <a:lstStyle/>
          <a:p>
            <a:pPr indent="0" marL="0">
              <a:buNone/>
            </a:pPr>
            <a:r>
              <a:rPr lang="en-US" sz="1500" dirty="0">
                <a:solidFill>
                  <a:schemeClr val="tx1"/>
                </a:solidFill>
              </a:rPr>
              <a:t>A weekly review routine with a named owner and a decision log</a:t>
            </a:r>
            <a:endParaRPr lang="en-US" sz="1500" dirty="0"/>
          </a:p>
        </p:txBody>
      </p:sp>
      <p:sp>
        <p:nvSpPr>
          <p:cNvPr id="25" name="Done card"/>
          <p:cNvSpPr/>
          <p:nvPr/>
        </p:nvSpPr>
        <p:spPr>
          <a:xfrm>
            <a:off x="6126480" y="4709160"/>
            <a:ext cx="5422392" cy="1280160"/>
          </a:xfrm>
          <a:prstGeom prst="roundRect">
            <a:avLst>
              <a:gd name="adj" fmla="val 571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26" name="Icon circle"/>
          <p:cNvSpPr/>
          <p:nvPr/>
        </p:nvSpPr>
        <p:spPr>
          <a:xfrm>
            <a:off x="6400800" y="5056632"/>
            <a:ext cx="594360" cy="594360"/>
          </a:xfrm>
          <a:prstGeom prst="ellipse">
            <a:avLst/>
          </a:prstGeom>
          <a:solidFill>
            <a:schemeClr val="accent2"/>
          </a:solidFill>
          <a:ln w="12700">
            <a:solidFill>
              <a:schemeClr val="accent2"/>
            </a:solidFill>
            <a:prstDash val="solid"/>
          </a:ln>
        </p:spPr>
      </p:sp>
      <p:pic>
        <p:nvPicPr>
          <p:cNvPr id="27" name="Image 5" descr="icon">    </p:cNvPr>
          <p:cNvPicPr>
            <a:picLocks noChangeAspect="1"/>
          </p:cNvPicPr>
          <p:nvPr/>
        </p:nvPicPr>
        <p:blipFill>
          <a:blip r:embed="rId6"/>
          <a:stretch>
            <a:fillRect/>
          </a:stretch>
        </p:blipFill>
        <p:spPr>
          <a:xfrm>
            <a:off x="6555334" y="5211166"/>
            <a:ext cx="285293" cy="285293"/>
          </a:xfrm>
          <a:prstGeom prst="rect">
            <a:avLst/>
          </a:prstGeom>
        </p:spPr>
      </p:pic>
      <p:sp>
        <p:nvSpPr>
          <p:cNvPr id="28" name="Text 19"/>
          <p:cNvSpPr txBox="1"/>
          <p:nvPr/>
        </p:nvSpPr>
        <p:spPr>
          <a:xfrm>
            <a:off x="7223760" y="4846320"/>
            <a:ext cx="4114800" cy="1005840"/>
          </a:xfrm>
          <a:prstGeom prst="rect">
            <a:avLst/>
          </a:prstGeom>
          <a:noFill/>
          <a:ln/>
        </p:spPr>
        <p:txBody>
          <a:bodyPr wrap="square" lIns="0" tIns="0" rIns="0" bIns="0" rtlCol="0" anchor="ctr"/>
          <a:lstStyle/>
          <a:p>
            <a:pPr indent="0" marL="0">
              <a:buNone/>
            </a:pPr>
            <a:r>
              <a:rPr lang="en-US" sz="1500" dirty="0">
                <a:solidFill>
                  <a:schemeClr val="tx1"/>
                </a:solidFill>
              </a:rPr>
              <a:t>A short readout: what we proved, what we suspect, what we still do not know</a:t>
            </a:r>
            <a:endParaRPr lang="en-US" sz="15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LIMITS AND NEXT STEP</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Limits of this study, and what I would ask for on day one</a:t>
            </a:r>
            <a:endParaRPr lang="en-US" sz="3200" dirty="0"/>
          </a:p>
        </p:txBody>
      </p:sp>
      <p:sp>
        <p:nvSpPr>
          <p:cNvPr id="5" name="Limits card"/>
          <p:cNvSpPr/>
          <p:nvPr/>
        </p:nvSpPr>
        <p:spPr>
          <a:xfrm>
            <a:off x="548640" y="1783080"/>
            <a:ext cx="5422392" cy="4343400"/>
          </a:xfrm>
          <a:prstGeom prst="roundRect">
            <a:avLst>
              <a:gd name="adj" fmla="val 168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6" name="Icon circle"/>
          <p:cNvSpPr/>
          <p:nvPr/>
        </p:nvSpPr>
        <p:spPr>
          <a:xfrm>
            <a:off x="822960" y="1965960"/>
            <a:ext cx="548640" cy="548640"/>
          </a:xfrm>
          <a:prstGeom prst="ellipse">
            <a:avLst/>
          </a:prstGeom>
          <a:solidFill>
            <a:schemeClr val="accent3"/>
          </a:solidFill>
          <a:ln w="12700">
            <a:solidFill>
              <a:schemeClr val="accent3"/>
            </a:solidFill>
            <a:prstDash val="solid"/>
          </a:ln>
        </p:spPr>
      </p:sp>
      <p:pic>
        <p:nvPicPr>
          <p:cNvPr id="7" name="Image 0" descr="icon">    </p:cNvPr>
          <p:cNvPicPr>
            <a:picLocks noChangeAspect="1"/>
          </p:cNvPicPr>
          <p:nvPr/>
        </p:nvPicPr>
        <p:blipFill>
          <a:blip r:embed="rId1"/>
          <a:stretch>
            <a:fillRect/>
          </a:stretch>
        </p:blipFill>
        <p:spPr>
          <a:xfrm>
            <a:off x="965606" y="2108606"/>
            <a:ext cx="263347" cy="263347"/>
          </a:xfrm>
          <a:prstGeom prst="rect">
            <a:avLst/>
          </a:prstGeom>
        </p:spPr>
      </p:pic>
      <p:sp>
        <p:nvSpPr>
          <p:cNvPr id="8" name="Text 4"/>
          <p:cNvSpPr txBox="1"/>
          <p:nvPr/>
        </p:nvSpPr>
        <p:spPr>
          <a:xfrm>
            <a:off x="1554480" y="1965960"/>
            <a:ext cx="4114800" cy="548640"/>
          </a:xfrm>
          <a:prstGeom prst="rect">
            <a:avLst/>
          </a:prstGeom>
          <a:noFill/>
          <a:ln/>
        </p:spPr>
        <p:txBody>
          <a:bodyPr wrap="square" lIns="0" tIns="0" rIns="0" bIns="0" rtlCol="0" anchor="ctr"/>
          <a:lstStyle/>
          <a:p>
            <a:pPr indent="0" marL="0">
              <a:buNone/>
            </a:pPr>
            <a:r>
              <a:rPr lang="en-US" sz="1900" b="1" dirty="0">
                <a:solidFill>
                  <a:schemeClr val="tx2"/>
                </a:solidFill>
              </a:rPr>
              <a:t>Limits</a:t>
            </a:r>
            <a:endParaRPr lang="en-US" sz="1900" dirty="0"/>
          </a:p>
        </p:txBody>
      </p:sp>
      <p:sp>
        <p:nvSpPr>
          <p:cNvPr id="9" name="Text 5"/>
          <p:cNvSpPr txBox="1"/>
          <p:nvPr/>
        </p:nvSpPr>
        <p:spPr>
          <a:xfrm>
            <a:off x="822960" y="2743200"/>
            <a:ext cx="4892040" cy="3291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Newest 1,000 written reviews over 118 days. Not random, not the whole history</a:t>
            </a:r>
            <a:endParaRPr lang="en-US" sz="1400" dirty="0"/>
          </a:p>
          <a:p>
            <a:pPr marL="342900" indent="-342900">
              <a:spcAft>
                <a:spcPts val="600"/>
              </a:spcAft>
              <a:buSzPct val="100000"/>
              <a:buChar char="•"/>
            </a:pPr>
            <a:r>
              <a:rPr lang="en-US" sz="1600" dirty="0">
                <a:solidFill>
                  <a:schemeClr val="tx1"/>
                </a:solidFill>
              </a:rPr>
              <a:t>Low-star pull failed, so 292 is the low-star part of the sample</a:t>
            </a:r>
            <a:endParaRPr lang="en-US" sz="1400" dirty="0"/>
          </a:p>
          <a:p>
            <a:pPr marL="342900" indent="-342900">
              <a:spcAft>
                <a:spcPts val="600"/>
              </a:spcAft>
              <a:buSzPct val="100000"/>
              <a:buChar char="•"/>
            </a:pPr>
            <a:r>
              <a:rPr lang="en-US" sz="1600" dirty="0">
                <a:solidFill>
                  <a:schemeClr val="tx1"/>
                </a:solidFill>
              </a:rPr>
              <a:t>Listing score noted by hand. The script did not save it</a:t>
            </a:r>
            <a:endParaRPr lang="en-US" sz="1400" dirty="0"/>
          </a:p>
          <a:p>
            <a:pPr marL="342900" indent="-342900">
              <a:spcAft>
                <a:spcPts val="600"/>
              </a:spcAft>
              <a:buSzPct val="100000"/>
              <a:buChar char="•"/>
            </a:pPr>
            <a:r>
              <a:rPr lang="en-US" sz="1600" dirty="0">
                <a:solidFill>
                  <a:schemeClr val="tx1"/>
                </a:solidFill>
              </a:rPr>
              <a:t>Theme counts are chart readings. They count mentions, and labels are not yet human-checked</a:t>
            </a:r>
            <a:endParaRPr lang="en-US" sz="1400" dirty="0"/>
          </a:p>
          <a:p>
            <a:pPr marL="342900" indent="-342900">
              <a:spcAft>
                <a:spcPts val="600"/>
              </a:spcAft>
              <a:buSzPct val="100000"/>
              <a:buChar char="•"/>
            </a:pPr>
            <a:r>
              <a:rPr lang="en-US" sz="1600" dirty="0">
                <a:solidFill>
                  <a:schemeClr val="tx1"/>
                </a:solidFill>
              </a:rPr>
              <a:t>Counts have no trip numbers, so they are not failure rates</a:t>
            </a:r>
            <a:endParaRPr lang="en-US" sz="1400" dirty="0"/>
          </a:p>
        </p:txBody>
      </p:sp>
      <p:sp>
        <p:nvSpPr>
          <p:cNvPr id="10" name="Data request card"/>
          <p:cNvSpPr/>
          <p:nvPr/>
        </p:nvSpPr>
        <p:spPr>
          <a:xfrm>
            <a:off x="6217920" y="1783080"/>
            <a:ext cx="5422392" cy="4343400"/>
          </a:xfrm>
          <a:prstGeom prst="roundRect">
            <a:avLst>
              <a:gd name="adj" fmla="val 1684"/>
            </a:avLst>
          </a:prstGeom>
          <a:solidFill>
            <a:schemeClr val="bg1"/>
          </a:solidFill>
          <a:ln w="12700">
            <a:solidFill>
              <a:schemeClr val="bg1"/>
            </a:solidFill>
            <a:prstDash val="solid"/>
          </a:ln>
          <a:effectLst>
            <a:outerShdw sx="100000" sy="100000" kx="0" ky="0" algn="bl" rotWithShape="0" blurRad="76200" dist="25400" dir="5400000">
              <a:srgbClr val="000000">
                <a:alpha val="12000"/>
              </a:srgbClr>
            </a:outerShdw>
          </a:effectLst>
        </p:spPr>
      </p:sp>
      <p:sp>
        <p:nvSpPr>
          <p:cNvPr id="11" name="Icon circle"/>
          <p:cNvSpPr/>
          <p:nvPr/>
        </p:nvSpPr>
        <p:spPr>
          <a:xfrm>
            <a:off x="6492240" y="1965960"/>
            <a:ext cx="548640" cy="548640"/>
          </a:xfrm>
          <a:prstGeom prst="ellipse">
            <a:avLst/>
          </a:prstGeom>
          <a:solidFill>
            <a:schemeClr val="accent2"/>
          </a:solidFill>
          <a:ln w="12700">
            <a:solidFill>
              <a:schemeClr val="accent2"/>
            </a:solidFill>
            <a:prstDash val="solid"/>
          </a:ln>
        </p:spPr>
      </p:sp>
      <p:pic>
        <p:nvPicPr>
          <p:cNvPr id="12" name="Image 1" descr="icon">    </p:cNvPr>
          <p:cNvPicPr>
            <a:picLocks noChangeAspect="1"/>
          </p:cNvPicPr>
          <p:nvPr/>
        </p:nvPicPr>
        <p:blipFill>
          <a:blip r:embed="rId2"/>
          <a:stretch>
            <a:fillRect/>
          </a:stretch>
        </p:blipFill>
        <p:spPr>
          <a:xfrm>
            <a:off x="6634886" y="2108606"/>
            <a:ext cx="263347" cy="263347"/>
          </a:xfrm>
          <a:prstGeom prst="rect">
            <a:avLst/>
          </a:prstGeom>
        </p:spPr>
      </p:pic>
      <p:sp>
        <p:nvSpPr>
          <p:cNvPr id="13" name="Text 8"/>
          <p:cNvSpPr txBox="1"/>
          <p:nvPr/>
        </p:nvSpPr>
        <p:spPr>
          <a:xfrm>
            <a:off x="7223760" y="1965960"/>
            <a:ext cx="4297680" cy="548640"/>
          </a:xfrm>
          <a:prstGeom prst="rect">
            <a:avLst/>
          </a:prstGeom>
          <a:noFill/>
          <a:ln/>
        </p:spPr>
        <p:txBody>
          <a:bodyPr wrap="square" lIns="0" tIns="0" rIns="0" bIns="0" rtlCol="0" anchor="ctr"/>
          <a:lstStyle/>
          <a:p>
            <a:pPr indent="0" marL="0">
              <a:buNone/>
            </a:pPr>
            <a:r>
              <a:rPr lang="en-US" sz="1900" b="1" dirty="0">
                <a:solidFill>
                  <a:schemeClr val="tx2"/>
                </a:solidFill>
              </a:rPr>
              <a:t>Day-one data request</a:t>
            </a:r>
            <a:endParaRPr lang="en-US" sz="1900" dirty="0"/>
          </a:p>
        </p:txBody>
      </p:sp>
      <p:sp>
        <p:nvSpPr>
          <p:cNvPr id="14" name="Text 9"/>
          <p:cNvSpPr txBox="1"/>
          <p:nvPr/>
        </p:nvSpPr>
        <p:spPr>
          <a:xfrm>
            <a:off x="6492240" y="2743200"/>
            <a:ext cx="4892040" cy="32918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90-day review export, identities removed</a:t>
            </a:r>
            <a:endParaRPr lang="en-US" sz="1400" dirty="0"/>
          </a:p>
          <a:p>
            <a:pPr marL="342900" indent="-342900">
              <a:spcAft>
                <a:spcPts val="600"/>
              </a:spcAft>
              <a:buSzPct val="100000"/>
              <a:buChar char="•"/>
            </a:pPr>
            <a:r>
              <a:rPr lang="en-US" sz="1600" dirty="0">
                <a:solidFill>
                  <a:schemeClr val="tx1"/>
                </a:solidFill>
              </a:rPr>
              <a:t>App version and phone details</a:t>
            </a:r>
            <a:endParaRPr lang="en-US" sz="1400" dirty="0"/>
          </a:p>
          <a:p>
            <a:pPr marL="342900" indent="-342900">
              <a:spcAft>
                <a:spcPts val="600"/>
              </a:spcAft>
              <a:buSzPct val="100000"/>
              <a:buChar char="•"/>
            </a:pPr>
            <a:r>
              <a:rPr lang="en-US" sz="1600" dirty="0">
                <a:solidFill>
                  <a:schemeClr val="tx1"/>
                </a:solidFill>
              </a:rPr>
              <a:t>Booking and trip events, GPS and ETA timestamps</a:t>
            </a:r>
            <a:endParaRPr lang="en-US" sz="1400" dirty="0"/>
          </a:p>
          <a:p>
            <a:pPr marL="342900" indent="-342900">
              <a:spcAft>
                <a:spcPts val="600"/>
              </a:spcAft>
              <a:buSzPct val="100000"/>
              <a:buChar char="•"/>
            </a:pPr>
            <a:r>
              <a:rPr lang="en-US" sz="1600" dirty="0">
                <a:solidFill>
                  <a:schemeClr val="tx1"/>
                </a:solidFill>
              </a:rPr>
              <a:t>Push and delay logs, crash-free sessions</a:t>
            </a:r>
            <a:endParaRPr lang="en-US" sz="1400" dirty="0"/>
          </a:p>
          <a:p>
            <a:pPr marL="342900" indent="-342900">
              <a:spcAft>
                <a:spcPts val="600"/>
              </a:spcAft>
              <a:buSzPct val="100000"/>
              <a:buChar char="•"/>
            </a:pPr>
            <a:r>
              <a:rPr lang="en-US" sz="1600" dirty="0">
                <a:solidFill>
                  <a:schemeClr val="tx1"/>
                </a:solidFill>
              </a:rPr>
              <a:t>Support ticket tags</a:t>
            </a:r>
            <a:endParaRPr lang="en-US" sz="1400" dirty="0"/>
          </a:p>
          <a:p>
            <a:pPr marL="342900" indent="-342900">
              <a:spcAft>
                <a:spcPts val="600"/>
              </a:spcAft>
              <a:buSzPct val="100000"/>
              <a:buChar char="•"/>
            </a:pPr>
            <a:r>
              <a:rPr lang="en-US" sz="1600" dirty="0">
                <a:solidFill>
                  <a:schemeClr val="tx1"/>
                </a:solidFill>
              </a:rPr>
              <a:t>Scheduled and actual pickup times, vehicle and driver changes</a:t>
            </a:r>
            <a:endParaRPr lang="en-US" sz="1400" dirty="0"/>
          </a:p>
          <a:p>
            <a:pPr marL="342900" indent="-342900">
              <a:spcAft>
                <a:spcPts val="600"/>
              </a:spcAft>
              <a:buSzPct val="100000"/>
              <a:buChar char="•"/>
            </a:pPr>
            <a:r>
              <a:rPr lang="en-US" sz="1600" dirty="0">
                <a:solidFill>
                  <a:schemeClr val="tx1"/>
                </a:solidFill>
              </a:rPr>
              <a:t>No-show disputes and outcomes</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731520" y="731520"/>
            <a:ext cx="10698480" cy="1280160"/>
          </a:xfrm>
          <a:prstGeom prst="rect">
            <a:avLst/>
          </a:prstGeom>
          <a:noFill/>
          <a:ln/>
        </p:spPr>
        <p:txBody>
          <a:bodyPr wrap="square" lIns="0" tIns="0" rIns="0" bIns="0" rtlCol="0" anchor="t"/>
          <a:lstStyle/>
          <a:p>
            <a:pPr algn="l" indent="0" marL="0">
              <a:buNone/>
            </a:pPr>
            <a:r>
              <a:rPr lang="en-US" sz="3600" b="1" dirty="0">
                <a:solidFill>
                  <a:schemeClr val="bg1"/>
                </a:solidFill>
              </a:rPr>
              <a:t>Fix the commute first, then measure whether the reviews follow</a:t>
            </a:r>
            <a:endParaRPr lang="en-US" sz="3600" dirty="0"/>
          </a:p>
        </p:txBody>
      </p:sp>
      <p:sp>
        <p:nvSpPr>
          <p:cNvPr id="3" name="Close card"/>
          <p:cNvSpPr/>
          <p:nvPr/>
        </p:nvSpPr>
        <p:spPr>
          <a:xfrm>
            <a:off x="731520" y="2423160"/>
            <a:ext cx="3520440" cy="2468880"/>
          </a:xfrm>
          <a:prstGeom prst="roundRect">
            <a:avLst>
              <a:gd name="adj" fmla="val 2963"/>
            </a:avLst>
          </a:prstGeom>
          <a:solidFill>
            <a:schemeClr val="accent4"/>
          </a:solidFill>
          <a:ln w="12700">
            <a:solidFill>
              <a:schemeClr val="accent4"/>
            </a:solidFill>
            <a:prstDash val="solid"/>
          </a:ln>
        </p:spPr>
      </p:sp>
      <p:sp>
        <p:nvSpPr>
          <p:cNvPr id="4" name="Number badge"/>
          <p:cNvSpPr/>
          <p:nvPr/>
        </p:nvSpPr>
        <p:spPr>
          <a:xfrm>
            <a:off x="1005840" y="265176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1005840" y="2651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005840" y="3337560"/>
            <a:ext cx="3017520" cy="411480"/>
          </a:xfrm>
          <a:prstGeom prst="rect">
            <a:avLst/>
          </a:prstGeom>
          <a:noFill/>
          <a:ln/>
        </p:spPr>
        <p:txBody>
          <a:bodyPr wrap="square" lIns="0" tIns="0" rIns="0" bIns="0" rtlCol="0" anchor="ctr"/>
          <a:lstStyle/>
          <a:p>
            <a:pPr indent="0" marL="0">
              <a:buNone/>
            </a:pPr>
            <a:r>
              <a:rPr lang="en-US" sz="1900" b="1" dirty="0">
                <a:solidFill>
                  <a:schemeClr val="bg1"/>
                </a:solidFill>
              </a:rPr>
              <a:t>Fix the data gaps</a:t>
            </a:r>
            <a:endParaRPr lang="en-US" sz="1900" dirty="0"/>
          </a:p>
        </p:txBody>
      </p:sp>
      <p:sp>
        <p:nvSpPr>
          <p:cNvPr id="7" name="Text 5"/>
          <p:cNvSpPr txBox="1"/>
          <p:nvPr/>
        </p:nvSpPr>
        <p:spPr>
          <a:xfrm>
            <a:off x="1005840" y="3794760"/>
            <a:ext cx="3017520" cy="1005840"/>
          </a:xfrm>
          <a:prstGeom prst="rect">
            <a:avLst/>
          </a:prstGeom>
          <a:noFill/>
          <a:ln/>
        </p:spPr>
        <p:txBody>
          <a:bodyPr wrap="square" lIns="0" tIns="0" rIns="0" bIns="0" rtlCol="0" anchor="t"/>
          <a:lstStyle/>
          <a:p>
            <a:pPr indent="0" marL="0">
              <a:buNone/>
            </a:pPr>
            <a:r>
              <a:rPr lang="en-US" sz="1400" dirty="0">
                <a:solidFill>
                  <a:schemeClr val="bg2"/>
                </a:solidFill>
              </a:rPr>
              <a:t>Re-run the low-star pull, capture the listing score, check the labels by hand.</a:t>
            </a:r>
            <a:endParaRPr lang="en-US" sz="1400" dirty="0"/>
          </a:p>
        </p:txBody>
      </p:sp>
      <p:sp>
        <p:nvSpPr>
          <p:cNvPr id="8" name="Close card"/>
          <p:cNvSpPr/>
          <p:nvPr/>
        </p:nvSpPr>
        <p:spPr>
          <a:xfrm>
            <a:off x="4434840" y="2423160"/>
            <a:ext cx="3520440" cy="2468880"/>
          </a:xfrm>
          <a:prstGeom prst="roundRect">
            <a:avLst>
              <a:gd name="adj" fmla="val 2963"/>
            </a:avLst>
          </a:prstGeom>
          <a:solidFill>
            <a:schemeClr val="accent4"/>
          </a:solidFill>
          <a:ln w="12700">
            <a:solidFill>
              <a:schemeClr val="accent4"/>
            </a:solidFill>
            <a:prstDash val="solid"/>
          </a:ln>
        </p:spPr>
      </p:sp>
      <p:sp>
        <p:nvSpPr>
          <p:cNvPr id="9" name="Number badge"/>
          <p:cNvSpPr/>
          <p:nvPr/>
        </p:nvSpPr>
        <p:spPr>
          <a:xfrm>
            <a:off x="4709160" y="265176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4709160" y="2651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4709160" y="3337560"/>
            <a:ext cx="3017520" cy="411480"/>
          </a:xfrm>
          <a:prstGeom prst="rect">
            <a:avLst/>
          </a:prstGeom>
          <a:noFill/>
          <a:ln/>
        </p:spPr>
        <p:txBody>
          <a:bodyPr wrap="square" lIns="0" tIns="0" rIns="0" bIns="0" rtlCol="0" anchor="ctr"/>
          <a:lstStyle/>
          <a:p>
            <a:pPr indent="0" marL="0">
              <a:buNone/>
            </a:pPr>
            <a:r>
              <a:rPr lang="en-US" sz="1900" b="1" dirty="0">
                <a:solidFill>
                  <a:schemeClr val="bg1"/>
                </a:solidFill>
              </a:rPr>
              <a:t>Confirm the failures</a:t>
            </a:r>
            <a:endParaRPr lang="en-US" sz="1900" dirty="0"/>
          </a:p>
        </p:txBody>
      </p:sp>
      <p:sp>
        <p:nvSpPr>
          <p:cNvPr id="12" name="Text 10"/>
          <p:cNvSpPr txBox="1"/>
          <p:nvPr/>
        </p:nvSpPr>
        <p:spPr>
          <a:xfrm>
            <a:off x="4709160" y="3794760"/>
            <a:ext cx="3017520" cy="1005840"/>
          </a:xfrm>
          <a:prstGeom prst="rect">
            <a:avLst/>
          </a:prstGeom>
          <a:noFill/>
          <a:ln/>
        </p:spPr>
        <p:txBody>
          <a:bodyPr wrap="square" lIns="0" tIns="0" rIns="0" bIns="0" rtlCol="0" anchor="t"/>
          <a:lstStyle/>
          <a:p>
            <a:pPr indent="0" marL="0">
              <a:buNone/>
            </a:pPr>
            <a:r>
              <a:rPr lang="en-US" sz="1400" dirty="0">
                <a:solidFill>
                  <a:schemeClr val="bg2"/>
                </a:solidFill>
              </a:rPr>
              <a:t>Trace real cases with event data. Booking and no-show first.</a:t>
            </a:r>
            <a:endParaRPr lang="en-US" sz="1400" dirty="0"/>
          </a:p>
        </p:txBody>
      </p:sp>
      <p:sp>
        <p:nvSpPr>
          <p:cNvPr id="13" name="Close card"/>
          <p:cNvSpPr/>
          <p:nvPr/>
        </p:nvSpPr>
        <p:spPr>
          <a:xfrm>
            <a:off x="8138160" y="2423160"/>
            <a:ext cx="3520440" cy="2468880"/>
          </a:xfrm>
          <a:prstGeom prst="roundRect">
            <a:avLst>
              <a:gd name="adj" fmla="val 2963"/>
            </a:avLst>
          </a:prstGeom>
          <a:solidFill>
            <a:schemeClr val="accent4"/>
          </a:solidFill>
          <a:ln w="12700">
            <a:solidFill>
              <a:schemeClr val="accent4"/>
            </a:solidFill>
            <a:prstDash val="solid"/>
          </a:ln>
        </p:spPr>
      </p:sp>
      <p:sp>
        <p:nvSpPr>
          <p:cNvPr id="14" name="Number badge"/>
          <p:cNvSpPr/>
          <p:nvPr/>
        </p:nvSpPr>
        <p:spPr>
          <a:xfrm>
            <a:off x="8412480" y="2651760"/>
            <a:ext cx="502920" cy="502920"/>
          </a:xfrm>
          <a:prstGeom prst="ellipse">
            <a:avLst/>
          </a:prstGeom>
          <a:solidFill>
            <a:schemeClr val="accent1"/>
          </a:solidFill>
          <a:ln w="12700">
            <a:solidFill>
              <a:schemeClr val="accent1"/>
            </a:solidFill>
            <a:prstDash val="solid"/>
          </a:ln>
        </p:spPr>
      </p:sp>
      <p:sp>
        <p:nvSpPr>
          <p:cNvPr id="15" name="Text 13"/>
          <p:cNvSpPr txBox="1"/>
          <p:nvPr/>
        </p:nvSpPr>
        <p:spPr>
          <a:xfrm>
            <a:off x="8412480" y="26517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412480" y="3337560"/>
            <a:ext cx="3017520" cy="411480"/>
          </a:xfrm>
          <a:prstGeom prst="rect">
            <a:avLst/>
          </a:prstGeom>
          <a:noFill/>
          <a:ln/>
        </p:spPr>
        <p:txBody>
          <a:bodyPr wrap="square" lIns="0" tIns="0" rIns="0" bIns="0" rtlCol="0" anchor="ctr"/>
          <a:lstStyle/>
          <a:p>
            <a:pPr indent="0" marL="0">
              <a:buNone/>
            </a:pPr>
            <a:r>
              <a:rPr lang="en-US" sz="1900" b="1" dirty="0">
                <a:solidFill>
                  <a:schemeClr val="bg1"/>
                </a:solidFill>
              </a:rPr>
              <a:t>Release small</a:t>
            </a:r>
            <a:endParaRPr lang="en-US" sz="1900" dirty="0"/>
          </a:p>
        </p:txBody>
      </p:sp>
      <p:sp>
        <p:nvSpPr>
          <p:cNvPr id="17" name="Text 15"/>
          <p:cNvSpPr txBox="1"/>
          <p:nvPr/>
        </p:nvSpPr>
        <p:spPr>
          <a:xfrm>
            <a:off x="8412480" y="3794760"/>
            <a:ext cx="3017520" cy="1005840"/>
          </a:xfrm>
          <a:prstGeom prst="rect">
            <a:avLst/>
          </a:prstGeom>
          <a:noFill/>
          <a:ln/>
        </p:spPr>
        <p:txBody>
          <a:bodyPr wrap="square" lIns="0" tIns="0" rIns="0" bIns="0" rtlCol="0" anchor="t"/>
          <a:lstStyle/>
          <a:p>
            <a:pPr indent="0" marL="0">
              <a:buNone/>
            </a:pPr>
            <a:r>
              <a:rPr lang="en-US" sz="1400" dirty="0">
                <a:solidFill>
                  <a:schemeClr val="bg2"/>
                </a:solidFill>
              </a:rPr>
              <a:t>Small groups, early-sign numbers, and a written decision every time.</a:t>
            </a:r>
            <a:endParaRPr lang="en-US" sz="1400" dirty="0"/>
          </a:p>
        </p:txBody>
      </p:sp>
      <p:sp>
        <p:nvSpPr>
          <p:cNvPr id="18" name="Text 16"/>
          <p:cNvSpPr txBox="1"/>
          <p:nvPr/>
        </p:nvSpPr>
        <p:spPr>
          <a:xfrm>
            <a:off x="731520" y="5440680"/>
            <a:ext cx="7315200" cy="457200"/>
          </a:xfrm>
          <a:prstGeom prst="rect">
            <a:avLst/>
          </a:prstGeom>
          <a:noFill/>
          <a:ln/>
        </p:spPr>
        <p:txBody>
          <a:bodyPr wrap="square" lIns="0" tIns="0" rIns="0" bIns="0" rtlCol="0" anchor="ctr"/>
          <a:lstStyle/>
          <a:p>
            <a:pPr indent="0" marL="0">
              <a:buNone/>
            </a:pPr>
            <a:r>
              <a:rPr lang="en-US" sz="2400" b="1" dirty="0">
                <a:solidFill>
                  <a:schemeClr val="accent1"/>
                </a:solidFill>
              </a:rPr>
              <a:t>Thank you. Questions?</a:t>
            </a:r>
            <a:endParaRPr lang="en-US" sz="2400" dirty="0"/>
          </a:p>
        </p:txBody>
      </p:sp>
      <p:sp>
        <p:nvSpPr>
          <p:cNvPr id="19" name="Text 17"/>
          <p:cNvSpPr txBox="1"/>
          <p:nvPr/>
        </p:nvSpPr>
        <p:spPr>
          <a:xfrm>
            <a:off x="731520" y="5943600"/>
            <a:ext cx="7315200" cy="320040"/>
          </a:xfrm>
          <a:prstGeom prst="rect">
            <a:avLst/>
          </a:prstGeom>
          <a:noFill/>
          <a:ln/>
        </p:spPr>
        <p:txBody>
          <a:bodyPr wrap="square" lIns="0" tIns="0" rIns="0" bIns="0" rtlCol="0" anchor="ctr"/>
          <a:lstStyle/>
          <a:p>
            <a:pPr indent="0" marL="0">
              <a:buNone/>
            </a:pPr>
            <a:r>
              <a:rPr lang="en-US" sz="1400" dirty="0">
                <a:solidFill>
                  <a:schemeClr val="accent5"/>
                </a:solidFill>
              </a:rPr>
              <a:t>Tharun Teja  |  Forward Deployed Engineer case study</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ection label"/>
          <p:cNvSpPr txBox="1"/>
          <p:nvPr/>
        </p:nvSpPr>
        <p:spPr>
          <a:xfrm>
            <a:off x="548640" y="228600"/>
            <a:ext cx="7315200" cy="256032"/>
          </a:xfrm>
          <a:prstGeom prst="rect">
            <a:avLst/>
          </a:prstGeom>
          <a:noFill/>
          <a:ln/>
        </p:spPr>
        <p:txBody>
          <a:bodyPr wrap="square" lIns="0" tIns="0" rIns="0" bIns="0" rtlCol="0" anchor="ctr"/>
          <a:lstStyle/>
          <a:p>
            <a:pPr indent="0" marL="0">
              <a:buNone/>
            </a:pPr>
            <a:r>
              <a:rPr lang="en-US" sz="1100" b="1" spc="200" kern="0" dirty="0">
                <a:solidFill>
                  <a:schemeClr val="accent2"/>
                </a:solidFill>
              </a:rPr>
              <a:t>APPENDIX</a:t>
            </a:r>
            <a:endParaRPr lang="en-US" sz="1100" dirty="0"/>
          </a:p>
        </p:txBody>
      </p:sp>
      <p:sp>
        <p:nvSpPr>
          <p:cNvPr id="3" name="Text 0"/>
          <p:cNvSpPr/>
          <p:nvPr>
            <p:ph idx="100" type="title" hasCustomPrompt="1"/>
          </p:nvPr>
        </p:nvSpPr>
        <p:spPr>
          <a:xfrm>
            <a:off x="548640" y="502920"/>
            <a:ext cx="11091672" cy="1051560"/>
          </a:xfrm>
          <a:prstGeom prst="rect">
            <a:avLst/>
          </a:prstGeom>
          <a:noFill/>
          <a:ln/>
        </p:spPr>
        <p:txBody>
          <a:bodyPr wrap="square" lIns="0" tIns="0" rIns="0" bIns="0" rtlCol="0" anchor="t"/>
          <a:lstStyle/>
          <a:p>
            <a:pPr algn="l" indent="0" marL="0">
              <a:buNone/>
            </a:pPr>
            <a:r>
              <a:rPr lang="en-US" sz="3200" b="1" dirty="0">
                <a:solidFill>
                  <a:schemeClr val="tx2"/>
                </a:solidFill>
              </a:rPr>
              <a:t>References and notebook</a:t>
            </a:r>
            <a:endParaRPr lang="en-US" sz="3200" dirty="0"/>
          </a:p>
        </p:txBody>
      </p:sp>
      <p:sp>
        <p:nvSpPr>
          <p:cNvPr id="5" name="Reference card"/>
          <p:cNvSpPr/>
          <p:nvPr/>
        </p:nvSpPr>
        <p:spPr>
          <a:xfrm>
            <a:off x="548640" y="1783080"/>
            <a:ext cx="11091672" cy="4206240"/>
          </a:xfrm>
          <a:prstGeom prst="roundRect">
            <a:avLst>
              <a:gd name="adj" fmla="val 1739"/>
            </a:avLst>
          </a:prstGeom>
          <a:solidFill>
            <a:schemeClr val="bg2"/>
          </a:solidFill>
          <a:ln w="12700">
            <a:solidFill>
              <a:schemeClr val="bg2"/>
            </a:solidFill>
            <a:prstDash val="solid"/>
          </a:ln>
        </p:spPr>
      </p:sp>
      <p:sp>
        <p:nvSpPr>
          <p:cNvPr id="6" name="Text 3"/>
          <p:cNvSpPr txBox="1"/>
          <p:nvPr/>
        </p:nvSpPr>
        <p:spPr>
          <a:xfrm>
            <a:off x="914400" y="2011680"/>
            <a:ext cx="10360152" cy="374904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[1]  Google Play, MoveInSync employee app listing (India), package com.moveinsync.ets. Noted by hand on 10 October 2026: 4.3 stars, about 1.15 lakh ratings, updated 8 October 2026.</a:t>
            </a:r>
            <a:endParaRPr lang="en-US" sz="1400" dirty="0"/>
          </a:p>
          <a:p>
            <a:pPr indent="0" marL="0">
              <a:spcAft>
                <a:spcPts val="1000"/>
              </a:spcAft>
              <a:buNone/>
            </a:pPr>
            <a:r>
              <a:rPr lang="en-US" sz="1400" dirty="0">
                <a:solidFill>
                  <a:schemeClr val="tx1"/>
                </a:solidFill>
              </a:rPr>
              <a:t>[2]  MoveInSync Help Center, “Mobile App Issues”, last modified 14 May 2025, and two further Help Center pages read during collection.</a:t>
            </a:r>
            <a:endParaRPr lang="en-US" sz="1400" dirty="0"/>
          </a:p>
          <a:p>
            <a:pPr indent="0" marL="0">
              <a:spcAft>
                <a:spcPts val="1000"/>
              </a:spcAft>
              <a:buNone/>
            </a:pPr>
            <a:r>
              <a:rPr lang="en-US" sz="1400" dirty="0">
                <a:solidFill>
                  <a:schemeClr val="tx1"/>
                </a:solidFill>
              </a:rPr>
              <a:t>[3]  Candidate assignment and Forward Deployed Engineer job description given during this hiring process.</a:t>
            </a:r>
            <a:endParaRPr lang="en-US" sz="1400" dirty="0"/>
          </a:p>
          <a:p>
            <a:pPr indent="0" marL="0">
              <a:buNone/>
            </a:pPr>
            <a:r>
              <a:rPr lang="en-US" sz="1400" dirty="0">
                <a:solidFill>
                  <a:schemeClr val="tx1"/>
                </a:solidFill>
              </a:rPr>
              <a:t>[4]  Review collection notebook (Google Colab): newest accessible reviews, India store, English, up to 1,000 records.</a:t>
            </a:r>
            <a:endParaRPr lang="en-US" sz="1400" dirty="0"/>
          </a:p>
          <a:p>
            <a:pPr indent="0" marL="0">
              <a:buNone/>
            </a:pPr>
            <a:r>
              <a:rPr lang="en-US" sz="1400" u="sng" dirty="0">
                <a:solidFill>
                  <a:srgbClr val="1B6FB5"/>
                </a:solidFill>
                <a:hlinkClick r:id="rId1" invalidUrl="" action="" tgtFrame="" tooltip="Open the Colab notebook" history="1" highlightClick="0" endSnd="0">
                  <a:extLst>
                    <a:ext uri="{A12FA001-AC4F-418D-AE19-62706E023703}">
                      <ahyp:hlinkClr xmlns:ahyp="http://schemas.microsoft.com/office/drawing/2018/hyperlinkcolor" val="tx"/>
                    </a:ext>
                  </a:extLst>
                </a:hlinkClick>
              </a:rPr>
              <a:t>https://colab.research.google.com/drive/1Ady6sJFFMrLd4ywXR_t5MYpIq0eBZiYb?usp=sharing</a:t>
            </a:r>
            <a:endParaRPr lang="en-US" sz="14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Commute Charcoal">
  <a:themeElements>
    <a:clrScheme name="Commute Charcoal">
      <a:dk1>
        <a:srgbClr val="1B1F23"/>
      </a:dk1>
      <a:lt1>
        <a:srgbClr val="FFFFFF"/>
      </a:lt1>
      <a:dk2>
        <a:srgbClr val="26323B"/>
      </a:dk2>
      <a:lt2>
        <a:srgbClr val="F2F4F5"/>
      </a:lt2>
      <a:accent1>
        <a:srgbClr val="F2A900"/>
      </a:accent1>
      <a:accent2>
        <a:srgbClr val="1B7F79"/>
      </a:accent2>
      <a:accent3>
        <a:srgbClr val="A23B2A"/>
      </a:accent3>
      <a:accent4>
        <a:srgbClr val="5C6B77"/>
      </a:accent4>
      <a:accent5>
        <a:srgbClr val="9AA5AE"/>
      </a:accent5>
      <a:accent6>
        <a:srgbClr val="D9DEE2"/>
      </a:accent6>
      <a:hlink>
        <a:srgbClr val="1B6FB5"/>
      </a:hlink>
      <a:folHlink>
        <a:srgbClr val="6B4C9A"/>
      </a:folHlink>
    </a:clrScheme>
    <a:fontScheme name="Commute Charco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the MoveInSync Employee App Rating</dc:title>
  <dc:subject>Forward Deployed Engineer case study</dc:subject>
  <dc:creator>Tharun Teja</dc:creator>
  <cp:lastModifiedBy>Tharun Teja</cp:lastModifiedBy>
  <cp:revision>1</cp:revision>
  <dcterms:created xsi:type="dcterms:W3CDTF">2026-10-12T05:35:02Z</dcterms:created>
  <dcterms:modified xsi:type="dcterms:W3CDTF">2026-10-12T05:35:02Z</dcterms:modified>
</cp:coreProperties>
</file>